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2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3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4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notesSlides/notesSlide5.xml" ContentType="application/vnd.openxmlformats-officedocument.presentationml.notesSlid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6.xml" ContentType="application/vnd.openxmlformats-officedocument.presentationml.notesSlide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notesSlides/notesSlide7.xml" ContentType="application/vnd.openxmlformats-officedocument.presentationml.notesSlide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notesSlides/notesSlide8.xml" ContentType="application/vnd.openxmlformats-officedocument.presentationml.notesSlide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notesSlides/notesSlide9.xml" ContentType="application/vnd.openxmlformats-officedocument.presentationml.notesSlide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notesSlides/notesSlide10.xml" ContentType="application/vnd.openxmlformats-officedocument.presentationml.notesSlide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notesSlides/notesSlide11.xml" ContentType="application/vnd.openxmlformats-officedocument.presentationml.notesSlide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notesSlides/notesSlide12.xml" ContentType="application/vnd.openxmlformats-officedocument.presentationml.notesSlide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notesSlides/notesSlide13.xml" ContentType="application/vnd.openxmlformats-officedocument.presentationml.notesSlide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notesSlides/notesSlide14.xml" ContentType="application/vnd.openxmlformats-officedocument.presentationml.notesSlide+xml"/>
  <Override PartName="/ppt/tags/tag113.xml" ContentType="application/vnd.openxmlformats-officedocument.presentationml.tag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9"/>
  </p:notesMasterIdLst>
  <p:sldIdLst>
    <p:sldId id="2147483520" r:id="rId5"/>
    <p:sldId id="268" r:id="rId6"/>
    <p:sldId id="294" r:id="rId7"/>
    <p:sldId id="299" r:id="rId8"/>
    <p:sldId id="256" r:id="rId9"/>
    <p:sldId id="287" r:id="rId10"/>
    <p:sldId id="319" r:id="rId11"/>
    <p:sldId id="293" r:id="rId12"/>
    <p:sldId id="318" r:id="rId13"/>
    <p:sldId id="305" r:id="rId14"/>
    <p:sldId id="312" r:id="rId15"/>
    <p:sldId id="315" r:id="rId16"/>
    <p:sldId id="291" r:id="rId17"/>
    <p:sldId id="273" r:id="rId18"/>
    <p:sldId id="281" r:id="rId19"/>
    <p:sldId id="283" r:id="rId20"/>
    <p:sldId id="292" r:id="rId21"/>
    <p:sldId id="285" r:id="rId22"/>
    <p:sldId id="286" r:id="rId23"/>
    <p:sldId id="260" r:id="rId24"/>
    <p:sldId id="279" r:id="rId25"/>
    <p:sldId id="295" r:id="rId26"/>
    <p:sldId id="306" r:id="rId27"/>
    <p:sldId id="302" r:id="rId28"/>
  </p:sldIdLst>
  <p:sldSz cx="12192000" cy="6858000"/>
  <p:notesSz cx="6797675" cy="9926638"/>
  <p:custDataLst>
    <p:tags r:id="rId30"/>
  </p:custDataLst>
  <p:defaultTextStyle>
    <a:defPPr>
      <a:defRPr lang="en-US"/>
    </a:defPPr>
    <a:lvl1pPr marL="177800" indent="-177800" algn="l" defTabSz="711200" rtl="0" eaLnBrk="1" latinLnBrk="0" hangingPunct="1">
      <a:spcBef>
        <a:spcPts val="1200"/>
      </a:spcBef>
      <a:buChar char="•"/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355600" indent="-177800" algn="l" defTabSz="711200" rtl="0" eaLnBrk="1" latinLnBrk="0" hangingPunct="1">
      <a:spcBef>
        <a:spcPts val="600"/>
      </a:spcBef>
      <a:buChar char="–"/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533400" indent="-177800" algn="l" defTabSz="711200" rtl="0" eaLnBrk="1" latinLnBrk="0" hangingPunct="1">
      <a:spcBef>
        <a:spcPts val="600"/>
      </a:spcBef>
      <a:buChar char="&gt;"/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711200" indent="-177800" algn="l" defTabSz="711200" rtl="0" eaLnBrk="1" latinLnBrk="0" hangingPunct="1">
      <a:spcBef>
        <a:spcPts val="600"/>
      </a:spcBef>
      <a:buChar char="–"/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889000" indent="-177800" algn="l" defTabSz="711200" rtl="0" eaLnBrk="1" latinLnBrk="0" hangingPunct="1">
      <a:spcBef>
        <a:spcPts val="600"/>
      </a:spcBef>
      <a:buChar char="&gt;"/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066800" indent="-177800" algn="l" defTabSz="7112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1244600" indent="-177800" algn="l" defTabSz="7112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1422400" indent="-177800" algn="l" defTabSz="7112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1600200" indent="-177800" algn="l" defTabSz="7112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1E1"/>
    <a:srgbClr val="FFC6C6"/>
    <a:srgbClr val="FAF1D1"/>
    <a:srgbClr val="DBE1D5"/>
    <a:srgbClr val="3965A3"/>
    <a:srgbClr val="C6AA3D"/>
    <a:srgbClr val="DAE6E1"/>
    <a:srgbClr val="C9D1C8"/>
    <a:srgbClr val="FAEEC3"/>
    <a:srgbClr val="FBF2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5A305A-4DDB-418E-A6DB-A87BA2C606AD}" v="1453" dt="2026-02-19T16:53:35.432"/>
    <p1510:client id="{398D83A2-F026-4A51-BF69-2B179CD395D9}" v="41767" dt="2026-02-19T17:27:33.878"/>
    <p1510:client id="{5FE73B5D-393E-4C8A-81E8-114E11931471}" v="41380" dt="2026-02-19T15:44:40.219"/>
    <p1510:client id="{793EA0CF-D351-4A20-875E-061E42829FBF}" v="97248" dt="2026-02-19T17:28:55.650"/>
    <p1510:client id="{BB212613-3939-4F38-A8A9-CA819E4D7769}" v="29917" dt="2026-02-18T17:58:54.991"/>
    <p1510:client id="{DA022BCA-1D00-40DF-83FF-6AE98332AE5F}" v="8602" dt="2026-02-19T08:56:29.601"/>
    <p1510:client id="{F87C771B-7919-483C-A299-B8EC159FB40C}" v="58412" dt="2026-02-19T17:29:04.345"/>
  </p1510:revLst>
</p1510:revInfo>
</file>

<file path=ppt/tableStyles.xml><?xml version="1.0" encoding="utf-8"?>
<a:tblStyleLst xmlns:a="http://schemas.openxmlformats.org/drawingml/2006/main" def="{2D5ABB26-0587-4C30-8999-92F81FD0307C}">
  <a:tblStyle styleId="{9D7B26C5-4107-4FEC-AEDC-1716B250A1EF}" styleName="Light Style 1">
    <a:wholeTbl>
      <a:tcTxStyle>
        <a:fontRef idx="minor">
          <a:prstClr val="black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9525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>
              <a:noFill/>
            </a:ln>
          </a:top>
          <a:bottom>
            <a:ln>
              <a:noFill/>
            </a:ln>
          </a:bottom>
        </a:tcBdr>
        <a:fill>
          <a:solidFill>
            <a:schemeClr val="dk2"/>
          </a:solidFill>
        </a:fill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firstCol>
      <a:tcTxStyle b="on"/>
      <a:tcStyle>
        <a:tcBdr/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1905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accent3"/>
      </a:tcTxStyle>
      <a:tcStyle>
        <a:tcBdr>
          <a:bottom>
            <a:ln w="19050" cmpd="sng">
              <a:solidFill>
                <a:schemeClr val="dk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0" d="100"/>
          <a:sy n="120" d="100"/>
        </p:scale>
        <p:origin x="198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tags" Target="tags/tag1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62203E-8B37-434F-87F3-866432F3D32C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E7C335-F609-4F84-8A5C-03920F7482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9040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BE10EF3C-58CD-E626-CB3A-2C1F842C62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1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A900A-A708-72D4-F88E-C4BF8BB7E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C51481-E9FE-F67F-FDC5-F0A1FF71FE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AE0CEE-44D4-11E6-E1E6-98CF93AF43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6A6B93-2B5E-C60B-1D29-6F8E79C547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E7C335-F609-4F84-8A5C-03920F74829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8905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A57A2-5D46-80CC-AB35-3F451DEBF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F95F8C-8EBE-24CA-4A68-4F1A47875A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341511-0F60-EDB5-37E7-2DEA9C8323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28DC85-5F83-965B-F73A-337865BC78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E7C335-F609-4F84-8A5C-03920F74829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910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1925D-99E1-0D01-AE3A-3F1B8EF27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445730-0303-C714-02F8-4982FFEC98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6C61A2-5AC0-E9DC-A482-31606A9CD1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229C07-F4E8-4F90-6621-4331091F79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E7C335-F609-4F84-8A5C-03920F74829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1036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E7C335-F609-4F84-8A5C-03920F74829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2367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B00F7-C03A-0C98-DB0D-226C99F55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528C10-10C1-F64A-8CB8-95BE292352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790BD6-D119-4D68-C3E2-69BB19353B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39E7BE-CAE6-9D74-3766-D3C3C2A4D4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E7C335-F609-4F84-8A5C-03920F74829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1850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015AE-9D7E-B7D5-A286-0AB1CDEFF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301C37-459F-6FF7-AA56-0E18B24AE6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2CE1C5-4D02-3673-3FE9-31CE0CB092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8BABB6-367F-BACC-5F73-807AE40527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E7C335-F609-4F84-8A5C-03920F74829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850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7256A-0D13-933B-0ABA-4834EBF10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460243-D8CA-D53D-A974-1B339CBDF4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2D5071-8547-FA48-B2AC-3EC6D0465C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3FD60E-2936-E701-2B8B-A7CE5C7412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E7C335-F609-4F84-8A5C-03920F74829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63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6B019-2AD3-6CA4-4976-4F7C7C2BB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D7213B-97F9-6649-F939-846184BDD5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C3378B-F161-DF69-7747-84B6640051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6E6F0-A09E-0C75-E6B0-43D412572D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E7C335-F609-4F84-8A5C-03920F74829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3195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F0505-2BCA-6B5F-1150-B37B83BCC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F8A20E-113B-D722-06DB-B3FE48EDD9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C16B07-0E5D-A72D-3B2A-71379A8631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4F7A38-52EE-7869-E5D2-93B5AC1C95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E7C335-F609-4F84-8A5C-03920F74829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1447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69236-9E3B-750B-009F-4389DA808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7C46D4-5804-BFED-C7D4-7BA5F277B3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E59494-57A9-1F52-523D-76FB278797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CD9F39-9033-FEAD-3EB6-635F8DE9A4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E7C335-F609-4F84-8A5C-03920F74829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7279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EAE49-6882-6771-5F87-99C1EDA26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8D3C40-704D-A30D-5808-02756A9E2B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315F8B-D55C-0BAC-3CD7-22C70D99F7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853145-82B2-925B-06B9-EDAD6C331C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E7C335-F609-4F84-8A5C-03920F74829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8335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E7C335-F609-4F84-8A5C-03920F74829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6080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8732F-8A8C-E59C-6F63-8263A6DD0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7D582C-1EB1-A38C-4BC1-7B52A07023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58EF2E-1B77-B307-B67D-446C157785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A05000-E043-4C93-F931-79ACA2785C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E7C335-F609-4F84-8A5C-03920F74829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3990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ainLogo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7037" y="4998212"/>
            <a:ext cx="3240000" cy="405000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334963" y="5077602"/>
            <a:ext cx="88485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indent="0">
              <a:buNone/>
            </a:pPr>
            <a:r>
              <a:rPr lang="en-US" sz="1600" b="1" cap="all" spc="300" baseline="0">
                <a:solidFill>
                  <a:schemeClr val="tx1"/>
                </a:solidFill>
              </a:rPr>
              <a:t>Draft</a:t>
            </a:r>
          </a:p>
        </p:txBody>
      </p:sp>
      <p:cxnSp>
        <p:nvCxnSpPr>
          <p:cNvPr id="5" name="SeparatorLine"/>
          <p:cNvCxnSpPr/>
          <p:nvPr userDrawn="1"/>
        </p:nvCxnSpPr>
        <p:spPr>
          <a:xfrm>
            <a:off x="0" y="4873803"/>
            <a:ext cx="11857037" cy="0"/>
          </a:xfrm>
          <a:prstGeom prst="line">
            <a:avLst/>
          </a:prstGeom>
          <a:ln w="19050" cap="flat">
            <a:solidFill>
              <a:schemeClr val="accent3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lientLogo"/>
          <p:cNvSpPr>
            <a:spLocks noGrp="1"/>
          </p:cNvSpPr>
          <p:nvPr>
            <p:ph type="pic" sz="quarter" idx="10"/>
          </p:nvPr>
        </p:nvSpPr>
        <p:spPr>
          <a:xfrm>
            <a:off x="8617039" y="3364443"/>
            <a:ext cx="3239999" cy="139964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8" name="Disclaimer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15468" y="6547288"/>
            <a:ext cx="6407451" cy="274344"/>
          </a:xfrm>
          <a:prstGeom prst="rect">
            <a:avLst/>
          </a:prstGeom>
        </p:spPr>
      </p:pic>
      <p:sp>
        <p:nvSpPr>
          <p:cNvPr id="3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334965" y="2420938"/>
            <a:ext cx="11522075" cy="9000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200">
                <a:solidFill>
                  <a:schemeClr val="bg2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add subtitle/contacts/date</a:t>
            </a:r>
          </a:p>
        </p:txBody>
      </p:sp>
      <p:sp>
        <p:nvSpPr>
          <p:cNvPr id="2" name="Title"/>
          <p:cNvSpPr>
            <a:spLocks noGrp="1"/>
          </p:cNvSpPr>
          <p:nvPr>
            <p:ph type="ctrTitle" hasCustomPrompt="1"/>
          </p:nvPr>
        </p:nvSpPr>
        <p:spPr>
          <a:xfrm>
            <a:off x="334964" y="1268413"/>
            <a:ext cx="11522075" cy="900112"/>
          </a:xfrm>
        </p:spPr>
        <p:txBody>
          <a:bodyPr anchor="b"/>
          <a:lstStyle>
            <a:lvl1pPr algn="l">
              <a:spcBef>
                <a:spcPts val="0"/>
              </a:spcBef>
              <a:defRPr sz="26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0120460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042924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st Pag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BainLogo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7037" y="4998212"/>
            <a:ext cx="3240000" cy="405000"/>
          </a:xfrm>
          <a:prstGeom prst="rect">
            <a:avLst/>
          </a:prstGeom>
        </p:spPr>
      </p:pic>
      <p:cxnSp>
        <p:nvCxnSpPr>
          <p:cNvPr id="39" name="SeparatorLine"/>
          <p:cNvCxnSpPr/>
          <p:nvPr userDrawn="1"/>
        </p:nvCxnSpPr>
        <p:spPr>
          <a:xfrm>
            <a:off x="0" y="5481638"/>
            <a:ext cx="11857037" cy="0"/>
          </a:xfrm>
          <a:prstGeom prst="line">
            <a:avLst/>
          </a:prstGeom>
          <a:ln w="19050" cap="flat">
            <a:solidFill>
              <a:schemeClr val="accent3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7323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3444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2.xml"/><Relationship Id="rId5" Type="http://schemas.openxmlformats.org/officeDocument/2006/relationships/theme" Target="../theme/theme1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9949F73F-40C4-459A-87F2-5B4A916D85A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2439456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606" imgH="608" progId="TCLayout.ActiveDocument.1">
                  <p:embed/>
                </p:oleObj>
              </mc:Choice>
              <mc:Fallback>
                <p:oleObj name="think-cell Slide" r:id="rId7" imgW="606" imgH="608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949F73F-40C4-459A-87F2-5B4A916D85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BtfpConfiguration" hidden="1"/>
          <p:cNvSpPr txBox="1"/>
          <p:nvPr userDrawn="1"/>
        </p:nvSpPr>
        <p:spPr bwMode="hidden">
          <a:xfrm>
            <a:off x="0" y="0"/>
            <a:ext cx="36000" cy="360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indent="0">
              <a:buNone/>
            </a:pPr>
            <a:r>
              <a:rPr lang="en-US" sz="100">
                <a:solidFill>
                  <a:schemeClr val="bg1">
                    <a:alpha val="0"/>
                  </a:schemeClr>
                </a:solidFill>
              </a:rPr>
              <a:t>&lt;BTFP&gt;&lt;!-- BTFPCONFIGURATION:3C627466703E0D0A20203C74656D706C6174652076657273696F6E3D22322E342E302220747970653D226272616E64656422207061676553697A653D227769646573637265656E22202F3E0D0A20203C4775696465733E0D0A202020203C4C656674477569646520786D6C6E733D22323622202F3E0D0A202020203C5269676874477569646520786D6C6E733D2239333422202F3E0D0A202020203C5570706572537469636B6572477569646520786D6C6E733D22363922202F3E0D0A202020203C4C6F776572537469636B6572477569646520786D6C6E733D2231303022202F3E0D0A202020203C426F74746F6D477569646520786D6C6E733D2235313722202F3E0D0A20203C2F4775696465733E0D0A3C2F627466703E --&gt;&lt;/BTFP&gt;</a:t>
            </a:r>
          </a:p>
        </p:txBody>
      </p:sp>
      <p:sp>
        <p:nvSpPr>
          <p:cNvPr id="19" name="SlideNumber"/>
          <p:cNvSpPr/>
          <p:nvPr userDrawn="1"/>
        </p:nvSpPr>
        <p:spPr bwMode="gray">
          <a:xfrm>
            <a:off x="11715975" y="6649694"/>
            <a:ext cx="141064" cy="13849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>
            <a:spAutoFit/>
          </a:bodyPr>
          <a:lstStyle/>
          <a:p>
            <a:pPr marL="0" indent="0" algn="r" defTabSz="711200" rtl="0" eaLnBrk="1" latinLnBrk="0" hangingPunct="1">
              <a:spcBef>
                <a:spcPts val="1200"/>
              </a:spcBef>
              <a:buNone/>
            </a:pPr>
            <a:fld id="{BB69BBE8-4DB2-4642-B003-B220ACD5A2FD}" type="slidenum">
              <a:rPr lang="en-US" sz="900" b="0" baseline="0" smtClean="0">
                <a:solidFill>
                  <a:schemeClr val="bg2"/>
                </a:solidFill>
                <a:latin typeface="+mn-lt"/>
              </a:rPr>
              <a:pPr marL="0" indent="0" algn="r" defTabSz="711200" rtl="0" eaLnBrk="1" latinLnBrk="0" hangingPunct="1">
                <a:spcBef>
                  <a:spcPts val="1200"/>
                </a:spcBef>
                <a:buNone/>
              </a:pPr>
              <a:t>‹#›</a:t>
            </a:fld>
            <a:endParaRPr lang="en-US" sz="900" b="0">
              <a:solidFill>
                <a:schemeClr val="bg2"/>
              </a:solidFill>
              <a:latin typeface="+mn-lt"/>
            </a:endParaRPr>
          </a:p>
        </p:txBody>
      </p:sp>
      <p:pic>
        <p:nvPicPr>
          <p:cNvPr id="12" name="BainLogo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000" y="6654664"/>
            <a:ext cx="1152000" cy="144000"/>
          </a:xfrm>
          <a:prstGeom prst="rect">
            <a:avLst/>
          </a:prstGeom>
        </p:spPr>
      </p:pic>
      <p:sp>
        <p:nvSpPr>
          <p:cNvPr id="8" name="CreatedFooter"/>
          <p:cNvSpPr/>
          <p:nvPr userDrawn="1"/>
        </p:nvSpPr>
        <p:spPr>
          <a:xfrm>
            <a:off x="8263033" y="6642830"/>
            <a:ext cx="1368171" cy="165036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marL="0" indent="0" algn="ctr" defTabSz="711200" rtl="0" eaLnBrk="1" latinLnBrk="0" hangingPunct="1">
              <a:spcBef>
                <a:spcPts val="1200"/>
              </a:spcBef>
              <a:buNone/>
            </a:pPr>
            <a:r>
              <a:rPr lang="en-US" sz="600">
                <a:solidFill>
                  <a:srgbClr val="FFFFFF"/>
                </a:solidFill>
              </a:rPr>
              <a:t>Sagility_Phase 2_Pharma_v1</a:t>
            </a:r>
          </a:p>
        </p:txBody>
      </p:sp>
      <p:sp>
        <p:nvSpPr>
          <p:cNvPr id="7" name="OfficeCode"/>
          <p:cNvSpPr/>
          <p:nvPr userDrawn="1"/>
        </p:nvSpPr>
        <p:spPr>
          <a:xfrm>
            <a:off x="7348519" y="6642830"/>
            <a:ext cx="288036" cy="165036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marL="0" indent="0" algn="ctr" defTabSz="711200" rtl="0" eaLnBrk="1" latinLnBrk="0" hangingPunct="1">
              <a:spcBef>
                <a:spcPts val="1200"/>
              </a:spcBef>
              <a:buNone/>
            </a:pPr>
            <a:r>
              <a:rPr lang="en-US" sz="600">
                <a:solidFill>
                  <a:srgbClr val="FFFFFF"/>
                </a:solidFill>
              </a:rPr>
              <a:t>DBS</a:t>
            </a:r>
          </a:p>
        </p:txBody>
      </p:sp>
      <p:pic>
        <p:nvPicPr>
          <p:cNvPr id="14" name="Disclaimer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316547" y="6641266"/>
            <a:ext cx="6407451" cy="176799"/>
          </a:xfrm>
          <a:prstGeom prst="rect">
            <a:avLst/>
          </a:prstGeom>
        </p:spPr>
      </p:pic>
      <p:cxnSp>
        <p:nvCxnSpPr>
          <p:cNvPr id="20" name="FooterSeparatorLine"/>
          <p:cNvCxnSpPr/>
          <p:nvPr userDrawn="1"/>
        </p:nvCxnSpPr>
        <p:spPr>
          <a:xfrm>
            <a:off x="0" y="6598800"/>
            <a:ext cx="11857037" cy="0"/>
          </a:xfrm>
          <a:prstGeom prst="line">
            <a:avLst/>
          </a:prstGeom>
          <a:ln w="9525" cap="flat">
            <a:solidFill>
              <a:schemeClr val="accent1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"/>
          <p:cNvSpPr>
            <a:spLocks noGrp="1"/>
          </p:cNvSpPr>
          <p:nvPr>
            <p:ph type="body" idx="1"/>
          </p:nvPr>
        </p:nvSpPr>
        <p:spPr>
          <a:xfrm>
            <a:off x="334435" y="1268413"/>
            <a:ext cx="11522603" cy="5292725"/>
          </a:xfrm>
          <a:prstGeom prst="rect">
            <a:avLst/>
          </a:prstGeom>
        </p:spPr>
        <p:txBody>
          <a:bodyPr vert="horz" lIns="36000" tIns="36000" rIns="36000" bIns="3600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TitleSeparatorLine"/>
          <p:cNvCxnSpPr/>
          <p:nvPr userDrawn="1"/>
        </p:nvCxnSpPr>
        <p:spPr>
          <a:xfrm>
            <a:off x="0" y="873125"/>
            <a:ext cx="11857037" cy="0"/>
          </a:xfrm>
          <a:prstGeom prst="line">
            <a:avLst/>
          </a:prstGeom>
          <a:ln w="19050" cap="flat">
            <a:solidFill>
              <a:schemeClr val="accent3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Title"/>
          <p:cNvSpPr>
            <a:spLocks noGrp="1"/>
          </p:cNvSpPr>
          <p:nvPr>
            <p:ph type="title"/>
          </p:nvPr>
        </p:nvSpPr>
        <p:spPr>
          <a:xfrm>
            <a:off x="334963" y="1"/>
            <a:ext cx="11522075" cy="876687"/>
          </a:xfrm>
          <a:prstGeom prst="rect">
            <a:avLst/>
          </a:prstGeom>
        </p:spPr>
        <p:txBody>
          <a:bodyPr vert="horz" lIns="36000" tIns="36000" rIns="36000" bIns="72000" rtlCol="0"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9795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63" r:id="rId3"/>
    <p:sldLayoutId id="2147483655" r:id="rId4"/>
  </p:sldLayoutIdLst>
  <p:txStyles>
    <p:titleStyle>
      <a:lvl1pPr algn="l" defTabSz="711200" rtl="0" eaLnBrk="1" latinLnBrk="0" hangingPunct="1">
        <a:lnSpc>
          <a:spcPct val="100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975" indent="-180975" algn="l" defTabSz="914354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61950" indent="-180975" algn="l" defTabSz="914354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34988" indent="-173038" algn="l" defTabSz="914354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15963" indent="-180975" algn="l" defTabSz="914354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898525" indent="-182563" algn="l" defTabSz="914354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177800" indent="-177800" algn="l" defTabSz="711200" rtl="0" eaLnBrk="1" latinLnBrk="0" hangingPunct="1">
        <a:spcBef>
          <a:spcPts val="1200"/>
        </a:spcBef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55600" indent="-177800" algn="l" defTabSz="711200" rtl="0" eaLnBrk="1" latinLnBrk="0" hangingPunct="1">
        <a:spcBef>
          <a:spcPts val="600"/>
        </a:spcBef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33400" indent="-177800" algn="l" defTabSz="711200" rtl="0" eaLnBrk="1" latinLnBrk="0" hangingPunct="1">
        <a:spcBef>
          <a:spcPts val="600"/>
        </a:spcBef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11200" indent="-177800" algn="l" defTabSz="711200" rtl="0" eaLnBrk="1" latinLnBrk="0" hangingPunct="1">
        <a:spcBef>
          <a:spcPts val="600"/>
        </a:spcBef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889000" indent="-177800" algn="l" defTabSz="711200" rtl="0" eaLnBrk="1" latinLnBrk="0" hangingPunct="1">
        <a:spcBef>
          <a:spcPts val="600"/>
        </a:spcBef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066800" algn="l" defTabSz="711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244600" algn="l" defTabSz="711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422400" algn="l" defTabSz="711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600200" algn="l" defTabSz="711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50" userDrawn="1">
          <p15:clr>
            <a:srgbClr val="D1D1D1"/>
          </p15:clr>
        </p15:guide>
        <p15:guide id="4" orient="horz" pos="799" userDrawn="1">
          <p15:clr>
            <a:srgbClr val="D1D1D1"/>
          </p15:clr>
        </p15:guide>
        <p15:guide id="7" orient="horz" pos="4133" userDrawn="1">
          <p15:clr>
            <a:srgbClr val="D1D1D1"/>
          </p15:clr>
        </p15:guide>
        <p15:guide id="8" pos="208" userDrawn="1">
          <p15:clr>
            <a:srgbClr val="CCCCCC"/>
          </p15:clr>
        </p15:guide>
        <p15:guide id="9" pos="7472" userDrawn="1">
          <p15:clr>
            <a:srgbClr val="CCCCCC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6.jpeg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2.bin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12.emf"/><Relationship Id="rId3" Type="http://schemas.openxmlformats.org/officeDocument/2006/relationships/tags" Target="../tags/tag7.xml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11.emf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tags" Target="../tags/tag10.xml"/><Relationship Id="rId11" Type="http://schemas.openxmlformats.org/officeDocument/2006/relationships/image" Target="../media/image10.emf"/><Relationship Id="rId5" Type="http://schemas.openxmlformats.org/officeDocument/2006/relationships/tags" Target="../tags/tag9.xml"/><Relationship Id="rId10" Type="http://schemas.openxmlformats.org/officeDocument/2006/relationships/image" Target="../media/image9.jpeg"/><Relationship Id="rId4" Type="http://schemas.openxmlformats.org/officeDocument/2006/relationships/tags" Target="../tags/tag8.xml"/><Relationship Id="rId9" Type="http://schemas.openxmlformats.org/officeDocument/2006/relationships/image" Target="../media/image8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4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5.bin"/><Relationship Id="rId4" Type="http://schemas.openxmlformats.org/officeDocument/2006/relationships/notesSlide" Target="../notesSlides/notesSlid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6.bin"/><Relationship Id="rId4" Type="http://schemas.openxmlformats.org/officeDocument/2006/relationships/notesSlide" Target="../notesSlides/notesSlid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7" Type="http://schemas.openxmlformats.org/officeDocument/2006/relationships/image" Target="../media/image1.emf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oleObject" Target="../embeddings/oleObject7.bin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3" Type="http://schemas.openxmlformats.org/officeDocument/2006/relationships/tags" Target="../tags/tag22.xml"/><Relationship Id="rId21" Type="http://schemas.openxmlformats.org/officeDocument/2006/relationships/image" Target="../media/image24.png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" Type="http://schemas.openxmlformats.org/officeDocument/2006/relationships/tags" Target="../tags/tag21.xml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1" Type="http://schemas.openxmlformats.org/officeDocument/2006/relationships/tags" Target="../tags/tag20.xml"/><Relationship Id="rId6" Type="http://schemas.openxmlformats.org/officeDocument/2006/relationships/tags" Target="../tags/tag25.xml"/><Relationship Id="rId11" Type="http://schemas.openxmlformats.org/officeDocument/2006/relationships/image" Target="../media/image14.png"/><Relationship Id="rId5" Type="http://schemas.openxmlformats.org/officeDocument/2006/relationships/tags" Target="../tags/tag24.xml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19" Type="http://schemas.openxmlformats.org/officeDocument/2006/relationships/image" Target="../media/image22.png"/><Relationship Id="rId4" Type="http://schemas.openxmlformats.org/officeDocument/2006/relationships/tags" Target="../tags/tag23.xml"/><Relationship Id="rId9" Type="http://schemas.openxmlformats.org/officeDocument/2006/relationships/image" Target="../media/image1.emf"/><Relationship Id="rId1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26" Type="http://schemas.openxmlformats.org/officeDocument/2006/relationships/image" Target="../media/image34.jpeg"/><Relationship Id="rId3" Type="http://schemas.openxmlformats.org/officeDocument/2006/relationships/tags" Target="../tags/tag28.xml"/><Relationship Id="rId21" Type="http://schemas.openxmlformats.org/officeDocument/2006/relationships/image" Target="../media/image18.png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25.png"/><Relationship Id="rId17" Type="http://schemas.openxmlformats.org/officeDocument/2006/relationships/image" Target="../media/image17.png"/><Relationship Id="rId25" Type="http://schemas.openxmlformats.org/officeDocument/2006/relationships/image" Target="../media/image33.png"/><Relationship Id="rId2" Type="http://schemas.openxmlformats.org/officeDocument/2006/relationships/tags" Target="../tags/tag27.xml"/><Relationship Id="rId16" Type="http://schemas.openxmlformats.org/officeDocument/2006/relationships/image" Target="../media/image16.png"/><Relationship Id="rId20" Type="http://schemas.openxmlformats.org/officeDocument/2006/relationships/image" Target="../media/image30.png"/><Relationship Id="rId1" Type="http://schemas.openxmlformats.org/officeDocument/2006/relationships/tags" Target="../tags/tag26.xml"/><Relationship Id="rId6" Type="http://schemas.openxmlformats.org/officeDocument/2006/relationships/tags" Target="../tags/tag31.xml"/><Relationship Id="rId11" Type="http://schemas.openxmlformats.org/officeDocument/2006/relationships/image" Target="../media/image22.png"/><Relationship Id="rId24" Type="http://schemas.openxmlformats.org/officeDocument/2006/relationships/image" Target="../media/image32.png"/><Relationship Id="rId5" Type="http://schemas.openxmlformats.org/officeDocument/2006/relationships/tags" Target="../tags/tag30.xml"/><Relationship Id="rId15" Type="http://schemas.openxmlformats.org/officeDocument/2006/relationships/image" Target="../media/image27.png"/><Relationship Id="rId23" Type="http://schemas.openxmlformats.org/officeDocument/2006/relationships/image" Target="../media/image31.png"/><Relationship Id="rId10" Type="http://schemas.openxmlformats.org/officeDocument/2006/relationships/image" Target="../media/image1.emf"/><Relationship Id="rId19" Type="http://schemas.openxmlformats.org/officeDocument/2006/relationships/image" Target="../media/image29.png"/><Relationship Id="rId4" Type="http://schemas.openxmlformats.org/officeDocument/2006/relationships/tags" Target="../tags/tag29.xml"/><Relationship Id="rId9" Type="http://schemas.openxmlformats.org/officeDocument/2006/relationships/oleObject" Target="../embeddings/oleObject9.bin"/><Relationship Id="rId14" Type="http://schemas.openxmlformats.org/officeDocument/2006/relationships/image" Target="../media/image26.png"/><Relationship Id="rId22" Type="http://schemas.openxmlformats.org/officeDocument/2006/relationships/image" Target="../media/image24.png"/><Relationship Id="rId27" Type="http://schemas.openxmlformats.org/officeDocument/2006/relationships/image" Target="../media/image35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39.xml"/><Relationship Id="rId13" Type="http://schemas.openxmlformats.org/officeDocument/2006/relationships/image" Target="../media/image1.emf"/><Relationship Id="rId3" Type="http://schemas.openxmlformats.org/officeDocument/2006/relationships/tags" Target="../tags/tag34.xml"/><Relationship Id="rId7" Type="http://schemas.openxmlformats.org/officeDocument/2006/relationships/tags" Target="../tags/tag38.xml"/><Relationship Id="rId12" Type="http://schemas.openxmlformats.org/officeDocument/2006/relationships/oleObject" Target="../embeddings/oleObject10.bin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tags" Target="../tags/tag37.xml"/><Relationship Id="rId11" Type="http://schemas.openxmlformats.org/officeDocument/2006/relationships/notesSlide" Target="../notesSlides/notesSlide6.xml"/><Relationship Id="rId5" Type="http://schemas.openxmlformats.org/officeDocument/2006/relationships/tags" Target="../tags/tag36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35.xml"/><Relationship Id="rId9" Type="http://schemas.openxmlformats.org/officeDocument/2006/relationships/tags" Target="../tags/tag40.xml"/><Relationship Id="rId14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48.xml"/><Relationship Id="rId13" Type="http://schemas.openxmlformats.org/officeDocument/2006/relationships/image" Target="../media/image1.emf"/><Relationship Id="rId18" Type="http://schemas.openxmlformats.org/officeDocument/2006/relationships/image" Target="../media/image41.png"/><Relationship Id="rId26" Type="http://schemas.openxmlformats.org/officeDocument/2006/relationships/image" Target="../media/image49.png"/><Relationship Id="rId3" Type="http://schemas.openxmlformats.org/officeDocument/2006/relationships/tags" Target="../tags/tag43.xml"/><Relationship Id="rId21" Type="http://schemas.openxmlformats.org/officeDocument/2006/relationships/image" Target="../media/image44.gif"/><Relationship Id="rId7" Type="http://schemas.openxmlformats.org/officeDocument/2006/relationships/tags" Target="../tags/tag47.xml"/><Relationship Id="rId12" Type="http://schemas.openxmlformats.org/officeDocument/2006/relationships/oleObject" Target="../embeddings/oleObject11.bin"/><Relationship Id="rId17" Type="http://schemas.openxmlformats.org/officeDocument/2006/relationships/image" Target="../media/image40.png"/><Relationship Id="rId25" Type="http://schemas.openxmlformats.org/officeDocument/2006/relationships/image" Target="../media/image48.png"/><Relationship Id="rId2" Type="http://schemas.openxmlformats.org/officeDocument/2006/relationships/tags" Target="../tags/tag42.xml"/><Relationship Id="rId16" Type="http://schemas.openxmlformats.org/officeDocument/2006/relationships/image" Target="../media/image39.png"/><Relationship Id="rId20" Type="http://schemas.openxmlformats.org/officeDocument/2006/relationships/image" Target="../media/image43.png"/><Relationship Id="rId1" Type="http://schemas.openxmlformats.org/officeDocument/2006/relationships/tags" Target="../tags/tag41.xml"/><Relationship Id="rId6" Type="http://schemas.openxmlformats.org/officeDocument/2006/relationships/tags" Target="../tags/tag46.xml"/><Relationship Id="rId11" Type="http://schemas.openxmlformats.org/officeDocument/2006/relationships/notesSlide" Target="../notesSlides/notesSlide7.xml"/><Relationship Id="rId24" Type="http://schemas.openxmlformats.org/officeDocument/2006/relationships/image" Target="../media/image47.png"/><Relationship Id="rId5" Type="http://schemas.openxmlformats.org/officeDocument/2006/relationships/tags" Target="../tags/tag45.xml"/><Relationship Id="rId15" Type="http://schemas.openxmlformats.org/officeDocument/2006/relationships/image" Target="../media/image38.png"/><Relationship Id="rId23" Type="http://schemas.openxmlformats.org/officeDocument/2006/relationships/image" Target="../media/image46.png"/><Relationship Id="rId10" Type="http://schemas.openxmlformats.org/officeDocument/2006/relationships/slideLayout" Target="../slideLayouts/slideLayout2.xml"/><Relationship Id="rId19" Type="http://schemas.openxmlformats.org/officeDocument/2006/relationships/image" Target="../media/image42.png"/><Relationship Id="rId4" Type="http://schemas.openxmlformats.org/officeDocument/2006/relationships/tags" Target="../tags/tag44.xml"/><Relationship Id="rId9" Type="http://schemas.openxmlformats.org/officeDocument/2006/relationships/tags" Target="../tags/tag49.xml"/><Relationship Id="rId14" Type="http://schemas.openxmlformats.org/officeDocument/2006/relationships/image" Target="../media/image37.png"/><Relationship Id="rId22" Type="http://schemas.openxmlformats.org/officeDocument/2006/relationships/image" Target="../media/image4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57.xml"/><Relationship Id="rId13" Type="http://schemas.openxmlformats.org/officeDocument/2006/relationships/image" Target="../media/image51.jpeg"/><Relationship Id="rId3" Type="http://schemas.openxmlformats.org/officeDocument/2006/relationships/tags" Target="../tags/tag52.xml"/><Relationship Id="rId7" Type="http://schemas.openxmlformats.org/officeDocument/2006/relationships/tags" Target="../tags/tag56.xml"/><Relationship Id="rId12" Type="http://schemas.openxmlformats.org/officeDocument/2006/relationships/image" Target="../media/image50.emf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tags" Target="../tags/tag55.xml"/><Relationship Id="rId11" Type="http://schemas.openxmlformats.org/officeDocument/2006/relationships/oleObject" Target="../embeddings/oleObject12.bin"/><Relationship Id="rId5" Type="http://schemas.openxmlformats.org/officeDocument/2006/relationships/tags" Target="../tags/tag54.xml"/><Relationship Id="rId15" Type="http://schemas.openxmlformats.org/officeDocument/2006/relationships/image" Target="../media/image53.emf"/><Relationship Id="rId10" Type="http://schemas.openxmlformats.org/officeDocument/2006/relationships/notesSlide" Target="../notesSlides/notesSlide8.xml"/><Relationship Id="rId4" Type="http://schemas.openxmlformats.org/officeDocument/2006/relationships/tags" Target="../tags/tag53.xml"/><Relationship Id="rId9" Type="http://schemas.openxmlformats.org/officeDocument/2006/relationships/slideLayout" Target="../slideLayouts/slideLayout2.xml"/><Relationship Id="rId14" Type="http://schemas.openxmlformats.org/officeDocument/2006/relationships/image" Target="../media/image52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54.emf"/><Relationship Id="rId3" Type="http://schemas.openxmlformats.org/officeDocument/2006/relationships/tags" Target="../tags/tag60.xml"/><Relationship Id="rId7" Type="http://schemas.openxmlformats.org/officeDocument/2006/relationships/tags" Target="../tags/tag64.xml"/><Relationship Id="rId12" Type="http://schemas.openxmlformats.org/officeDocument/2006/relationships/image" Target="../media/image51.jpeg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tags" Target="../tags/tag63.xml"/><Relationship Id="rId11" Type="http://schemas.openxmlformats.org/officeDocument/2006/relationships/image" Target="../media/image50.emf"/><Relationship Id="rId5" Type="http://schemas.openxmlformats.org/officeDocument/2006/relationships/tags" Target="../tags/tag62.xml"/><Relationship Id="rId10" Type="http://schemas.openxmlformats.org/officeDocument/2006/relationships/oleObject" Target="../embeddings/oleObject13.bin"/><Relationship Id="rId4" Type="http://schemas.openxmlformats.org/officeDocument/2006/relationships/tags" Target="../tags/tag61.xml"/><Relationship Id="rId9" Type="http://schemas.openxmlformats.org/officeDocument/2006/relationships/notesSlide" Target="../notesSlides/notesSlide9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55.emf"/><Relationship Id="rId3" Type="http://schemas.openxmlformats.org/officeDocument/2006/relationships/tags" Target="../tags/tag67.xml"/><Relationship Id="rId7" Type="http://schemas.openxmlformats.org/officeDocument/2006/relationships/tags" Target="../tags/tag71.xml"/><Relationship Id="rId12" Type="http://schemas.openxmlformats.org/officeDocument/2006/relationships/image" Target="../media/image51.jpeg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6" Type="http://schemas.openxmlformats.org/officeDocument/2006/relationships/tags" Target="../tags/tag70.xml"/><Relationship Id="rId11" Type="http://schemas.openxmlformats.org/officeDocument/2006/relationships/image" Target="../media/image50.emf"/><Relationship Id="rId5" Type="http://schemas.openxmlformats.org/officeDocument/2006/relationships/tags" Target="../tags/tag69.xml"/><Relationship Id="rId10" Type="http://schemas.openxmlformats.org/officeDocument/2006/relationships/oleObject" Target="../embeddings/oleObject14.bin"/><Relationship Id="rId4" Type="http://schemas.openxmlformats.org/officeDocument/2006/relationships/tags" Target="../tags/tag68.xml"/><Relationship Id="rId9" Type="http://schemas.openxmlformats.org/officeDocument/2006/relationships/notesSlide" Target="../notesSlides/notesSlide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3" Type="http://schemas.openxmlformats.org/officeDocument/2006/relationships/tags" Target="../tags/tag75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6" Type="http://schemas.openxmlformats.org/officeDocument/2006/relationships/tags" Target="../tags/tag78.xml"/><Relationship Id="rId11" Type="http://schemas.openxmlformats.org/officeDocument/2006/relationships/image" Target="../media/image57.jpeg"/><Relationship Id="rId5" Type="http://schemas.openxmlformats.org/officeDocument/2006/relationships/tags" Target="../tags/tag77.xml"/><Relationship Id="rId10" Type="http://schemas.openxmlformats.org/officeDocument/2006/relationships/image" Target="../media/image56.jpeg"/><Relationship Id="rId4" Type="http://schemas.openxmlformats.org/officeDocument/2006/relationships/tags" Target="../tags/tag76.xml"/><Relationship Id="rId9" Type="http://schemas.openxmlformats.org/officeDocument/2006/relationships/image" Target="../media/image1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.xml"/><Relationship Id="rId13" Type="http://schemas.openxmlformats.org/officeDocument/2006/relationships/image" Target="../media/image60.png"/><Relationship Id="rId18" Type="http://schemas.openxmlformats.org/officeDocument/2006/relationships/image" Target="../media/image64.png"/><Relationship Id="rId26" Type="http://schemas.openxmlformats.org/officeDocument/2006/relationships/image" Target="../media/image72.png"/><Relationship Id="rId3" Type="http://schemas.openxmlformats.org/officeDocument/2006/relationships/tags" Target="../tags/tag81.xml"/><Relationship Id="rId21" Type="http://schemas.openxmlformats.org/officeDocument/2006/relationships/image" Target="../media/image67.png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59.png"/><Relationship Id="rId17" Type="http://schemas.openxmlformats.org/officeDocument/2006/relationships/image" Target="../media/image63.png"/><Relationship Id="rId25" Type="http://schemas.openxmlformats.org/officeDocument/2006/relationships/image" Target="../media/image71.png"/><Relationship Id="rId2" Type="http://schemas.openxmlformats.org/officeDocument/2006/relationships/tags" Target="../tags/tag80.xml"/><Relationship Id="rId16" Type="http://schemas.openxmlformats.org/officeDocument/2006/relationships/image" Target="../media/image62.png"/><Relationship Id="rId20" Type="http://schemas.openxmlformats.org/officeDocument/2006/relationships/image" Target="../media/image66.png"/><Relationship Id="rId1" Type="http://schemas.openxmlformats.org/officeDocument/2006/relationships/tags" Target="../tags/tag79.xml"/><Relationship Id="rId6" Type="http://schemas.openxmlformats.org/officeDocument/2006/relationships/tags" Target="../tags/tag84.xml"/><Relationship Id="rId11" Type="http://schemas.openxmlformats.org/officeDocument/2006/relationships/image" Target="../media/image58.png"/><Relationship Id="rId24" Type="http://schemas.openxmlformats.org/officeDocument/2006/relationships/image" Target="../media/image70.png"/><Relationship Id="rId5" Type="http://schemas.openxmlformats.org/officeDocument/2006/relationships/tags" Target="../tags/tag83.xml"/><Relationship Id="rId15" Type="http://schemas.openxmlformats.org/officeDocument/2006/relationships/image" Target="../media/image38.png"/><Relationship Id="rId23" Type="http://schemas.openxmlformats.org/officeDocument/2006/relationships/image" Target="../media/image69.png"/><Relationship Id="rId28" Type="http://schemas.openxmlformats.org/officeDocument/2006/relationships/image" Target="../media/image74.png"/><Relationship Id="rId10" Type="http://schemas.openxmlformats.org/officeDocument/2006/relationships/image" Target="../media/image1.emf"/><Relationship Id="rId19" Type="http://schemas.openxmlformats.org/officeDocument/2006/relationships/image" Target="../media/image65.png"/><Relationship Id="rId4" Type="http://schemas.openxmlformats.org/officeDocument/2006/relationships/tags" Target="../tags/tag82.xml"/><Relationship Id="rId9" Type="http://schemas.openxmlformats.org/officeDocument/2006/relationships/oleObject" Target="../embeddings/oleObject16.bin"/><Relationship Id="rId14" Type="http://schemas.openxmlformats.org/officeDocument/2006/relationships/image" Target="../media/image61.png"/><Relationship Id="rId22" Type="http://schemas.openxmlformats.org/officeDocument/2006/relationships/image" Target="../media/image68.png"/><Relationship Id="rId27" Type="http://schemas.openxmlformats.org/officeDocument/2006/relationships/image" Target="../media/image7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tags" Target="../tags/tag87.xml"/><Relationship Id="rId7" Type="http://schemas.openxmlformats.org/officeDocument/2006/relationships/oleObject" Target="../embeddings/oleObject17.bin"/><Relationship Id="rId2" Type="http://schemas.openxmlformats.org/officeDocument/2006/relationships/tags" Target="../tags/tag86.xml"/><Relationship Id="rId1" Type="http://schemas.openxmlformats.org/officeDocument/2006/relationships/tags" Target="../tags/tag85.xml"/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8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91.xml"/><Relationship Id="rId7" Type="http://schemas.openxmlformats.org/officeDocument/2006/relationships/image" Target="../media/image1.emf"/><Relationship Id="rId2" Type="http://schemas.openxmlformats.org/officeDocument/2006/relationships/tags" Target="../tags/tag90.xml"/><Relationship Id="rId1" Type="http://schemas.openxmlformats.org/officeDocument/2006/relationships/tags" Target="../tags/tag89.xml"/><Relationship Id="rId6" Type="http://schemas.openxmlformats.org/officeDocument/2006/relationships/oleObject" Target="../embeddings/oleObject18.bin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9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95.xml"/><Relationship Id="rId7" Type="http://schemas.openxmlformats.org/officeDocument/2006/relationships/image" Target="../media/image1.emf"/><Relationship Id="rId2" Type="http://schemas.openxmlformats.org/officeDocument/2006/relationships/tags" Target="../tags/tag94.xml"/><Relationship Id="rId1" Type="http://schemas.openxmlformats.org/officeDocument/2006/relationships/tags" Target="../tags/tag93.xml"/><Relationship Id="rId6" Type="http://schemas.openxmlformats.org/officeDocument/2006/relationships/oleObject" Target="../embeddings/oleObject19.bin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9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tags" Target="../tags/tag99.xml"/><Relationship Id="rId7" Type="http://schemas.openxmlformats.org/officeDocument/2006/relationships/image" Target="../media/image1.emf"/><Relationship Id="rId2" Type="http://schemas.openxmlformats.org/officeDocument/2006/relationships/tags" Target="../tags/tag98.xml"/><Relationship Id="rId1" Type="http://schemas.openxmlformats.org/officeDocument/2006/relationships/tags" Target="../tags/tag97.xml"/><Relationship Id="rId6" Type="http://schemas.openxmlformats.org/officeDocument/2006/relationships/oleObject" Target="../embeddings/oleObject20.bin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tags" Target="../tags/tag103.xml"/><Relationship Id="rId7" Type="http://schemas.openxmlformats.org/officeDocument/2006/relationships/image" Target="../media/image1.emf"/><Relationship Id="rId2" Type="http://schemas.openxmlformats.org/officeDocument/2006/relationships/tags" Target="../tags/tag102.xml"/><Relationship Id="rId1" Type="http://schemas.openxmlformats.org/officeDocument/2006/relationships/tags" Target="../tags/tag101.xml"/><Relationship Id="rId6" Type="http://schemas.openxmlformats.org/officeDocument/2006/relationships/oleObject" Target="../embeddings/oleObject21.bin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4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tags" Target="../tags/tag107.xml"/><Relationship Id="rId7" Type="http://schemas.openxmlformats.org/officeDocument/2006/relationships/oleObject" Target="../embeddings/oleObject22.bin"/><Relationship Id="rId2" Type="http://schemas.openxmlformats.org/officeDocument/2006/relationships/tags" Target="../tags/tag106.xml"/><Relationship Id="rId1" Type="http://schemas.openxmlformats.org/officeDocument/2006/relationships/tags" Target="../tags/tag105.xml"/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8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tags" Target="../tags/tag111.xml"/><Relationship Id="rId7" Type="http://schemas.openxmlformats.org/officeDocument/2006/relationships/oleObject" Target="../embeddings/oleObject23.bin"/><Relationship Id="rId2" Type="http://schemas.openxmlformats.org/officeDocument/2006/relationships/tags" Target="../tags/tag110.xml"/><Relationship Id="rId1" Type="http://schemas.openxmlformats.org/officeDocument/2006/relationships/tags" Target="../tags/tag109.xml"/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btfpColumnIndicatorGroup2">
            <a:extLst>
              <a:ext uri="{FF2B5EF4-FFF2-40B4-BE49-F238E27FC236}">
                <a16:creationId xmlns:a16="http://schemas.microsoft.com/office/drawing/2014/main" id="{F211E038-CB27-F517-20D9-81AD5BD766D8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11" name="btfpColumnGapBlocker541011">
              <a:extLst>
                <a:ext uri="{FF2B5EF4-FFF2-40B4-BE49-F238E27FC236}">
                  <a16:creationId xmlns:a16="http://schemas.microsoft.com/office/drawing/2014/main" id="{249E4EB3-4EF4-322D-6BA4-3BF1CFF05DC5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>
                <a:solidFill>
                  <a:schemeClr val="tx1"/>
                </a:solidFill>
              </a:endParaRPr>
            </a:p>
          </p:txBody>
        </p:sp>
        <p:sp>
          <p:nvSpPr>
            <p:cNvPr id="8" name="btfpColumnGapBlocker122305">
              <a:extLst>
                <a:ext uri="{FF2B5EF4-FFF2-40B4-BE49-F238E27FC236}">
                  <a16:creationId xmlns:a16="http://schemas.microsoft.com/office/drawing/2014/main" id="{04784DEF-F13A-C63B-417B-0310D15552D3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>
                <a:solidFill>
                  <a:schemeClr val="tx1"/>
                </a:solidFill>
              </a:endParaRPr>
            </a:p>
          </p:txBody>
        </p:sp>
        <p:cxnSp>
          <p:nvCxnSpPr>
            <p:cNvPr id="6" name="btfpColumnIndicator353285">
              <a:extLst>
                <a:ext uri="{FF2B5EF4-FFF2-40B4-BE49-F238E27FC236}">
                  <a16:creationId xmlns:a16="http://schemas.microsoft.com/office/drawing/2014/main" id="{8ECC8E06-8F5B-B423-A65E-00E52407D928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btfpColumnIndicator470001">
              <a:extLst>
                <a:ext uri="{FF2B5EF4-FFF2-40B4-BE49-F238E27FC236}">
                  <a16:creationId xmlns:a16="http://schemas.microsoft.com/office/drawing/2014/main" id="{7FEDECD1-160B-65BE-4EFC-CBF6B2DF5E16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btfpColumnIndicatorGroup1">
            <a:extLst>
              <a:ext uri="{FF2B5EF4-FFF2-40B4-BE49-F238E27FC236}">
                <a16:creationId xmlns:a16="http://schemas.microsoft.com/office/drawing/2014/main" id="{F3DD14EF-5047-95FC-5DA2-FF06687BA8E8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10" name="btfpColumnGapBlocker830016">
              <a:extLst>
                <a:ext uri="{FF2B5EF4-FFF2-40B4-BE49-F238E27FC236}">
                  <a16:creationId xmlns:a16="http://schemas.microsoft.com/office/drawing/2014/main" id="{1AE65B04-5B57-4459-5ECC-2387C8654170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>
                <a:solidFill>
                  <a:schemeClr val="tx1"/>
                </a:solidFill>
              </a:endParaRPr>
            </a:p>
          </p:txBody>
        </p:sp>
        <p:sp>
          <p:nvSpPr>
            <p:cNvPr id="7" name="btfpColumnGapBlocker721825">
              <a:extLst>
                <a:ext uri="{FF2B5EF4-FFF2-40B4-BE49-F238E27FC236}">
                  <a16:creationId xmlns:a16="http://schemas.microsoft.com/office/drawing/2014/main" id="{963342D2-DB95-A710-96D6-285D12423DD8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>
                <a:solidFill>
                  <a:schemeClr val="tx1"/>
                </a:solidFill>
              </a:endParaRPr>
            </a:p>
          </p:txBody>
        </p:sp>
        <p:cxnSp>
          <p:nvCxnSpPr>
            <p:cNvPr id="5" name="btfpColumnIndicator644601">
              <a:extLst>
                <a:ext uri="{FF2B5EF4-FFF2-40B4-BE49-F238E27FC236}">
                  <a16:creationId xmlns:a16="http://schemas.microsoft.com/office/drawing/2014/main" id="{BAD9F090-DFCD-16F0-CEE3-C8368441D5B8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" name="btfpColumnIndicator829817">
              <a:extLst>
                <a:ext uri="{FF2B5EF4-FFF2-40B4-BE49-F238E27FC236}">
                  <a16:creationId xmlns:a16="http://schemas.microsoft.com/office/drawing/2014/main" id="{249C40BD-F24A-C867-5AFC-13E131022106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3" name="think-cell data - do not delete" hidden="1">
            <a:extLst>
              <a:ext uri="{FF2B5EF4-FFF2-40B4-BE49-F238E27FC236}">
                <a16:creationId xmlns:a16="http://schemas.microsoft.com/office/drawing/2014/main" id="{4D0A5069-396D-1FD1-ED82-B1175276BD03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606" imgH="608" progId="TCLayout.ActiveDocument.1">
                  <p:embed/>
                </p:oleObj>
              </mc:Choice>
              <mc:Fallback>
                <p:oleObj name="think-cell Slide" r:id="rId5" imgW="606" imgH="608" progId="TCLayout.ActiveDocument.1">
                  <p:embed/>
                  <p:pic>
                    <p:nvPicPr>
                      <p:cNvPr id="2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D0A5069-396D-1FD1-ED82-B1175276BD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Picture 14" descr="A blurry image of a computer screen&#10;&#10;Description automatically generated">
            <a:extLst>
              <a:ext uri="{FF2B5EF4-FFF2-40B4-BE49-F238E27FC236}">
                <a16:creationId xmlns:a16="http://schemas.microsoft.com/office/drawing/2014/main" id="{5BFD32BF-8465-A013-0088-30F7B6083FA4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2" r="7395" b="673"/>
          <a:stretch/>
        </p:blipFill>
        <p:spPr>
          <a:xfrm>
            <a:off x="-1" y="0"/>
            <a:ext cx="12192000" cy="6926580"/>
          </a:xfrm>
          <a:prstGeom prst="rect">
            <a:avLst/>
          </a:prstGeom>
        </p:spPr>
      </p:pic>
      <p:sp>
        <p:nvSpPr>
          <p:cNvPr id="3" name="btfpLayoutConfig" hidden="1"/>
          <p:cNvSpPr txBox="1"/>
          <p:nvPr/>
        </p:nvSpPr>
        <p:spPr bwMode="gray">
          <a:xfrm>
            <a:off x="12700" y="12700"/>
            <a:ext cx="431776" cy="88092"/>
          </a:xfrm>
          <a:prstGeom prst="rect">
            <a:avLst/>
          </a:prstGeom>
          <a:noFill/>
        </p:spPr>
        <p:txBody>
          <a:bodyPr vert="horz" wrap="none" lIns="36000" tIns="36000" rIns="36000" bIns="36000" rtlCol="0">
            <a:spAutoFit/>
          </a:bodyPr>
          <a:lstStyle/>
          <a:p>
            <a:pPr marL="0" indent="0">
              <a:buNone/>
            </a:pPr>
            <a:r>
              <a:rPr lang="en-US" sz="100">
                <a:solidFill>
                  <a:srgbClr val="FFFFFF">
                    <a:alpha val="0"/>
                  </a:srgbClr>
                </a:solidFill>
              </a:rPr>
              <a:t>overall_1_132209786039179418 columns_5_132210801157033491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86549F8-2551-284E-B747-FC9F21958C4F}"/>
              </a:ext>
            </a:extLst>
          </p:cNvPr>
          <p:cNvSpPr/>
          <p:nvPr/>
        </p:nvSpPr>
        <p:spPr bwMode="gray">
          <a:xfrm>
            <a:off x="-1" y="873123"/>
            <a:ext cx="6181725" cy="3235919"/>
          </a:xfrm>
          <a:prstGeom prst="rect">
            <a:avLst/>
          </a:prstGeom>
          <a:solidFill>
            <a:schemeClr val="tx1">
              <a:alpha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17" name="btfpBulletedList826205">
            <a:extLst>
              <a:ext uri="{FF2B5EF4-FFF2-40B4-BE49-F238E27FC236}">
                <a16:creationId xmlns:a16="http://schemas.microsoft.com/office/drawing/2014/main" id="{C2DCF28E-2810-A6E9-F130-8C89F74A2C41}"/>
              </a:ext>
            </a:extLst>
          </p:cNvPr>
          <p:cNvSpPr txBox="1">
            <a:spLocks/>
          </p:cNvSpPr>
          <p:nvPr/>
        </p:nvSpPr>
        <p:spPr>
          <a:xfrm>
            <a:off x="347387" y="3437773"/>
            <a:ext cx="3548013" cy="349702"/>
          </a:xfrm>
          <a:prstGeom prst="rect">
            <a:avLst/>
          </a:prstGeom>
        </p:spPr>
        <p:txBody>
          <a:bodyPr vert="horz" wrap="none" lIns="36000" tIns="36000" rIns="36000" bIns="36000" rtlCol="0">
            <a:sp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>
                <a:solidFill>
                  <a:schemeClr val="bg1"/>
                </a:solidFill>
              </a:rPr>
              <a:t>Phase 2 – Update, February 2026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E069B27-0CFE-DF9F-337C-2A732E3A3521}"/>
              </a:ext>
            </a:extLst>
          </p:cNvPr>
          <p:cNvCxnSpPr/>
          <p:nvPr/>
        </p:nvCxnSpPr>
        <p:spPr bwMode="gray">
          <a:xfrm>
            <a:off x="347387" y="3271471"/>
            <a:ext cx="900000" cy="0"/>
          </a:xfrm>
          <a:prstGeom prst="line">
            <a:avLst/>
          </a:prstGeom>
          <a:ln w="38100" cap="flat" cmpd="sng" algn="ctr">
            <a:solidFill>
              <a:srgbClr val="CC0000"/>
            </a:solidFill>
            <a:prstDash val="solid"/>
            <a:miter lim="800000"/>
            <a:headEnd type="none" w="med" len="med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B26D521-0D33-9828-DB23-88427C2F0760}"/>
              </a:ext>
            </a:extLst>
          </p:cNvPr>
          <p:cNvCxnSpPr/>
          <p:nvPr/>
        </p:nvCxnSpPr>
        <p:spPr bwMode="gray">
          <a:xfrm flipH="1">
            <a:off x="3148742" y="1185336"/>
            <a:ext cx="0" cy="432380"/>
          </a:xfrm>
          <a:prstGeom prst="line">
            <a:avLst/>
          </a:prstGeom>
          <a:ln w="19050" cap="flat" cmpd="sng" algn="ctr">
            <a:solidFill>
              <a:srgbClr val="CC0000"/>
            </a:solidFill>
            <a:prstDash val="solid"/>
            <a:miter lim="800000"/>
            <a:headEnd type="none" w="med" len="med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A2A50BC-37D0-5DE2-A208-4DEEFD7D5740}"/>
              </a:ext>
            </a:extLst>
          </p:cNvPr>
          <p:cNvGrpSpPr/>
          <p:nvPr/>
        </p:nvGrpSpPr>
        <p:grpSpPr>
          <a:xfrm>
            <a:off x="382375" y="1262620"/>
            <a:ext cx="2474912" cy="277813"/>
            <a:chOff x="336550" y="1095376"/>
            <a:chExt cx="2474912" cy="277813"/>
          </a:xfrm>
          <a:solidFill>
            <a:schemeClr val="bg1"/>
          </a:solidFill>
        </p:grpSpPr>
        <p:sp>
          <p:nvSpPr>
            <p:cNvPr id="42" name="Freeform 5">
              <a:extLst>
                <a:ext uri="{FF2B5EF4-FFF2-40B4-BE49-F238E27FC236}">
                  <a16:creationId xmlns:a16="http://schemas.microsoft.com/office/drawing/2014/main" id="{B4203738-4F64-291E-35C2-67D217D0807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90650" y="1150938"/>
              <a:ext cx="161925" cy="165100"/>
            </a:xfrm>
            <a:custGeom>
              <a:avLst/>
              <a:gdLst>
                <a:gd name="T0" fmla="*/ 0 w 73"/>
                <a:gd name="T1" fmla="*/ 37 h 73"/>
                <a:gd name="T2" fmla="*/ 37 w 73"/>
                <a:gd name="T3" fmla="*/ 73 h 73"/>
                <a:gd name="T4" fmla="*/ 73 w 73"/>
                <a:gd name="T5" fmla="*/ 37 h 73"/>
                <a:gd name="T6" fmla="*/ 37 w 73"/>
                <a:gd name="T7" fmla="*/ 0 h 73"/>
                <a:gd name="T8" fmla="*/ 0 w 73"/>
                <a:gd name="T9" fmla="*/ 37 h 73"/>
                <a:gd name="T10" fmla="*/ 14 w 73"/>
                <a:gd name="T11" fmla="*/ 37 h 73"/>
                <a:gd name="T12" fmla="*/ 37 w 73"/>
                <a:gd name="T13" fmla="*/ 12 h 73"/>
                <a:gd name="T14" fmla="*/ 59 w 73"/>
                <a:gd name="T15" fmla="*/ 37 h 73"/>
                <a:gd name="T16" fmla="*/ 37 w 73"/>
                <a:gd name="T17" fmla="*/ 61 h 73"/>
                <a:gd name="T18" fmla="*/ 14 w 73"/>
                <a:gd name="T19" fmla="*/ 37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3" h="73">
                  <a:moveTo>
                    <a:pt x="0" y="37"/>
                  </a:moveTo>
                  <a:cubicBezTo>
                    <a:pt x="0" y="58"/>
                    <a:pt x="16" y="73"/>
                    <a:pt x="37" y="73"/>
                  </a:cubicBezTo>
                  <a:cubicBezTo>
                    <a:pt x="57" y="73"/>
                    <a:pt x="73" y="57"/>
                    <a:pt x="73" y="37"/>
                  </a:cubicBezTo>
                  <a:cubicBezTo>
                    <a:pt x="73" y="15"/>
                    <a:pt x="57" y="0"/>
                    <a:pt x="37" y="0"/>
                  </a:cubicBezTo>
                  <a:cubicBezTo>
                    <a:pt x="16" y="0"/>
                    <a:pt x="0" y="17"/>
                    <a:pt x="0" y="37"/>
                  </a:cubicBezTo>
                  <a:moveTo>
                    <a:pt x="14" y="37"/>
                  </a:moveTo>
                  <a:cubicBezTo>
                    <a:pt x="14" y="24"/>
                    <a:pt x="23" y="12"/>
                    <a:pt x="37" y="12"/>
                  </a:cubicBezTo>
                  <a:cubicBezTo>
                    <a:pt x="50" y="12"/>
                    <a:pt x="59" y="22"/>
                    <a:pt x="59" y="37"/>
                  </a:cubicBezTo>
                  <a:cubicBezTo>
                    <a:pt x="59" y="50"/>
                    <a:pt x="50" y="61"/>
                    <a:pt x="37" y="61"/>
                  </a:cubicBezTo>
                  <a:cubicBezTo>
                    <a:pt x="23" y="61"/>
                    <a:pt x="14" y="51"/>
                    <a:pt x="14" y="3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6">
              <a:extLst>
                <a:ext uri="{FF2B5EF4-FFF2-40B4-BE49-F238E27FC236}">
                  <a16:creationId xmlns:a16="http://schemas.microsoft.com/office/drawing/2014/main" id="{11F1E28D-4AAF-8C06-68D6-F6F964BFCA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4438" y="1154113"/>
              <a:ext cx="144462" cy="160338"/>
            </a:xfrm>
            <a:custGeom>
              <a:avLst/>
              <a:gdLst>
                <a:gd name="T0" fmla="*/ 0 w 65"/>
                <a:gd name="T1" fmla="*/ 35 h 71"/>
                <a:gd name="T2" fmla="*/ 37 w 65"/>
                <a:gd name="T3" fmla="*/ 71 h 71"/>
                <a:gd name="T4" fmla="*/ 64 w 65"/>
                <a:gd name="T5" fmla="*/ 58 h 71"/>
                <a:gd name="T6" fmla="*/ 65 w 65"/>
                <a:gd name="T7" fmla="*/ 57 h 71"/>
                <a:gd name="T8" fmla="*/ 55 w 65"/>
                <a:gd name="T9" fmla="*/ 49 h 71"/>
                <a:gd name="T10" fmla="*/ 54 w 65"/>
                <a:gd name="T11" fmla="*/ 50 h 71"/>
                <a:gd name="T12" fmla="*/ 37 w 65"/>
                <a:gd name="T13" fmla="*/ 60 h 71"/>
                <a:gd name="T14" fmla="*/ 14 w 65"/>
                <a:gd name="T15" fmla="*/ 35 h 71"/>
                <a:gd name="T16" fmla="*/ 37 w 65"/>
                <a:gd name="T17" fmla="*/ 11 h 71"/>
                <a:gd name="T18" fmla="*/ 54 w 65"/>
                <a:gd name="T19" fmla="*/ 21 h 71"/>
                <a:gd name="T20" fmla="*/ 55 w 65"/>
                <a:gd name="T21" fmla="*/ 21 h 71"/>
                <a:gd name="T22" fmla="*/ 65 w 65"/>
                <a:gd name="T23" fmla="*/ 13 h 71"/>
                <a:gd name="T24" fmla="*/ 64 w 65"/>
                <a:gd name="T25" fmla="*/ 13 h 71"/>
                <a:gd name="T26" fmla="*/ 37 w 65"/>
                <a:gd name="T27" fmla="*/ 0 h 71"/>
                <a:gd name="T28" fmla="*/ 0 w 65"/>
                <a:gd name="T29" fmla="*/ 35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" h="71">
                  <a:moveTo>
                    <a:pt x="0" y="35"/>
                  </a:moveTo>
                  <a:cubicBezTo>
                    <a:pt x="0" y="57"/>
                    <a:pt x="15" y="71"/>
                    <a:pt x="37" y="71"/>
                  </a:cubicBezTo>
                  <a:cubicBezTo>
                    <a:pt x="48" y="71"/>
                    <a:pt x="58" y="67"/>
                    <a:pt x="64" y="58"/>
                  </a:cubicBezTo>
                  <a:cubicBezTo>
                    <a:pt x="65" y="57"/>
                    <a:pt x="65" y="57"/>
                    <a:pt x="65" y="57"/>
                  </a:cubicBezTo>
                  <a:cubicBezTo>
                    <a:pt x="55" y="49"/>
                    <a:pt x="55" y="49"/>
                    <a:pt x="55" y="49"/>
                  </a:cubicBezTo>
                  <a:cubicBezTo>
                    <a:pt x="54" y="50"/>
                    <a:pt x="54" y="50"/>
                    <a:pt x="54" y="50"/>
                  </a:cubicBezTo>
                  <a:cubicBezTo>
                    <a:pt x="51" y="57"/>
                    <a:pt x="45" y="60"/>
                    <a:pt x="37" y="60"/>
                  </a:cubicBezTo>
                  <a:cubicBezTo>
                    <a:pt x="23" y="60"/>
                    <a:pt x="14" y="49"/>
                    <a:pt x="14" y="35"/>
                  </a:cubicBezTo>
                  <a:cubicBezTo>
                    <a:pt x="14" y="22"/>
                    <a:pt x="24" y="11"/>
                    <a:pt x="37" y="11"/>
                  </a:cubicBezTo>
                  <a:cubicBezTo>
                    <a:pt x="44" y="11"/>
                    <a:pt x="51" y="15"/>
                    <a:pt x="54" y="21"/>
                  </a:cubicBezTo>
                  <a:cubicBezTo>
                    <a:pt x="55" y="21"/>
                    <a:pt x="55" y="21"/>
                    <a:pt x="55" y="21"/>
                  </a:cubicBezTo>
                  <a:cubicBezTo>
                    <a:pt x="65" y="13"/>
                    <a:pt x="65" y="13"/>
                    <a:pt x="65" y="13"/>
                  </a:cubicBezTo>
                  <a:cubicBezTo>
                    <a:pt x="64" y="13"/>
                    <a:pt x="64" y="13"/>
                    <a:pt x="64" y="13"/>
                  </a:cubicBezTo>
                  <a:cubicBezTo>
                    <a:pt x="58" y="4"/>
                    <a:pt x="47" y="0"/>
                    <a:pt x="37" y="0"/>
                  </a:cubicBezTo>
                  <a:cubicBezTo>
                    <a:pt x="17" y="0"/>
                    <a:pt x="0" y="15"/>
                    <a:pt x="0" y="3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7">
              <a:extLst>
                <a:ext uri="{FF2B5EF4-FFF2-40B4-BE49-F238E27FC236}">
                  <a16:creationId xmlns:a16="http://schemas.microsoft.com/office/drawing/2014/main" id="{227DEEE1-C3B2-5AFB-C0D9-C687AA24E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2825" y="1155701"/>
              <a:ext cx="142875" cy="155575"/>
            </a:xfrm>
            <a:custGeom>
              <a:avLst/>
              <a:gdLst>
                <a:gd name="T0" fmla="*/ 37 w 90"/>
                <a:gd name="T1" fmla="*/ 57 h 98"/>
                <a:gd name="T2" fmla="*/ 37 w 90"/>
                <a:gd name="T3" fmla="*/ 98 h 98"/>
                <a:gd name="T4" fmla="*/ 55 w 90"/>
                <a:gd name="T5" fmla="*/ 98 h 98"/>
                <a:gd name="T6" fmla="*/ 55 w 90"/>
                <a:gd name="T7" fmla="*/ 57 h 98"/>
                <a:gd name="T8" fmla="*/ 90 w 90"/>
                <a:gd name="T9" fmla="*/ 0 h 98"/>
                <a:gd name="T10" fmla="*/ 70 w 90"/>
                <a:gd name="T11" fmla="*/ 0 h 98"/>
                <a:gd name="T12" fmla="*/ 45 w 90"/>
                <a:gd name="T13" fmla="*/ 40 h 98"/>
                <a:gd name="T14" fmla="*/ 21 w 90"/>
                <a:gd name="T15" fmla="*/ 0 h 98"/>
                <a:gd name="T16" fmla="*/ 0 w 90"/>
                <a:gd name="T17" fmla="*/ 0 h 98"/>
                <a:gd name="T18" fmla="*/ 37 w 90"/>
                <a:gd name="T19" fmla="*/ 57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0" h="98">
                  <a:moveTo>
                    <a:pt x="37" y="57"/>
                  </a:moveTo>
                  <a:lnTo>
                    <a:pt x="37" y="98"/>
                  </a:lnTo>
                  <a:lnTo>
                    <a:pt x="55" y="98"/>
                  </a:lnTo>
                  <a:lnTo>
                    <a:pt x="55" y="57"/>
                  </a:lnTo>
                  <a:lnTo>
                    <a:pt x="90" y="0"/>
                  </a:lnTo>
                  <a:lnTo>
                    <a:pt x="70" y="0"/>
                  </a:lnTo>
                  <a:lnTo>
                    <a:pt x="45" y="40"/>
                  </a:lnTo>
                  <a:lnTo>
                    <a:pt x="21" y="0"/>
                  </a:lnTo>
                  <a:lnTo>
                    <a:pt x="0" y="0"/>
                  </a:lnTo>
                  <a:lnTo>
                    <a:pt x="37" y="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8">
              <a:extLst>
                <a:ext uri="{FF2B5EF4-FFF2-40B4-BE49-F238E27FC236}">
                  <a16:creationId xmlns:a16="http://schemas.microsoft.com/office/drawing/2014/main" id="{02D9461A-D0B1-40E6-E197-0CF4559CDF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22450" y="1155701"/>
              <a:ext cx="100012" cy="155575"/>
            </a:xfrm>
            <a:custGeom>
              <a:avLst/>
              <a:gdLst>
                <a:gd name="T0" fmla="*/ 0 w 45"/>
                <a:gd name="T1" fmla="*/ 0 h 69"/>
                <a:gd name="T2" fmla="*/ 0 w 45"/>
                <a:gd name="T3" fmla="*/ 69 h 69"/>
                <a:gd name="T4" fmla="*/ 13 w 45"/>
                <a:gd name="T5" fmla="*/ 69 h 69"/>
                <a:gd name="T6" fmla="*/ 13 w 45"/>
                <a:gd name="T7" fmla="*/ 43 h 69"/>
                <a:gd name="T8" fmla="*/ 16 w 45"/>
                <a:gd name="T9" fmla="*/ 44 h 69"/>
                <a:gd name="T10" fmla="*/ 45 w 45"/>
                <a:gd name="T11" fmla="*/ 22 h 69"/>
                <a:gd name="T12" fmla="*/ 16 w 45"/>
                <a:gd name="T13" fmla="*/ 0 h 69"/>
                <a:gd name="T14" fmla="*/ 0 w 45"/>
                <a:gd name="T15" fmla="*/ 0 h 69"/>
                <a:gd name="T16" fmla="*/ 13 w 45"/>
                <a:gd name="T17" fmla="*/ 10 h 69"/>
                <a:gd name="T18" fmla="*/ 16 w 45"/>
                <a:gd name="T19" fmla="*/ 10 h 69"/>
                <a:gd name="T20" fmla="*/ 31 w 45"/>
                <a:gd name="T21" fmla="*/ 22 h 69"/>
                <a:gd name="T22" fmla="*/ 16 w 45"/>
                <a:gd name="T23" fmla="*/ 33 h 69"/>
                <a:gd name="T24" fmla="*/ 13 w 45"/>
                <a:gd name="T25" fmla="*/ 33 h 69"/>
                <a:gd name="T26" fmla="*/ 13 w 45"/>
                <a:gd name="T27" fmla="*/ 1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5" h="69">
                  <a:moveTo>
                    <a:pt x="0" y="0"/>
                  </a:moveTo>
                  <a:cubicBezTo>
                    <a:pt x="0" y="69"/>
                    <a:pt x="0" y="69"/>
                    <a:pt x="0" y="69"/>
                  </a:cubicBezTo>
                  <a:cubicBezTo>
                    <a:pt x="13" y="69"/>
                    <a:pt x="13" y="69"/>
                    <a:pt x="13" y="69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4" y="44"/>
                    <a:pt x="15" y="44"/>
                    <a:pt x="16" y="44"/>
                  </a:cubicBezTo>
                  <a:cubicBezTo>
                    <a:pt x="33" y="44"/>
                    <a:pt x="45" y="36"/>
                    <a:pt x="45" y="22"/>
                  </a:cubicBezTo>
                  <a:cubicBezTo>
                    <a:pt x="45" y="8"/>
                    <a:pt x="35" y="0"/>
                    <a:pt x="16" y="0"/>
                  </a:cubicBezTo>
                  <a:lnTo>
                    <a:pt x="0" y="0"/>
                  </a:lnTo>
                  <a:close/>
                  <a:moveTo>
                    <a:pt x="13" y="10"/>
                  </a:moveTo>
                  <a:cubicBezTo>
                    <a:pt x="16" y="10"/>
                    <a:pt x="16" y="10"/>
                    <a:pt x="16" y="10"/>
                  </a:cubicBezTo>
                  <a:cubicBezTo>
                    <a:pt x="27" y="10"/>
                    <a:pt x="31" y="15"/>
                    <a:pt x="31" y="22"/>
                  </a:cubicBezTo>
                  <a:cubicBezTo>
                    <a:pt x="31" y="29"/>
                    <a:pt x="26" y="33"/>
                    <a:pt x="16" y="33"/>
                  </a:cubicBezTo>
                  <a:cubicBezTo>
                    <a:pt x="15" y="33"/>
                    <a:pt x="14" y="33"/>
                    <a:pt x="13" y="33"/>
                  </a:cubicBezTo>
                  <a:lnTo>
                    <a:pt x="13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9">
              <a:extLst>
                <a:ext uri="{FF2B5EF4-FFF2-40B4-BE49-F238E27FC236}">
                  <a16:creationId xmlns:a16="http://schemas.microsoft.com/office/drawing/2014/main" id="{B635315D-CF69-7FFF-D849-14E691579C9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2738" y="1154113"/>
              <a:ext cx="190500" cy="161925"/>
            </a:xfrm>
            <a:custGeom>
              <a:avLst/>
              <a:gdLst>
                <a:gd name="T0" fmla="*/ 30 w 120"/>
                <a:gd name="T1" fmla="*/ 47 h 102"/>
                <a:gd name="T2" fmla="*/ 59 w 120"/>
                <a:gd name="T3" fmla="*/ 102 h 102"/>
                <a:gd name="T4" fmla="*/ 88 w 120"/>
                <a:gd name="T5" fmla="*/ 47 h 102"/>
                <a:gd name="T6" fmla="*/ 101 w 120"/>
                <a:gd name="T7" fmla="*/ 99 h 102"/>
                <a:gd name="T8" fmla="*/ 120 w 120"/>
                <a:gd name="T9" fmla="*/ 99 h 102"/>
                <a:gd name="T10" fmla="*/ 94 w 120"/>
                <a:gd name="T11" fmla="*/ 0 h 102"/>
                <a:gd name="T12" fmla="*/ 59 w 120"/>
                <a:gd name="T13" fmla="*/ 65 h 102"/>
                <a:gd name="T14" fmla="*/ 24 w 120"/>
                <a:gd name="T15" fmla="*/ 0 h 102"/>
                <a:gd name="T16" fmla="*/ 0 w 120"/>
                <a:gd name="T17" fmla="*/ 99 h 102"/>
                <a:gd name="T18" fmla="*/ 17 w 120"/>
                <a:gd name="T19" fmla="*/ 99 h 102"/>
                <a:gd name="T20" fmla="*/ 30 w 120"/>
                <a:gd name="T21" fmla="*/ 47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0" h="102">
                  <a:moveTo>
                    <a:pt x="30" y="47"/>
                  </a:moveTo>
                  <a:lnTo>
                    <a:pt x="59" y="102"/>
                  </a:lnTo>
                  <a:lnTo>
                    <a:pt x="88" y="47"/>
                  </a:lnTo>
                  <a:lnTo>
                    <a:pt x="101" y="99"/>
                  </a:lnTo>
                  <a:lnTo>
                    <a:pt x="120" y="99"/>
                  </a:lnTo>
                  <a:lnTo>
                    <a:pt x="94" y="0"/>
                  </a:lnTo>
                  <a:lnTo>
                    <a:pt x="59" y="65"/>
                  </a:lnTo>
                  <a:lnTo>
                    <a:pt x="24" y="0"/>
                  </a:lnTo>
                  <a:lnTo>
                    <a:pt x="0" y="99"/>
                  </a:lnTo>
                  <a:lnTo>
                    <a:pt x="17" y="99"/>
                  </a:lnTo>
                  <a:lnTo>
                    <a:pt x="30" y="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10">
              <a:extLst>
                <a:ext uri="{FF2B5EF4-FFF2-40B4-BE49-F238E27FC236}">
                  <a16:creationId xmlns:a16="http://schemas.microsoft.com/office/drawing/2014/main" id="{06BD9D5F-C305-B572-B51C-E147B5B95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44538" y="1154113"/>
              <a:ext cx="128587" cy="161925"/>
            </a:xfrm>
            <a:custGeom>
              <a:avLst/>
              <a:gdLst>
                <a:gd name="T0" fmla="*/ 63 w 81"/>
                <a:gd name="T1" fmla="*/ 59 h 102"/>
                <a:gd name="T2" fmla="*/ 0 w 81"/>
                <a:gd name="T3" fmla="*/ 0 h 102"/>
                <a:gd name="T4" fmla="*/ 0 w 81"/>
                <a:gd name="T5" fmla="*/ 99 h 102"/>
                <a:gd name="T6" fmla="*/ 17 w 81"/>
                <a:gd name="T7" fmla="*/ 99 h 102"/>
                <a:gd name="T8" fmla="*/ 17 w 81"/>
                <a:gd name="T9" fmla="*/ 42 h 102"/>
                <a:gd name="T10" fmla="*/ 81 w 81"/>
                <a:gd name="T11" fmla="*/ 102 h 102"/>
                <a:gd name="T12" fmla="*/ 81 w 81"/>
                <a:gd name="T13" fmla="*/ 1 h 102"/>
                <a:gd name="T14" fmla="*/ 63 w 81"/>
                <a:gd name="T15" fmla="*/ 1 h 102"/>
                <a:gd name="T16" fmla="*/ 63 w 81"/>
                <a:gd name="T17" fmla="*/ 59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1" h="102">
                  <a:moveTo>
                    <a:pt x="63" y="59"/>
                  </a:moveTo>
                  <a:lnTo>
                    <a:pt x="0" y="0"/>
                  </a:lnTo>
                  <a:lnTo>
                    <a:pt x="0" y="99"/>
                  </a:lnTo>
                  <a:lnTo>
                    <a:pt x="17" y="99"/>
                  </a:lnTo>
                  <a:lnTo>
                    <a:pt x="17" y="42"/>
                  </a:lnTo>
                  <a:lnTo>
                    <a:pt x="81" y="102"/>
                  </a:lnTo>
                  <a:lnTo>
                    <a:pt x="81" y="1"/>
                  </a:lnTo>
                  <a:lnTo>
                    <a:pt x="63" y="1"/>
                  </a:lnTo>
                  <a:lnTo>
                    <a:pt x="63" y="5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11">
              <a:extLst>
                <a:ext uri="{FF2B5EF4-FFF2-40B4-BE49-F238E27FC236}">
                  <a16:creationId xmlns:a16="http://schemas.microsoft.com/office/drawing/2014/main" id="{D013BEDA-6B83-8631-62DC-C88AC4C8950D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288" y="1155701"/>
              <a:ext cx="28575" cy="155575"/>
            </a:xfrm>
            <a:custGeom>
              <a:avLst/>
              <a:gdLst>
                <a:gd name="T0" fmla="*/ 0 w 13"/>
                <a:gd name="T1" fmla="*/ 0 h 69"/>
                <a:gd name="T2" fmla="*/ 0 w 13"/>
                <a:gd name="T3" fmla="*/ 69 h 69"/>
                <a:gd name="T4" fmla="*/ 6 w 13"/>
                <a:gd name="T5" fmla="*/ 69 h 69"/>
                <a:gd name="T6" fmla="*/ 13 w 13"/>
                <a:gd name="T7" fmla="*/ 69 h 69"/>
                <a:gd name="T8" fmla="*/ 13 w 13"/>
                <a:gd name="T9" fmla="*/ 0 h 69"/>
                <a:gd name="T10" fmla="*/ 0 w 13"/>
                <a:gd name="T11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" h="69">
                  <a:moveTo>
                    <a:pt x="0" y="0"/>
                  </a:moveTo>
                  <a:cubicBezTo>
                    <a:pt x="0" y="69"/>
                    <a:pt x="0" y="69"/>
                    <a:pt x="0" y="69"/>
                  </a:cubicBezTo>
                  <a:cubicBezTo>
                    <a:pt x="0" y="69"/>
                    <a:pt x="1" y="69"/>
                    <a:pt x="6" y="69"/>
                  </a:cubicBezTo>
                  <a:cubicBezTo>
                    <a:pt x="11" y="69"/>
                    <a:pt x="13" y="69"/>
                    <a:pt x="13" y="69"/>
                  </a:cubicBezTo>
                  <a:cubicBezTo>
                    <a:pt x="13" y="0"/>
                    <a:pt x="13" y="0"/>
                    <a:pt x="13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12">
              <a:extLst>
                <a:ext uri="{FF2B5EF4-FFF2-40B4-BE49-F238E27FC236}">
                  <a16:creationId xmlns:a16="http://schemas.microsoft.com/office/drawing/2014/main" id="{76D1E7FE-8C75-0E4B-A830-BD3FC5A149F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3550" y="1154113"/>
              <a:ext cx="149225" cy="157163"/>
            </a:xfrm>
            <a:custGeom>
              <a:avLst/>
              <a:gdLst>
                <a:gd name="T0" fmla="*/ 94 w 94"/>
                <a:gd name="T1" fmla="*/ 99 h 99"/>
                <a:gd name="T2" fmla="*/ 46 w 94"/>
                <a:gd name="T3" fmla="*/ 0 h 99"/>
                <a:gd name="T4" fmla="*/ 0 w 94"/>
                <a:gd name="T5" fmla="*/ 99 h 99"/>
                <a:gd name="T6" fmla="*/ 18 w 94"/>
                <a:gd name="T7" fmla="*/ 99 h 99"/>
                <a:gd name="T8" fmla="*/ 27 w 94"/>
                <a:gd name="T9" fmla="*/ 78 h 99"/>
                <a:gd name="T10" fmla="*/ 64 w 94"/>
                <a:gd name="T11" fmla="*/ 78 h 99"/>
                <a:gd name="T12" fmla="*/ 73 w 94"/>
                <a:gd name="T13" fmla="*/ 99 h 99"/>
                <a:gd name="T14" fmla="*/ 94 w 94"/>
                <a:gd name="T15" fmla="*/ 99 h 99"/>
                <a:gd name="T16" fmla="*/ 34 w 94"/>
                <a:gd name="T17" fmla="*/ 62 h 99"/>
                <a:gd name="T18" fmla="*/ 46 w 94"/>
                <a:gd name="T19" fmla="*/ 34 h 99"/>
                <a:gd name="T20" fmla="*/ 57 w 94"/>
                <a:gd name="T21" fmla="*/ 62 h 99"/>
                <a:gd name="T22" fmla="*/ 34 w 94"/>
                <a:gd name="T23" fmla="*/ 62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4" h="99">
                  <a:moveTo>
                    <a:pt x="94" y="99"/>
                  </a:moveTo>
                  <a:lnTo>
                    <a:pt x="46" y="0"/>
                  </a:lnTo>
                  <a:lnTo>
                    <a:pt x="0" y="99"/>
                  </a:lnTo>
                  <a:lnTo>
                    <a:pt x="18" y="99"/>
                  </a:lnTo>
                  <a:lnTo>
                    <a:pt x="27" y="78"/>
                  </a:lnTo>
                  <a:lnTo>
                    <a:pt x="64" y="78"/>
                  </a:lnTo>
                  <a:lnTo>
                    <a:pt x="73" y="99"/>
                  </a:lnTo>
                  <a:lnTo>
                    <a:pt x="94" y="99"/>
                  </a:lnTo>
                  <a:close/>
                  <a:moveTo>
                    <a:pt x="34" y="62"/>
                  </a:moveTo>
                  <a:lnTo>
                    <a:pt x="46" y="34"/>
                  </a:lnTo>
                  <a:lnTo>
                    <a:pt x="57" y="62"/>
                  </a:lnTo>
                  <a:lnTo>
                    <a:pt x="34" y="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13">
              <a:extLst>
                <a:ext uri="{FF2B5EF4-FFF2-40B4-BE49-F238E27FC236}">
                  <a16:creationId xmlns:a16="http://schemas.microsoft.com/office/drawing/2014/main" id="{A755633B-A7C9-E3A1-E9C1-163280DF2A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6550" y="1155701"/>
              <a:ext cx="104775" cy="155575"/>
            </a:xfrm>
            <a:custGeom>
              <a:avLst/>
              <a:gdLst>
                <a:gd name="T0" fmla="*/ 34 w 47"/>
                <a:gd name="T1" fmla="*/ 32 h 69"/>
                <a:gd name="T2" fmla="*/ 43 w 47"/>
                <a:gd name="T3" fmla="*/ 18 h 69"/>
                <a:gd name="T4" fmla="*/ 17 w 47"/>
                <a:gd name="T5" fmla="*/ 0 h 69"/>
                <a:gd name="T6" fmla="*/ 0 w 47"/>
                <a:gd name="T7" fmla="*/ 0 h 69"/>
                <a:gd name="T8" fmla="*/ 0 w 47"/>
                <a:gd name="T9" fmla="*/ 69 h 69"/>
                <a:gd name="T10" fmla="*/ 20 w 47"/>
                <a:gd name="T11" fmla="*/ 69 h 69"/>
                <a:gd name="T12" fmla="*/ 47 w 47"/>
                <a:gd name="T13" fmla="*/ 49 h 69"/>
                <a:gd name="T14" fmla="*/ 34 w 47"/>
                <a:gd name="T15" fmla="*/ 32 h 69"/>
                <a:gd name="T16" fmla="*/ 19 w 47"/>
                <a:gd name="T17" fmla="*/ 40 h 69"/>
                <a:gd name="T18" fmla="*/ 33 w 47"/>
                <a:gd name="T19" fmla="*/ 49 h 69"/>
                <a:gd name="T20" fmla="*/ 19 w 47"/>
                <a:gd name="T21" fmla="*/ 59 h 69"/>
                <a:gd name="T22" fmla="*/ 13 w 47"/>
                <a:gd name="T23" fmla="*/ 59 h 69"/>
                <a:gd name="T24" fmla="*/ 13 w 47"/>
                <a:gd name="T25" fmla="*/ 40 h 69"/>
                <a:gd name="T26" fmla="*/ 19 w 47"/>
                <a:gd name="T27" fmla="*/ 40 h 69"/>
                <a:gd name="T28" fmla="*/ 13 w 47"/>
                <a:gd name="T29" fmla="*/ 29 h 69"/>
                <a:gd name="T30" fmla="*/ 13 w 47"/>
                <a:gd name="T31" fmla="*/ 10 h 69"/>
                <a:gd name="T32" fmla="*/ 16 w 47"/>
                <a:gd name="T33" fmla="*/ 10 h 69"/>
                <a:gd name="T34" fmla="*/ 30 w 47"/>
                <a:gd name="T35" fmla="*/ 20 h 69"/>
                <a:gd name="T36" fmla="*/ 16 w 47"/>
                <a:gd name="T37" fmla="*/ 29 h 69"/>
                <a:gd name="T38" fmla="*/ 13 w 47"/>
                <a:gd name="T39" fmla="*/ 2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7" h="69">
                  <a:moveTo>
                    <a:pt x="34" y="32"/>
                  </a:moveTo>
                  <a:cubicBezTo>
                    <a:pt x="39" y="30"/>
                    <a:pt x="43" y="25"/>
                    <a:pt x="43" y="18"/>
                  </a:cubicBezTo>
                  <a:cubicBezTo>
                    <a:pt x="43" y="6"/>
                    <a:pt x="33" y="0"/>
                    <a:pt x="1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20" y="69"/>
                    <a:pt x="20" y="69"/>
                    <a:pt x="20" y="69"/>
                  </a:cubicBezTo>
                  <a:cubicBezTo>
                    <a:pt x="38" y="69"/>
                    <a:pt x="47" y="62"/>
                    <a:pt x="47" y="49"/>
                  </a:cubicBezTo>
                  <a:cubicBezTo>
                    <a:pt x="47" y="41"/>
                    <a:pt x="42" y="35"/>
                    <a:pt x="34" y="32"/>
                  </a:cubicBezTo>
                  <a:moveTo>
                    <a:pt x="19" y="40"/>
                  </a:moveTo>
                  <a:cubicBezTo>
                    <a:pt x="28" y="40"/>
                    <a:pt x="33" y="42"/>
                    <a:pt x="33" y="49"/>
                  </a:cubicBezTo>
                  <a:cubicBezTo>
                    <a:pt x="33" y="56"/>
                    <a:pt x="29" y="59"/>
                    <a:pt x="19" y="59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13" y="40"/>
                    <a:pt x="13" y="40"/>
                    <a:pt x="13" y="40"/>
                  </a:cubicBezTo>
                  <a:lnTo>
                    <a:pt x="19" y="40"/>
                  </a:lnTo>
                  <a:close/>
                  <a:moveTo>
                    <a:pt x="13" y="29"/>
                  </a:moveTo>
                  <a:cubicBezTo>
                    <a:pt x="13" y="10"/>
                    <a:pt x="13" y="10"/>
                    <a:pt x="13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25" y="10"/>
                    <a:pt x="30" y="13"/>
                    <a:pt x="30" y="20"/>
                  </a:cubicBezTo>
                  <a:cubicBezTo>
                    <a:pt x="30" y="27"/>
                    <a:pt x="25" y="29"/>
                    <a:pt x="16" y="29"/>
                  </a:cubicBezTo>
                  <a:lnTo>
                    <a:pt x="13" y="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14">
              <a:extLst>
                <a:ext uri="{FF2B5EF4-FFF2-40B4-BE49-F238E27FC236}">
                  <a16:creationId xmlns:a16="http://schemas.microsoft.com/office/drawing/2014/main" id="{B84B6521-4787-1BFA-CF6D-5542DD52B8A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89013" y="1150938"/>
              <a:ext cx="138112" cy="165100"/>
            </a:xfrm>
            <a:custGeom>
              <a:avLst/>
              <a:gdLst>
                <a:gd name="T0" fmla="*/ 46 w 62"/>
                <a:gd name="T1" fmla="*/ 71 h 73"/>
                <a:gd name="T2" fmla="*/ 62 w 62"/>
                <a:gd name="T3" fmla="*/ 71 h 73"/>
                <a:gd name="T4" fmla="*/ 48 w 62"/>
                <a:gd name="T5" fmla="*/ 56 h 73"/>
                <a:gd name="T6" fmla="*/ 60 w 62"/>
                <a:gd name="T7" fmla="*/ 38 h 73"/>
                <a:gd name="T8" fmla="*/ 47 w 62"/>
                <a:gd name="T9" fmla="*/ 38 h 73"/>
                <a:gd name="T10" fmla="*/ 41 w 62"/>
                <a:gd name="T11" fmla="*/ 48 h 73"/>
                <a:gd name="T12" fmla="*/ 30 w 62"/>
                <a:gd name="T13" fmla="*/ 35 h 73"/>
                <a:gd name="T14" fmla="*/ 45 w 62"/>
                <a:gd name="T15" fmla="*/ 16 h 73"/>
                <a:gd name="T16" fmla="*/ 26 w 62"/>
                <a:gd name="T17" fmla="*/ 0 h 73"/>
                <a:gd name="T18" fmla="*/ 6 w 62"/>
                <a:gd name="T19" fmla="*/ 17 h 73"/>
                <a:gd name="T20" fmla="*/ 14 w 62"/>
                <a:gd name="T21" fmla="*/ 34 h 73"/>
                <a:gd name="T22" fmla="*/ 0 w 62"/>
                <a:gd name="T23" fmla="*/ 54 h 73"/>
                <a:gd name="T24" fmla="*/ 21 w 62"/>
                <a:gd name="T25" fmla="*/ 73 h 73"/>
                <a:gd name="T26" fmla="*/ 41 w 62"/>
                <a:gd name="T27" fmla="*/ 65 h 73"/>
                <a:gd name="T28" fmla="*/ 46 w 62"/>
                <a:gd name="T29" fmla="*/ 71 h 73"/>
                <a:gd name="T30" fmla="*/ 18 w 62"/>
                <a:gd name="T31" fmla="*/ 18 h 73"/>
                <a:gd name="T32" fmla="*/ 26 w 62"/>
                <a:gd name="T33" fmla="*/ 10 h 73"/>
                <a:gd name="T34" fmla="*/ 34 w 62"/>
                <a:gd name="T35" fmla="*/ 17 h 73"/>
                <a:gd name="T36" fmla="*/ 24 w 62"/>
                <a:gd name="T37" fmla="*/ 28 h 73"/>
                <a:gd name="T38" fmla="*/ 18 w 62"/>
                <a:gd name="T39" fmla="*/ 18 h 73"/>
                <a:gd name="T40" fmla="*/ 34 w 62"/>
                <a:gd name="T41" fmla="*/ 57 h 73"/>
                <a:gd name="T42" fmla="*/ 23 w 62"/>
                <a:gd name="T43" fmla="*/ 62 h 73"/>
                <a:gd name="T44" fmla="*/ 12 w 62"/>
                <a:gd name="T45" fmla="*/ 53 h 73"/>
                <a:gd name="T46" fmla="*/ 20 w 62"/>
                <a:gd name="T47" fmla="*/ 41 h 73"/>
                <a:gd name="T48" fmla="*/ 20 w 62"/>
                <a:gd name="T49" fmla="*/ 41 h 73"/>
                <a:gd name="T50" fmla="*/ 34 w 62"/>
                <a:gd name="T51" fmla="*/ 57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62" h="73">
                  <a:moveTo>
                    <a:pt x="46" y="71"/>
                  </a:moveTo>
                  <a:cubicBezTo>
                    <a:pt x="62" y="71"/>
                    <a:pt x="62" y="71"/>
                    <a:pt x="62" y="71"/>
                  </a:cubicBezTo>
                  <a:cubicBezTo>
                    <a:pt x="62" y="71"/>
                    <a:pt x="50" y="58"/>
                    <a:pt x="48" y="56"/>
                  </a:cubicBezTo>
                  <a:cubicBezTo>
                    <a:pt x="50" y="54"/>
                    <a:pt x="60" y="38"/>
                    <a:pt x="60" y="38"/>
                  </a:cubicBezTo>
                  <a:cubicBezTo>
                    <a:pt x="47" y="38"/>
                    <a:pt x="47" y="38"/>
                    <a:pt x="47" y="38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40" y="31"/>
                    <a:pt x="45" y="24"/>
                    <a:pt x="45" y="16"/>
                  </a:cubicBezTo>
                  <a:cubicBezTo>
                    <a:pt x="45" y="7"/>
                    <a:pt x="37" y="0"/>
                    <a:pt x="26" y="0"/>
                  </a:cubicBezTo>
                  <a:cubicBezTo>
                    <a:pt x="14" y="0"/>
                    <a:pt x="6" y="7"/>
                    <a:pt x="6" y="17"/>
                  </a:cubicBezTo>
                  <a:cubicBezTo>
                    <a:pt x="6" y="24"/>
                    <a:pt x="11" y="30"/>
                    <a:pt x="14" y="34"/>
                  </a:cubicBezTo>
                  <a:cubicBezTo>
                    <a:pt x="6" y="38"/>
                    <a:pt x="0" y="44"/>
                    <a:pt x="0" y="54"/>
                  </a:cubicBezTo>
                  <a:cubicBezTo>
                    <a:pt x="0" y="64"/>
                    <a:pt x="9" y="73"/>
                    <a:pt x="21" y="73"/>
                  </a:cubicBezTo>
                  <a:cubicBezTo>
                    <a:pt x="29" y="73"/>
                    <a:pt x="36" y="70"/>
                    <a:pt x="41" y="65"/>
                  </a:cubicBezTo>
                  <a:lnTo>
                    <a:pt x="46" y="71"/>
                  </a:lnTo>
                  <a:close/>
                  <a:moveTo>
                    <a:pt x="18" y="18"/>
                  </a:moveTo>
                  <a:cubicBezTo>
                    <a:pt x="18" y="13"/>
                    <a:pt x="22" y="10"/>
                    <a:pt x="26" y="10"/>
                  </a:cubicBezTo>
                  <a:cubicBezTo>
                    <a:pt x="31" y="10"/>
                    <a:pt x="34" y="13"/>
                    <a:pt x="34" y="17"/>
                  </a:cubicBezTo>
                  <a:cubicBezTo>
                    <a:pt x="34" y="22"/>
                    <a:pt x="29" y="26"/>
                    <a:pt x="24" y="28"/>
                  </a:cubicBezTo>
                  <a:cubicBezTo>
                    <a:pt x="22" y="26"/>
                    <a:pt x="18" y="22"/>
                    <a:pt x="18" y="18"/>
                  </a:cubicBezTo>
                  <a:close/>
                  <a:moveTo>
                    <a:pt x="34" y="57"/>
                  </a:moveTo>
                  <a:cubicBezTo>
                    <a:pt x="32" y="60"/>
                    <a:pt x="28" y="62"/>
                    <a:pt x="23" y="62"/>
                  </a:cubicBezTo>
                  <a:cubicBezTo>
                    <a:pt x="17" y="62"/>
                    <a:pt x="12" y="58"/>
                    <a:pt x="12" y="53"/>
                  </a:cubicBezTo>
                  <a:cubicBezTo>
                    <a:pt x="12" y="48"/>
                    <a:pt x="16" y="43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lnTo>
                    <a:pt x="34" y="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15">
              <a:extLst>
                <a:ext uri="{FF2B5EF4-FFF2-40B4-BE49-F238E27FC236}">
                  <a16:creationId xmlns:a16="http://schemas.microsoft.com/office/drawing/2014/main" id="{608FEE8F-1CFC-4B6A-60E8-E8ADE29393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2488" y="1154113"/>
              <a:ext cx="128587" cy="161925"/>
            </a:xfrm>
            <a:custGeom>
              <a:avLst/>
              <a:gdLst>
                <a:gd name="T0" fmla="*/ 62 w 81"/>
                <a:gd name="T1" fmla="*/ 59 h 102"/>
                <a:gd name="T2" fmla="*/ 0 w 81"/>
                <a:gd name="T3" fmla="*/ 0 h 102"/>
                <a:gd name="T4" fmla="*/ 0 w 81"/>
                <a:gd name="T5" fmla="*/ 99 h 102"/>
                <a:gd name="T6" fmla="*/ 16 w 81"/>
                <a:gd name="T7" fmla="*/ 99 h 102"/>
                <a:gd name="T8" fmla="*/ 16 w 81"/>
                <a:gd name="T9" fmla="*/ 42 h 102"/>
                <a:gd name="T10" fmla="*/ 81 w 81"/>
                <a:gd name="T11" fmla="*/ 102 h 102"/>
                <a:gd name="T12" fmla="*/ 81 w 81"/>
                <a:gd name="T13" fmla="*/ 1 h 102"/>
                <a:gd name="T14" fmla="*/ 62 w 81"/>
                <a:gd name="T15" fmla="*/ 1 h 102"/>
                <a:gd name="T16" fmla="*/ 62 w 81"/>
                <a:gd name="T17" fmla="*/ 59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1" h="102">
                  <a:moveTo>
                    <a:pt x="62" y="59"/>
                  </a:moveTo>
                  <a:lnTo>
                    <a:pt x="0" y="0"/>
                  </a:lnTo>
                  <a:lnTo>
                    <a:pt x="0" y="99"/>
                  </a:lnTo>
                  <a:lnTo>
                    <a:pt x="16" y="99"/>
                  </a:lnTo>
                  <a:lnTo>
                    <a:pt x="16" y="42"/>
                  </a:lnTo>
                  <a:lnTo>
                    <a:pt x="81" y="102"/>
                  </a:lnTo>
                  <a:lnTo>
                    <a:pt x="81" y="1"/>
                  </a:lnTo>
                  <a:lnTo>
                    <a:pt x="62" y="1"/>
                  </a:lnTo>
                  <a:lnTo>
                    <a:pt x="62" y="5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16">
              <a:extLst>
                <a:ext uri="{FF2B5EF4-FFF2-40B4-BE49-F238E27FC236}">
                  <a16:creationId xmlns:a16="http://schemas.microsoft.com/office/drawing/2014/main" id="{5AAC8CDF-2787-DF4D-9F3C-C7EEA1145D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35163" y="1154113"/>
              <a:ext cx="149225" cy="157163"/>
            </a:xfrm>
            <a:custGeom>
              <a:avLst/>
              <a:gdLst>
                <a:gd name="T0" fmla="*/ 94 w 94"/>
                <a:gd name="T1" fmla="*/ 99 h 99"/>
                <a:gd name="T2" fmla="*/ 46 w 94"/>
                <a:gd name="T3" fmla="*/ 0 h 99"/>
                <a:gd name="T4" fmla="*/ 0 w 94"/>
                <a:gd name="T5" fmla="*/ 99 h 99"/>
                <a:gd name="T6" fmla="*/ 18 w 94"/>
                <a:gd name="T7" fmla="*/ 99 h 99"/>
                <a:gd name="T8" fmla="*/ 27 w 94"/>
                <a:gd name="T9" fmla="*/ 78 h 99"/>
                <a:gd name="T10" fmla="*/ 64 w 94"/>
                <a:gd name="T11" fmla="*/ 78 h 99"/>
                <a:gd name="T12" fmla="*/ 73 w 94"/>
                <a:gd name="T13" fmla="*/ 99 h 99"/>
                <a:gd name="T14" fmla="*/ 94 w 94"/>
                <a:gd name="T15" fmla="*/ 99 h 99"/>
                <a:gd name="T16" fmla="*/ 34 w 94"/>
                <a:gd name="T17" fmla="*/ 62 h 99"/>
                <a:gd name="T18" fmla="*/ 46 w 94"/>
                <a:gd name="T19" fmla="*/ 34 h 99"/>
                <a:gd name="T20" fmla="*/ 57 w 94"/>
                <a:gd name="T21" fmla="*/ 62 h 99"/>
                <a:gd name="T22" fmla="*/ 34 w 94"/>
                <a:gd name="T23" fmla="*/ 62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4" h="99">
                  <a:moveTo>
                    <a:pt x="94" y="99"/>
                  </a:moveTo>
                  <a:lnTo>
                    <a:pt x="46" y="0"/>
                  </a:lnTo>
                  <a:lnTo>
                    <a:pt x="0" y="99"/>
                  </a:lnTo>
                  <a:lnTo>
                    <a:pt x="18" y="99"/>
                  </a:lnTo>
                  <a:lnTo>
                    <a:pt x="27" y="78"/>
                  </a:lnTo>
                  <a:lnTo>
                    <a:pt x="64" y="78"/>
                  </a:lnTo>
                  <a:lnTo>
                    <a:pt x="73" y="99"/>
                  </a:lnTo>
                  <a:lnTo>
                    <a:pt x="94" y="99"/>
                  </a:lnTo>
                  <a:close/>
                  <a:moveTo>
                    <a:pt x="34" y="62"/>
                  </a:moveTo>
                  <a:lnTo>
                    <a:pt x="46" y="34"/>
                  </a:lnTo>
                  <a:lnTo>
                    <a:pt x="57" y="62"/>
                  </a:lnTo>
                  <a:lnTo>
                    <a:pt x="34" y="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17">
              <a:extLst>
                <a:ext uri="{FF2B5EF4-FFF2-40B4-BE49-F238E27FC236}">
                  <a16:creationId xmlns:a16="http://schemas.microsoft.com/office/drawing/2014/main" id="{E57E8493-CEAE-0DE7-7DC4-CE7E14FD4A7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40000" y="1095376"/>
              <a:ext cx="271462" cy="277813"/>
            </a:xfrm>
            <a:custGeom>
              <a:avLst/>
              <a:gdLst>
                <a:gd name="T0" fmla="*/ 83 w 122"/>
                <a:gd name="T1" fmla="*/ 64 h 123"/>
                <a:gd name="T2" fmla="*/ 72 w 122"/>
                <a:gd name="T3" fmla="*/ 15 h 123"/>
                <a:gd name="T4" fmla="*/ 41 w 122"/>
                <a:gd name="T5" fmla="*/ 55 h 123"/>
                <a:gd name="T6" fmla="*/ 83 w 122"/>
                <a:gd name="T7" fmla="*/ 64 h 123"/>
                <a:gd name="T8" fmla="*/ 122 w 122"/>
                <a:gd name="T9" fmla="*/ 62 h 123"/>
                <a:gd name="T10" fmla="*/ 61 w 122"/>
                <a:gd name="T11" fmla="*/ 123 h 123"/>
                <a:gd name="T12" fmla="*/ 0 w 122"/>
                <a:gd name="T13" fmla="*/ 62 h 123"/>
                <a:gd name="T14" fmla="*/ 61 w 122"/>
                <a:gd name="T15" fmla="*/ 0 h 123"/>
                <a:gd name="T16" fmla="*/ 71 w 122"/>
                <a:gd name="T17" fmla="*/ 1 h 123"/>
                <a:gd name="T18" fmla="*/ 66 w 122"/>
                <a:gd name="T19" fmla="*/ 8 h 123"/>
                <a:gd name="T20" fmla="*/ 61 w 122"/>
                <a:gd name="T21" fmla="*/ 8 h 123"/>
                <a:gd name="T22" fmla="*/ 10 w 122"/>
                <a:gd name="T23" fmla="*/ 58 h 123"/>
                <a:gd name="T24" fmla="*/ 61 w 122"/>
                <a:gd name="T25" fmla="*/ 108 h 123"/>
                <a:gd name="T26" fmla="*/ 113 w 122"/>
                <a:gd name="T27" fmla="*/ 58 h 123"/>
                <a:gd name="T28" fmla="*/ 80 w 122"/>
                <a:gd name="T29" fmla="*/ 11 h 123"/>
                <a:gd name="T30" fmla="*/ 78 w 122"/>
                <a:gd name="T31" fmla="*/ 3 h 123"/>
                <a:gd name="T32" fmla="*/ 122 w 122"/>
                <a:gd name="T33" fmla="*/ 62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2" h="123">
                  <a:moveTo>
                    <a:pt x="83" y="64"/>
                  </a:moveTo>
                  <a:cubicBezTo>
                    <a:pt x="72" y="15"/>
                    <a:pt x="72" y="15"/>
                    <a:pt x="72" y="15"/>
                  </a:cubicBezTo>
                  <a:cubicBezTo>
                    <a:pt x="41" y="55"/>
                    <a:pt x="41" y="55"/>
                    <a:pt x="41" y="55"/>
                  </a:cubicBezTo>
                  <a:lnTo>
                    <a:pt x="83" y="64"/>
                  </a:lnTo>
                  <a:close/>
                  <a:moveTo>
                    <a:pt x="122" y="62"/>
                  </a:moveTo>
                  <a:cubicBezTo>
                    <a:pt x="122" y="95"/>
                    <a:pt x="95" y="123"/>
                    <a:pt x="61" y="123"/>
                  </a:cubicBezTo>
                  <a:cubicBezTo>
                    <a:pt x="27" y="123"/>
                    <a:pt x="0" y="95"/>
                    <a:pt x="0" y="62"/>
                  </a:cubicBezTo>
                  <a:cubicBezTo>
                    <a:pt x="0" y="28"/>
                    <a:pt x="27" y="0"/>
                    <a:pt x="61" y="0"/>
                  </a:cubicBezTo>
                  <a:cubicBezTo>
                    <a:pt x="64" y="0"/>
                    <a:pt x="68" y="1"/>
                    <a:pt x="71" y="1"/>
                  </a:cubicBezTo>
                  <a:cubicBezTo>
                    <a:pt x="66" y="8"/>
                    <a:pt x="66" y="8"/>
                    <a:pt x="66" y="8"/>
                  </a:cubicBezTo>
                  <a:cubicBezTo>
                    <a:pt x="64" y="8"/>
                    <a:pt x="63" y="8"/>
                    <a:pt x="61" y="8"/>
                  </a:cubicBezTo>
                  <a:cubicBezTo>
                    <a:pt x="33" y="8"/>
                    <a:pt x="10" y="30"/>
                    <a:pt x="10" y="58"/>
                  </a:cubicBezTo>
                  <a:cubicBezTo>
                    <a:pt x="10" y="86"/>
                    <a:pt x="33" y="108"/>
                    <a:pt x="61" y="108"/>
                  </a:cubicBezTo>
                  <a:cubicBezTo>
                    <a:pt x="90" y="108"/>
                    <a:pt x="113" y="86"/>
                    <a:pt x="113" y="58"/>
                  </a:cubicBezTo>
                  <a:cubicBezTo>
                    <a:pt x="113" y="37"/>
                    <a:pt x="99" y="18"/>
                    <a:pt x="80" y="11"/>
                  </a:cubicBezTo>
                  <a:cubicBezTo>
                    <a:pt x="78" y="3"/>
                    <a:pt x="78" y="3"/>
                    <a:pt x="78" y="3"/>
                  </a:cubicBezTo>
                  <a:cubicBezTo>
                    <a:pt x="104" y="10"/>
                    <a:pt x="122" y="34"/>
                    <a:pt x="122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55" name="Rectangle 54">
            <a:extLst>
              <a:ext uri="{FF2B5EF4-FFF2-40B4-BE49-F238E27FC236}">
                <a16:creationId xmlns:a16="http://schemas.microsoft.com/office/drawing/2014/main" id="{DADDDA4C-BC41-BFF9-4E9E-9589F73C0D89}"/>
              </a:ext>
            </a:extLst>
          </p:cNvPr>
          <p:cNvSpPr/>
          <p:nvPr/>
        </p:nvSpPr>
        <p:spPr>
          <a:xfrm>
            <a:off x="330199" y="1806242"/>
            <a:ext cx="5651483" cy="1303809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4000" b="1">
                <a:solidFill>
                  <a:schemeClr val="bg1"/>
                </a:solidFill>
              </a:rPr>
              <a:t>Sagility: </a:t>
            </a:r>
            <a:r>
              <a:rPr lang="en-US" altLang="zh-CN" sz="4000">
                <a:solidFill>
                  <a:schemeClr val="bg1"/>
                </a:solidFill>
              </a:rPr>
              <a:t>Customer Adjacency </a:t>
            </a:r>
          </a:p>
        </p:txBody>
      </p:sp>
      <p:pic>
        <p:nvPicPr>
          <p:cNvPr id="2052" name="Picture 4" descr="IT Connect">
            <a:extLst>
              <a:ext uri="{FF2B5EF4-FFF2-40B4-BE49-F238E27FC236}">
                <a16:creationId xmlns:a16="http://schemas.microsoft.com/office/drawing/2014/main" id="{1C1C1171-6E57-D736-EF02-D70EDEAB91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3505" y="1114327"/>
            <a:ext cx="2048784" cy="662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922968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AD8F4-E52A-04AB-076B-467529DBD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" name="think-cell data - do not delete" hidden="1">
            <a:extLst>
              <a:ext uri="{FF2B5EF4-FFF2-40B4-BE49-F238E27FC236}">
                <a16:creationId xmlns:a16="http://schemas.microsoft.com/office/drawing/2014/main" id="{C61C08B2-3BAC-DB0A-7585-3B8EEEBB6D4E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47" imgH="348" progId="TCLayout.ActiveDocument.1">
                  <p:embed/>
                </p:oleObj>
              </mc:Choice>
              <mc:Fallback>
                <p:oleObj name="think-cell Slide" r:id="rId8" imgW="347" imgH="348" progId="TCLayout.ActiveDocument.1">
                  <p:embed/>
                  <p:pic>
                    <p:nvPicPr>
                      <p:cNvPr id="4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61C08B2-3BAC-DB0A-7585-3B8EEEBB6D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6" name="Picture520702">
            <a:extLst>
              <a:ext uri="{FF2B5EF4-FFF2-40B4-BE49-F238E27FC236}">
                <a16:creationId xmlns:a16="http://schemas.microsoft.com/office/drawing/2014/main" id="{B142AFB2-0AF6-8265-C5BC-019937CA67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13" b="36005"/>
          <a:stretch>
            <a:fillRect/>
          </a:stretch>
        </p:blipFill>
        <p:spPr>
          <a:xfrm>
            <a:off x="50" y="1361515"/>
            <a:ext cx="12192027" cy="5496613"/>
          </a:xfrm>
          <a:prstGeom prst="rect">
            <a:avLst/>
          </a:prstGeom>
        </p:spPr>
      </p:pic>
      <p:grpSp>
        <p:nvGrpSpPr>
          <p:cNvPr id="64" name="btfpColumnIndicatorGroup2">
            <a:extLst>
              <a:ext uri="{FF2B5EF4-FFF2-40B4-BE49-F238E27FC236}">
                <a16:creationId xmlns:a16="http://schemas.microsoft.com/office/drawing/2014/main" id="{8665F6C4-6059-55B3-A226-473973514130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62" name="btfpColumnGapBlocker573784">
              <a:extLst>
                <a:ext uri="{FF2B5EF4-FFF2-40B4-BE49-F238E27FC236}">
                  <a16:creationId xmlns:a16="http://schemas.microsoft.com/office/drawing/2014/main" id="{22D7AD82-6479-81FD-984C-3F8EECB4CB03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ZA" sz="1600" err="1">
                <a:solidFill>
                  <a:schemeClr val="tx1"/>
                </a:solidFill>
              </a:endParaRPr>
            </a:p>
          </p:txBody>
        </p:sp>
        <p:sp>
          <p:nvSpPr>
            <p:cNvPr id="60" name="btfpColumnGapBlocker294298">
              <a:extLst>
                <a:ext uri="{FF2B5EF4-FFF2-40B4-BE49-F238E27FC236}">
                  <a16:creationId xmlns:a16="http://schemas.microsoft.com/office/drawing/2014/main" id="{F09D2674-1BCC-15D3-7C99-C6AC34CADEB9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ZA" sz="1600" err="1">
                <a:solidFill>
                  <a:schemeClr val="tx1"/>
                </a:solidFill>
              </a:endParaRPr>
            </a:p>
          </p:txBody>
        </p:sp>
        <p:cxnSp>
          <p:nvCxnSpPr>
            <p:cNvPr id="58" name="btfpColumnIndicator439828">
              <a:extLst>
                <a:ext uri="{FF2B5EF4-FFF2-40B4-BE49-F238E27FC236}">
                  <a16:creationId xmlns:a16="http://schemas.microsoft.com/office/drawing/2014/main" id="{82C31397-79CC-AFC7-5D15-F2196D89A6FD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btfpColumnIndicator958120">
              <a:extLst>
                <a:ext uri="{FF2B5EF4-FFF2-40B4-BE49-F238E27FC236}">
                  <a16:creationId xmlns:a16="http://schemas.microsoft.com/office/drawing/2014/main" id="{F10DE7C3-0FBB-2BFD-1375-EBB463CDB871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" name="btfpColumnIndicatorGroup1">
            <a:extLst>
              <a:ext uri="{FF2B5EF4-FFF2-40B4-BE49-F238E27FC236}">
                <a16:creationId xmlns:a16="http://schemas.microsoft.com/office/drawing/2014/main" id="{D831398D-24F9-3B91-17EC-98EA17624A8D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61" name="btfpColumnGapBlocker554674">
              <a:extLst>
                <a:ext uri="{FF2B5EF4-FFF2-40B4-BE49-F238E27FC236}">
                  <a16:creationId xmlns:a16="http://schemas.microsoft.com/office/drawing/2014/main" id="{C2A3D2F6-9E26-AE56-30D8-B447215EFAF5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ZA" sz="1600" err="1">
                <a:solidFill>
                  <a:schemeClr val="tx1"/>
                </a:solidFill>
              </a:endParaRPr>
            </a:p>
          </p:txBody>
        </p:sp>
        <p:sp>
          <p:nvSpPr>
            <p:cNvPr id="59" name="btfpColumnGapBlocker450996">
              <a:extLst>
                <a:ext uri="{FF2B5EF4-FFF2-40B4-BE49-F238E27FC236}">
                  <a16:creationId xmlns:a16="http://schemas.microsoft.com/office/drawing/2014/main" id="{AAC42CED-616A-B622-6F86-ADBC4FCD8E83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ZA" sz="1600" err="1">
                <a:solidFill>
                  <a:schemeClr val="tx1"/>
                </a:solidFill>
              </a:endParaRPr>
            </a:p>
          </p:txBody>
        </p:sp>
        <p:cxnSp>
          <p:nvCxnSpPr>
            <p:cNvPr id="57" name="btfpColumnIndicator672056">
              <a:extLst>
                <a:ext uri="{FF2B5EF4-FFF2-40B4-BE49-F238E27FC236}">
                  <a16:creationId xmlns:a16="http://schemas.microsoft.com/office/drawing/2014/main" id="{4A87DE17-CC06-3529-860A-B3109FE883A7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btfpColumnIndicator582511">
              <a:extLst>
                <a:ext uri="{FF2B5EF4-FFF2-40B4-BE49-F238E27FC236}">
                  <a16:creationId xmlns:a16="http://schemas.microsoft.com/office/drawing/2014/main" id="{C55B42F4-F43F-363E-2652-FC0A4E116246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" name="Rectangle 64">
            <a:extLst>
              <a:ext uri="{FF2B5EF4-FFF2-40B4-BE49-F238E27FC236}">
                <a16:creationId xmlns:a16="http://schemas.microsoft.com/office/drawing/2014/main" id="{C0F4792D-99A8-0EC6-F59F-6F4C54A169FB}"/>
              </a:ext>
            </a:extLst>
          </p:cNvPr>
          <p:cNvSpPr/>
          <p:nvPr/>
        </p:nvSpPr>
        <p:spPr>
          <a:xfrm>
            <a:off x="8128124" y="1361515"/>
            <a:ext cx="4063874" cy="5487956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274320" tIns="1371600" rIns="91440" bIns="36000" rtlCol="0" anchor="ctr" anchorCtr="0">
            <a:noAutofit/>
          </a:bodyPr>
          <a:lstStyle/>
          <a:p>
            <a:pPr marL="0" marR="0" lvl="0" indent="0" algn="l" defTabSz="711200" rtl="0" eaLnBrk="1" fontAlgn="auto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rgbClr val="0046AD"/>
              </a:buClr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B4B4B4"/>
                </a:solidFill>
                <a:effectLst/>
                <a:uLnTx/>
                <a:uFillTx/>
                <a:ea typeface="+mn-ea"/>
                <a:cs typeface="+mn-cs"/>
              </a:rPr>
              <a:t>P&amp;C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ACF2782E-CA42-3231-50CD-0A213917B6B6}"/>
              </a:ext>
            </a:extLst>
          </p:cNvPr>
          <p:cNvSpPr/>
          <p:nvPr/>
        </p:nvSpPr>
        <p:spPr>
          <a:xfrm>
            <a:off x="4064135" y="1361515"/>
            <a:ext cx="4063874" cy="5487956"/>
          </a:xfrm>
          <a:prstGeom prst="rect">
            <a:avLst/>
          </a:prstGeom>
          <a:solidFill>
            <a:srgbClr val="000000">
              <a:alpha val="75000"/>
            </a:srgbClr>
          </a:solidFill>
          <a:ln w="9525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274320" tIns="1371600" rIns="91440" bIns="36000" rtlCol="0" anchor="ctr" anchorCtr="0">
            <a:noAutofit/>
          </a:bodyPr>
          <a:lstStyle/>
          <a:p>
            <a:pPr marL="0" indent="0">
              <a:lnSpc>
                <a:spcPts val="3000"/>
              </a:lnSpc>
              <a:spcBef>
                <a:spcPts val="0"/>
              </a:spcBef>
              <a:buClr>
                <a:srgbClr val="0046AD"/>
              </a:buClr>
              <a:buNone/>
            </a:pPr>
            <a:r>
              <a:rPr lang="en-US" sz="3200" b="1">
                <a:solidFill>
                  <a:srgbClr val="FFFFFF"/>
                </a:solidFill>
              </a:rPr>
              <a:t>Pharma Commercialization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A0FD259B-5659-DBE5-4A48-8527F749D181}"/>
              </a:ext>
            </a:extLst>
          </p:cNvPr>
          <p:cNvSpPr/>
          <p:nvPr/>
        </p:nvSpPr>
        <p:spPr>
          <a:xfrm>
            <a:off x="8495" y="1361551"/>
            <a:ext cx="4052442" cy="5487956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274320" tIns="1371600" rIns="91440" bIns="36000" rtlCol="0" anchor="ctr" anchorCtr="0">
            <a:noAutofit/>
          </a:bodyPr>
          <a:lstStyle/>
          <a:p>
            <a:pPr marL="0" indent="0">
              <a:lnSpc>
                <a:spcPts val="3000"/>
              </a:lnSpc>
              <a:spcBef>
                <a:spcPts val="0"/>
              </a:spcBef>
              <a:buClr>
                <a:srgbClr val="0046AD"/>
              </a:buClr>
              <a:buNone/>
            </a:pPr>
            <a:r>
              <a:rPr lang="en-US" sz="3200" b="1">
                <a:solidFill>
                  <a:srgbClr val="B4B4B4"/>
                </a:solidFill>
              </a:rPr>
              <a:t>Medtech Commercialization</a:t>
            </a:r>
          </a:p>
        </p:txBody>
      </p:sp>
      <p:sp>
        <p:nvSpPr>
          <p:cNvPr id="81" name="Title 80">
            <a:extLst>
              <a:ext uri="{FF2B5EF4-FFF2-40B4-BE49-F238E27FC236}">
                <a16:creationId xmlns:a16="http://schemas.microsoft.com/office/drawing/2014/main" id="{A66AE3F1-27E3-9E5F-CA90-65DC3BD93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New customer segment deep-dives</a:t>
            </a:r>
          </a:p>
        </p:txBody>
      </p:sp>
      <p:grpSp>
        <p:nvGrpSpPr>
          <p:cNvPr id="6" name="btfpIcon914377">
            <a:extLst>
              <a:ext uri="{FF2B5EF4-FFF2-40B4-BE49-F238E27FC236}">
                <a16:creationId xmlns:a16="http://schemas.microsoft.com/office/drawing/2014/main" id="{27175CEB-43E5-AE8E-AF98-3160C790A914}"/>
              </a:ext>
            </a:extLst>
          </p:cNvPr>
          <p:cNvGrpSpPr>
            <a:grpSpLocks noChangeAspect="1"/>
          </p:cNvGrpSpPr>
          <p:nvPr>
            <p:custDataLst>
              <p:tags r:id="rId4"/>
            </p:custDataLst>
          </p:nvPr>
        </p:nvGrpSpPr>
        <p:grpSpPr>
          <a:xfrm>
            <a:off x="297740" y="2985591"/>
            <a:ext cx="1189197" cy="1189197"/>
            <a:chOff x="297740" y="2985591"/>
            <a:chExt cx="1189197" cy="1189197"/>
          </a:xfrm>
        </p:grpSpPr>
        <p:sp>
          <p:nvSpPr>
            <p:cNvPr id="5" name="btfpIconCircle914377">
              <a:extLst>
                <a:ext uri="{FF2B5EF4-FFF2-40B4-BE49-F238E27FC236}">
                  <a16:creationId xmlns:a16="http://schemas.microsoft.com/office/drawing/2014/main" id="{C3402699-5C61-0A51-E631-C00064490644}"/>
                </a:ext>
              </a:extLst>
            </p:cNvPr>
            <p:cNvSpPr>
              <a:spLocks/>
            </p:cNvSpPr>
            <p:nvPr/>
          </p:nvSpPr>
          <p:spPr bwMode="gray">
            <a:xfrm>
              <a:off x="297740" y="2985591"/>
              <a:ext cx="1189197" cy="1189197"/>
            </a:xfrm>
            <a:prstGeom prst="ellipse">
              <a:avLst/>
            </a:prstGeom>
            <a:noFill/>
            <a:ln w="9525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pic>
          <p:nvPicPr>
            <p:cNvPr id="4" name="btfpIconLines914377">
              <a:extLst>
                <a:ext uri="{FF2B5EF4-FFF2-40B4-BE49-F238E27FC236}">
                  <a16:creationId xmlns:a16="http://schemas.microsoft.com/office/drawing/2014/main" id="{67298E61-492B-5641-CF26-4F9D99B4679B}"/>
                </a:ext>
              </a:extLst>
            </p:cNvPr>
            <p:cNvPicPr>
              <a:picLocks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97740" y="2985591"/>
              <a:ext cx="1189197" cy="1189197"/>
            </a:xfrm>
            <a:prstGeom prst="rect">
              <a:avLst/>
            </a:prstGeom>
          </p:spPr>
        </p:pic>
      </p:grpSp>
      <p:grpSp>
        <p:nvGrpSpPr>
          <p:cNvPr id="74" name="btfpIcon948070">
            <a:extLst>
              <a:ext uri="{FF2B5EF4-FFF2-40B4-BE49-F238E27FC236}">
                <a16:creationId xmlns:a16="http://schemas.microsoft.com/office/drawing/2014/main" id="{7E23DFC7-CFD6-6360-2A6A-CED30F4AB055}"/>
              </a:ext>
            </a:extLst>
          </p:cNvPr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4204891" y="2985591"/>
            <a:ext cx="1189197" cy="1189197"/>
            <a:chOff x="4204891" y="2985591"/>
            <a:chExt cx="1189197" cy="1189197"/>
          </a:xfrm>
        </p:grpSpPr>
        <p:sp>
          <p:nvSpPr>
            <p:cNvPr id="73" name="btfpIconCircle948070">
              <a:extLst>
                <a:ext uri="{FF2B5EF4-FFF2-40B4-BE49-F238E27FC236}">
                  <a16:creationId xmlns:a16="http://schemas.microsoft.com/office/drawing/2014/main" id="{C8FA94C5-A2EB-93A1-AB75-535EE6D671BE}"/>
                </a:ext>
              </a:extLst>
            </p:cNvPr>
            <p:cNvSpPr>
              <a:spLocks/>
            </p:cNvSpPr>
            <p:nvPr/>
          </p:nvSpPr>
          <p:spPr bwMode="gray">
            <a:xfrm>
              <a:off x="4204891" y="2985591"/>
              <a:ext cx="1189197" cy="1189197"/>
            </a:xfrm>
            <a:prstGeom prst="ellipse">
              <a:avLst/>
            </a:prstGeom>
            <a:noFill/>
            <a:ln w="9525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pic>
          <p:nvPicPr>
            <p:cNvPr id="72" name="btfpIconLines948070">
              <a:extLst>
                <a:ext uri="{FF2B5EF4-FFF2-40B4-BE49-F238E27FC236}">
                  <a16:creationId xmlns:a16="http://schemas.microsoft.com/office/drawing/2014/main" id="{277432BD-293D-4AD9-AAEB-A3737E3EDAA9}"/>
                </a:ext>
              </a:extLst>
            </p:cNvPr>
            <p:cNvPicPr>
              <a:picLocks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204891" y="2985591"/>
              <a:ext cx="1189197" cy="1189197"/>
            </a:xfrm>
            <a:prstGeom prst="rect">
              <a:avLst/>
            </a:prstGeom>
          </p:spPr>
        </p:pic>
      </p:grpSp>
      <p:grpSp>
        <p:nvGrpSpPr>
          <p:cNvPr id="82" name="btfpIcon546661">
            <a:extLst>
              <a:ext uri="{FF2B5EF4-FFF2-40B4-BE49-F238E27FC236}">
                <a16:creationId xmlns:a16="http://schemas.microsoft.com/office/drawing/2014/main" id="{FB6262F3-039E-6589-6DE5-82297E213F8F}"/>
              </a:ext>
            </a:extLst>
          </p:cNvPr>
          <p:cNvGrpSpPr>
            <a:grpSpLocks noChangeAspect="1"/>
          </p:cNvGrpSpPr>
          <p:nvPr>
            <p:custDataLst>
              <p:tags r:id="rId6"/>
            </p:custDataLst>
          </p:nvPr>
        </p:nvGrpSpPr>
        <p:grpSpPr>
          <a:xfrm>
            <a:off x="8171417" y="2985591"/>
            <a:ext cx="1189197" cy="1189197"/>
            <a:chOff x="8171417" y="2985591"/>
            <a:chExt cx="1189197" cy="1189197"/>
          </a:xfrm>
        </p:grpSpPr>
        <p:sp>
          <p:nvSpPr>
            <p:cNvPr id="80" name="btfpIconCircle546661">
              <a:extLst>
                <a:ext uri="{FF2B5EF4-FFF2-40B4-BE49-F238E27FC236}">
                  <a16:creationId xmlns:a16="http://schemas.microsoft.com/office/drawing/2014/main" id="{71978C7E-64B8-5EF9-A574-99FC3C99988F}"/>
                </a:ext>
              </a:extLst>
            </p:cNvPr>
            <p:cNvSpPr>
              <a:spLocks/>
            </p:cNvSpPr>
            <p:nvPr/>
          </p:nvSpPr>
          <p:spPr bwMode="gray">
            <a:xfrm>
              <a:off x="8171417" y="2985591"/>
              <a:ext cx="1189197" cy="1189197"/>
            </a:xfrm>
            <a:prstGeom prst="ellipse">
              <a:avLst/>
            </a:prstGeom>
            <a:noFill/>
            <a:ln w="9525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pic>
          <p:nvPicPr>
            <p:cNvPr id="79" name="btfpIconLines546661">
              <a:extLst>
                <a:ext uri="{FF2B5EF4-FFF2-40B4-BE49-F238E27FC236}">
                  <a16:creationId xmlns:a16="http://schemas.microsoft.com/office/drawing/2014/main" id="{08124583-90DD-8134-3011-CB1C2A9C551D}"/>
                </a:ext>
              </a:extLst>
            </p:cNvPr>
            <p:cNvPicPr>
              <a:picLocks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8171417" y="2985591"/>
              <a:ext cx="1189197" cy="1189197"/>
            </a:xfrm>
            <a:prstGeom prst="rect">
              <a:avLst/>
            </a:prstGeom>
          </p:spPr>
        </p:pic>
      </p:grpSp>
    </p:spTree>
    <p:custDataLst>
      <p:tags r:id="rId1"/>
    </p:custDataLst>
    <p:extLst>
      <p:ext uri="{BB962C8B-B14F-4D97-AF65-F5344CB8AC3E}">
        <p14:creationId xmlns:p14="http://schemas.microsoft.com/office/powerpoint/2010/main" val="33510857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D5C17-05AB-F7E4-A2AD-B46047612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think-cell data - do not delete" hidden="1">
            <a:extLst>
              <a:ext uri="{FF2B5EF4-FFF2-40B4-BE49-F238E27FC236}">
                <a16:creationId xmlns:a16="http://schemas.microsoft.com/office/drawing/2014/main" id="{3B382CF7-0028-012B-CB7B-976E2FF70725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606" imgH="608" progId="TCLayout.ActiveDocument.1">
                  <p:embed/>
                </p:oleObj>
              </mc:Choice>
              <mc:Fallback>
                <p:oleObj name="think-cell Slide" r:id="rId4" imgW="606" imgH="608" progId="TCLayout.ActiveDocument.1">
                  <p:embed/>
                  <p:pic>
                    <p:nvPicPr>
                      <p:cNvPr id="2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B382CF7-0028-012B-CB7B-976E2FF7072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btfpColumnIndicatorGroup2">
            <a:extLst>
              <a:ext uri="{FF2B5EF4-FFF2-40B4-BE49-F238E27FC236}">
                <a16:creationId xmlns:a16="http://schemas.microsoft.com/office/drawing/2014/main" id="{E0B18F63-F76F-B0A0-441C-A2EDBF81BB15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10" name="btfpColumnGapBlocker189469">
              <a:extLst>
                <a:ext uri="{FF2B5EF4-FFF2-40B4-BE49-F238E27FC236}">
                  <a16:creationId xmlns:a16="http://schemas.microsoft.com/office/drawing/2014/main" id="{571C401B-F692-B08D-AD63-DA30869755CF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ZA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8" name="btfpColumnGapBlocker763049">
              <a:extLst>
                <a:ext uri="{FF2B5EF4-FFF2-40B4-BE49-F238E27FC236}">
                  <a16:creationId xmlns:a16="http://schemas.microsoft.com/office/drawing/2014/main" id="{2543F8B2-C564-BF2F-C708-A3284DCCFF37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ZA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6" name="btfpColumnIndicator237997">
              <a:extLst>
                <a:ext uri="{FF2B5EF4-FFF2-40B4-BE49-F238E27FC236}">
                  <a16:creationId xmlns:a16="http://schemas.microsoft.com/office/drawing/2014/main" id="{80BE12FC-FBB1-AC65-F241-ED6B221D291F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btfpColumnIndicator158606">
              <a:extLst>
                <a:ext uri="{FF2B5EF4-FFF2-40B4-BE49-F238E27FC236}">
                  <a16:creationId xmlns:a16="http://schemas.microsoft.com/office/drawing/2014/main" id="{866D9605-47A0-248A-062E-2B9024734128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btfpColumnIndicatorGroup1">
            <a:extLst>
              <a:ext uri="{FF2B5EF4-FFF2-40B4-BE49-F238E27FC236}">
                <a16:creationId xmlns:a16="http://schemas.microsoft.com/office/drawing/2014/main" id="{E40B635F-D252-FE60-22D7-BD3CE5B02576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9" name="btfpColumnGapBlocker261650">
              <a:extLst>
                <a:ext uri="{FF2B5EF4-FFF2-40B4-BE49-F238E27FC236}">
                  <a16:creationId xmlns:a16="http://schemas.microsoft.com/office/drawing/2014/main" id="{BB5B9203-8838-0690-0D86-1A0680FB5EFD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ZA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7" name="btfpColumnGapBlocker101459">
              <a:extLst>
                <a:ext uri="{FF2B5EF4-FFF2-40B4-BE49-F238E27FC236}">
                  <a16:creationId xmlns:a16="http://schemas.microsoft.com/office/drawing/2014/main" id="{0CC5DE77-87B1-C0F3-8FDE-8E74DE193C2E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ZA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5" name="btfpColumnIndicator583149">
              <a:extLst>
                <a:ext uri="{FF2B5EF4-FFF2-40B4-BE49-F238E27FC236}">
                  <a16:creationId xmlns:a16="http://schemas.microsoft.com/office/drawing/2014/main" id="{0E4B68C9-3E8B-10B6-2D90-213DF647B63E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btfpColumnIndicator542275">
              <a:extLst>
                <a:ext uri="{FF2B5EF4-FFF2-40B4-BE49-F238E27FC236}">
                  <a16:creationId xmlns:a16="http://schemas.microsoft.com/office/drawing/2014/main" id="{478E4657-222C-C165-7509-518FEEF0FE84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FDBE6E1-DC27-1ACE-E710-D3EEA5EF3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b="1" dirty="0"/>
              <a:t>Approach: </a:t>
            </a:r>
            <a:r>
              <a:rPr lang="en-ZA" dirty="0"/>
              <a:t>We have assessed XX elements as part of the execution roadmap</a:t>
            </a:r>
            <a:endParaRPr lang="en-ZA" b="1" i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65E571D-F022-1BE7-3B84-4C9AA0142723}"/>
              </a:ext>
            </a:extLst>
          </p:cNvPr>
          <p:cNvSpPr/>
          <p:nvPr/>
        </p:nvSpPr>
        <p:spPr bwMode="gray">
          <a:xfrm>
            <a:off x="524785" y="1407380"/>
            <a:ext cx="1979875" cy="190226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r>
              <a:rPr lang="en-ZA" sz="1600" dirty="0">
                <a:solidFill>
                  <a:schemeClr val="tx1"/>
                </a:solidFill>
              </a:rPr>
              <a:t>Priority </a:t>
            </a:r>
            <a:r>
              <a:rPr lang="en-ZA" dirty="0">
                <a:solidFill>
                  <a:schemeClr val="tx1"/>
                </a:solidFill>
              </a:rPr>
              <a:t>SLs</a:t>
            </a:r>
            <a:endParaRPr lang="en-ZA" sz="1600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D058F0A-E079-FA4C-C3E0-93DD4F77FBB5}"/>
              </a:ext>
            </a:extLst>
          </p:cNvPr>
          <p:cNvSpPr/>
          <p:nvPr/>
        </p:nvSpPr>
        <p:spPr bwMode="gray">
          <a:xfrm>
            <a:off x="2903783" y="1407381"/>
            <a:ext cx="1979875" cy="399950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r>
              <a:rPr lang="en-ZA" sz="1600" dirty="0">
                <a:solidFill>
                  <a:schemeClr val="tx1"/>
                </a:solidFill>
              </a:rPr>
              <a:t>Value proposition (linked to buying behaviour)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E76E31D-525A-CE30-68AA-A2CC064247A2}"/>
              </a:ext>
            </a:extLst>
          </p:cNvPr>
          <p:cNvSpPr/>
          <p:nvPr/>
        </p:nvSpPr>
        <p:spPr bwMode="gray">
          <a:xfrm>
            <a:off x="8673315" y="1407381"/>
            <a:ext cx="3188609" cy="34985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r>
              <a:rPr lang="en-ZA" sz="1600" dirty="0">
                <a:solidFill>
                  <a:schemeClr val="tx1"/>
                </a:solidFill>
              </a:rPr>
              <a:t>Actions to setu</a:t>
            </a:r>
            <a:r>
              <a:rPr lang="en-ZA" dirty="0">
                <a:solidFill>
                  <a:schemeClr val="tx1"/>
                </a:solidFill>
              </a:rPr>
              <a:t>p GTM</a:t>
            </a:r>
            <a:endParaRPr lang="en-ZA" sz="1600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F820FAA-73E1-20EB-7709-631263176873}"/>
              </a:ext>
            </a:extLst>
          </p:cNvPr>
          <p:cNvSpPr/>
          <p:nvPr/>
        </p:nvSpPr>
        <p:spPr bwMode="gray">
          <a:xfrm>
            <a:off x="5184182" y="1407381"/>
            <a:ext cx="3188609" cy="34985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r>
              <a:rPr lang="en-ZA" sz="1600" dirty="0">
                <a:solidFill>
                  <a:schemeClr val="tx1"/>
                </a:solidFill>
              </a:rPr>
              <a:t>Actions to develop offering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C6410A8-7B91-7C2D-BEA8-F7B09434C4A5}"/>
              </a:ext>
            </a:extLst>
          </p:cNvPr>
          <p:cNvSpPr/>
          <p:nvPr/>
        </p:nvSpPr>
        <p:spPr bwMode="gray">
          <a:xfrm>
            <a:off x="5580662" y="2071584"/>
            <a:ext cx="2395649" cy="60800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r>
              <a:rPr lang="en-ZA" sz="1600" dirty="0">
                <a:solidFill>
                  <a:schemeClr val="tx1"/>
                </a:solidFill>
              </a:rPr>
              <a:t>Delivery talent hiring/ training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94B489C-BBF6-6FFB-7FDE-B7E5C3FBEBCD}"/>
              </a:ext>
            </a:extLst>
          </p:cNvPr>
          <p:cNvSpPr/>
          <p:nvPr/>
        </p:nvSpPr>
        <p:spPr bwMode="gray">
          <a:xfrm>
            <a:off x="5580662" y="3013543"/>
            <a:ext cx="2395649" cy="52841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r>
              <a:rPr lang="en-ZA" sz="1600" dirty="0">
                <a:solidFill>
                  <a:schemeClr val="tx1"/>
                </a:solidFill>
              </a:rPr>
              <a:t>Senior talent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EF62438-874B-B204-3DAC-51ADC16288DB}"/>
              </a:ext>
            </a:extLst>
          </p:cNvPr>
          <p:cNvSpPr/>
          <p:nvPr/>
        </p:nvSpPr>
        <p:spPr bwMode="gray">
          <a:xfrm>
            <a:off x="5580662" y="3875914"/>
            <a:ext cx="2395649" cy="52841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r>
              <a:rPr lang="en-ZA" sz="1600" dirty="0">
                <a:solidFill>
                  <a:schemeClr val="tx1"/>
                </a:solidFill>
              </a:rPr>
              <a:t>Tech investments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6B41011-20FC-0D8F-D922-AA9322DF411A}"/>
              </a:ext>
            </a:extLst>
          </p:cNvPr>
          <p:cNvSpPr/>
          <p:nvPr/>
        </p:nvSpPr>
        <p:spPr bwMode="gray">
          <a:xfrm>
            <a:off x="9069794" y="2071584"/>
            <a:ext cx="2395649" cy="60800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r>
              <a:rPr lang="en-ZA" sz="1600" dirty="0">
                <a:solidFill>
                  <a:schemeClr val="tx1"/>
                </a:solidFill>
              </a:rPr>
              <a:t>Hiring sales and solutioning talent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ABF9632-3BEF-10F8-8E0D-5DB109AFA499}"/>
              </a:ext>
            </a:extLst>
          </p:cNvPr>
          <p:cNvSpPr/>
          <p:nvPr/>
        </p:nvSpPr>
        <p:spPr bwMode="gray">
          <a:xfrm>
            <a:off x="9069793" y="3019337"/>
            <a:ext cx="2395649" cy="5226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r>
              <a:rPr lang="en-ZA" sz="1600" dirty="0">
                <a:solidFill>
                  <a:schemeClr val="tx1"/>
                </a:solidFill>
              </a:rPr>
              <a:t>Lead gen investments (marketing)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1FE8197-380C-C7AB-E958-BD793594B3B8}"/>
              </a:ext>
            </a:extLst>
          </p:cNvPr>
          <p:cNvSpPr/>
          <p:nvPr/>
        </p:nvSpPr>
        <p:spPr bwMode="gray">
          <a:xfrm>
            <a:off x="9069793" y="3881707"/>
            <a:ext cx="2395649" cy="5226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r>
              <a:rPr lang="en-ZA" sz="1600" dirty="0">
                <a:solidFill>
                  <a:schemeClr val="tx1"/>
                </a:solidFill>
              </a:rPr>
              <a:t>Industry advisors…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F95E61D-0917-90E2-4132-24D045CA788A}"/>
              </a:ext>
            </a:extLst>
          </p:cNvPr>
          <p:cNvSpPr/>
          <p:nvPr/>
        </p:nvSpPr>
        <p:spPr bwMode="gray">
          <a:xfrm>
            <a:off x="524784" y="3739863"/>
            <a:ext cx="1979875" cy="16670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r>
              <a:rPr lang="en-ZA" sz="1600" dirty="0">
                <a:solidFill>
                  <a:schemeClr val="tx1"/>
                </a:solidFill>
              </a:rPr>
              <a:t>Priority </a:t>
            </a:r>
            <a:r>
              <a:rPr lang="en-ZA" dirty="0">
                <a:solidFill>
                  <a:schemeClr val="tx1"/>
                </a:solidFill>
              </a:rPr>
              <a:t>customer segments and top customers</a:t>
            </a:r>
            <a:endParaRPr lang="en-ZA" sz="1600" dirty="0">
              <a:solidFill>
                <a:schemeClr val="tx1"/>
              </a:solidFill>
            </a:endParaRPr>
          </a:p>
        </p:txBody>
      </p:sp>
      <p:sp>
        <p:nvSpPr>
          <p:cNvPr id="30" name="CommentBox">
            <a:extLst>
              <a:ext uri="{FF2B5EF4-FFF2-40B4-BE49-F238E27FC236}">
                <a16:creationId xmlns:a16="http://schemas.microsoft.com/office/drawing/2014/main" id="{963E5B9B-9E49-74A4-CD05-511E33441DB0}"/>
              </a:ext>
            </a:extLst>
          </p:cNvPr>
          <p:cNvSpPr/>
          <p:nvPr/>
        </p:nvSpPr>
        <p:spPr bwMode="gray">
          <a:xfrm>
            <a:off x="2275011" y="5721193"/>
            <a:ext cx="6975161" cy="573505"/>
          </a:xfrm>
          <a:prstGeom prst="wedgeRoundRectCallout">
            <a:avLst>
              <a:gd name="adj1" fmla="val -40000"/>
              <a:gd name="adj2" fmla="val 40000"/>
              <a:gd name="adj3" fmla="val 16667"/>
            </a:avLst>
          </a:prstGeom>
          <a:solidFill>
            <a:srgbClr val="2D475A"/>
          </a:solidFill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ZA" sz="1000" dirty="0">
                <a:solidFill>
                  <a:srgbClr val="FFFFFF"/>
                </a:solidFill>
                <a:latin typeface="Arial" panose="020B0604020202020204" pitchFamily="34" charset="0"/>
              </a:rPr>
              <a:t>At the bottom add – based on voice of customer (add logos for this vertical) and leading vendors (logos)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8FABD97-B786-98F2-5946-96D67E5157C8}"/>
              </a:ext>
            </a:extLst>
          </p:cNvPr>
          <p:cNvSpPr/>
          <p:nvPr/>
        </p:nvSpPr>
        <p:spPr bwMode="gray">
          <a:xfrm>
            <a:off x="330076" y="1288486"/>
            <a:ext cx="11620721" cy="5112313"/>
          </a:xfrm>
          <a:prstGeom prst="rect">
            <a:avLst/>
          </a:prstGeom>
          <a:solidFill>
            <a:srgbClr val="D6D6D6">
              <a:alpha val="75000"/>
            </a:srgb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r>
              <a:rPr lang="en-ZA" sz="3600" dirty="0">
                <a:solidFill>
                  <a:srgbClr val="000000"/>
                </a:solidFill>
              </a:rPr>
              <a:t>WIP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984669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E4D70-2A3D-506F-9EB0-3C9E6D07A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hink-cell data - do not delete" hidden="1">
            <a:extLst>
              <a:ext uri="{FF2B5EF4-FFF2-40B4-BE49-F238E27FC236}">
                <a16:creationId xmlns:a16="http://schemas.microsoft.com/office/drawing/2014/main" id="{50E021B3-72DA-6223-3CDE-7C53CB05E543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8408904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84" imgH="486" progId="TCLayout.ActiveDocument.1">
                  <p:embed/>
                </p:oleObj>
              </mc:Choice>
              <mc:Fallback>
                <p:oleObj name="think-cell Slide" r:id="rId5" imgW="484" imgH="486" progId="TCLayout.ActiveDocument.1">
                  <p:embed/>
                  <p:pic>
                    <p:nvPicPr>
                      <p:cNvPr id="1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0E021B3-72DA-6223-3CDE-7C53CB05E54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btfpColumnIndicatorGroup2">
            <a:extLst>
              <a:ext uri="{FF2B5EF4-FFF2-40B4-BE49-F238E27FC236}">
                <a16:creationId xmlns:a16="http://schemas.microsoft.com/office/drawing/2014/main" id="{687E78AB-6D80-F720-9C0C-02068B734412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10" name="btfpColumnGapBlocker146035">
              <a:extLst>
                <a:ext uri="{FF2B5EF4-FFF2-40B4-BE49-F238E27FC236}">
                  <a16:creationId xmlns:a16="http://schemas.microsoft.com/office/drawing/2014/main" id="{813DE789-7F13-15F5-0A5D-46DC58155B2A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8" name="btfpColumnGapBlocker385565">
              <a:extLst>
                <a:ext uri="{FF2B5EF4-FFF2-40B4-BE49-F238E27FC236}">
                  <a16:creationId xmlns:a16="http://schemas.microsoft.com/office/drawing/2014/main" id="{0B5E268A-66CC-F988-8824-F76F4E8D8220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6" name="btfpColumnIndicator962803">
              <a:extLst>
                <a:ext uri="{FF2B5EF4-FFF2-40B4-BE49-F238E27FC236}">
                  <a16:creationId xmlns:a16="http://schemas.microsoft.com/office/drawing/2014/main" id="{F294AFE7-258F-36D0-8A28-42800A677599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btfpColumnIndicator200631">
              <a:extLst>
                <a:ext uri="{FF2B5EF4-FFF2-40B4-BE49-F238E27FC236}">
                  <a16:creationId xmlns:a16="http://schemas.microsoft.com/office/drawing/2014/main" id="{B518FA92-1B51-1BAF-07E0-3E43BA0B6929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btfpColumnIndicatorGroup1">
            <a:extLst>
              <a:ext uri="{FF2B5EF4-FFF2-40B4-BE49-F238E27FC236}">
                <a16:creationId xmlns:a16="http://schemas.microsoft.com/office/drawing/2014/main" id="{4585CA6D-D8D8-F08B-3000-43C0D034A6BC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9" name="btfpColumnGapBlocker615338">
              <a:extLst>
                <a:ext uri="{FF2B5EF4-FFF2-40B4-BE49-F238E27FC236}">
                  <a16:creationId xmlns:a16="http://schemas.microsoft.com/office/drawing/2014/main" id="{6D5CCA6E-7BCF-20BB-1980-3375C78D6404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7" name="btfpColumnGapBlocker207263">
              <a:extLst>
                <a:ext uri="{FF2B5EF4-FFF2-40B4-BE49-F238E27FC236}">
                  <a16:creationId xmlns:a16="http://schemas.microsoft.com/office/drawing/2014/main" id="{231DA508-1960-1060-9205-6C8872602CC1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5" name="btfpColumnIndicator581076">
              <a:extLst>
                <a:ext uri="{FF2B5EF4-FFF2-40B4-BE49-F238E27FC236}">
                  <a16:creationId xmlns:a16="http://schemas.microsoft.com/office/drawing/2014/main" id="{33973B9F-9D7B-5116-D596-63C0BBD4C439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btfpColumnIndicator233293">
              <a:extLst>
                <a:ext uri="{FF2B5EF4-FFF2-40B4-BE49-F238E27FC236}">
                  <a16:creationId xmlns:a16="http://schemas.microsoft.com/office/drawing/2014/main" id="{CEC21083-82C9-25C9-A559-6EDB51E76488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F182162-6433-5CFE-26D3-5295652D7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b="1"/>
              <a:t>Summary:</a:t>
            </a:r>
            <a:r>
              <a:rPr lang="en-US"/>
              <a:t> Proposed approach for </a:t>
            </a:r>
            <a:r>
              <a:rPr lang="en-US" err="1"/>
              <a:t>Sagility</a:t>
            </a:r>
            <a:r>
              <a:rPr lang="en-US"/>
              <a:t> to build an adjacent business in Pharma Commercialization (1/2)</a:t>
            </a:r>
          </a:p>
        </p:txBody>
      </p:sp>
      <p:sp>
        <p:nvSpPr>
          <p:cNvPr id="13" name="btfpBulletedList735532">
            <a:extLst>
              <a:ext uri="{FF2B5EF4-FFF2-40B4-BE49-F238E27FC236}">
                <a16:creationId xmlns:a16="http://schemas.microsoft.com/office/drawing/2014/main" id="{40904174-987C-9A8F-AAF5-9DCFA57B9073}"/>
              </a:ext>
            </a:extLst>
          </p:cNvPr>
          <p:cNvSpPr/>
          <p:nvPr/>
        </p:nvSpPr>
        <p:spPr bwMode="gray">
          <a:xfrm>
            <a:off x="330200" y="1247892"/>
            <a:ext cx="11355664" cy="523917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100" b="1" dirty="0">
                <a:solidFill>
                  <a:srgbClr val="C00000"/>
                </a:solidFill>
              </a:rPr>
              <a:t>Across the 4 service lines within Pharma commercialization, </a:t>
            </a:r>
            <a:r>
              <a:rPr lang="en-US" sz="1100" b="1" dirty="0" err="1">
                <a:solidFill>
                  <a:srgbClr val="C00000"/>
                </a:solidFill>
              </a:rPr>
              <a:t>Sagility</a:t>
            </a:r>
            <a:r>
              <a:rPr lang="en-US" sz="1100" b="1" dirty="0">
                <a:solidFill>
                  <a:srgbClr val="C00000"/>
                </a:solidFill>
              </a:rPr>
              <a:t> can prioritize Commercial S&amp;M and Patient Engagement as the primary entry wedges and Medical Affairs as secondary entry wedge in the near term – given alignment with </a:t>
            </a:r>
            <a:r>
              <a:rPr lang="en-US" sz="1100" b="1" dirty="0" err="1">
                <a:solidFill>
                  <a:srgbClr val="C00000"/>
                </a:solidFill>
              </a:rPr>
              <a:t>Sagility’s</a:t>
            </a:r>
            <a:r>
              <a:rPr lang="en-US" sz="1100" b="1" dirty="0">
                <a:solidFill>
                  <a:srgbClr val="C00000"/>
                </a:solidFill>
              </a:rPr>
              <a:t> capabilities and customer openness for new vendors</a:t>
            </a:r>
          </a:p>
          <a:p>
            <a:pPr lvl="1"/>
            <a:r>
              <a:rPr lang="en-US" sz="900" u="sng" dirty="0">
                <a:solidFill>
                  <a:schemeClr val="tx1"/>
                </a:solidFill>
                <a:latin typeface="Arial" panose="020B0604020202020204" pitchFamily="34" charset="0"/>
              </a:rPr>
              <a:t>Commercial S&amp;M</a:t>
            </a: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</a:rPr>
              <a:t>: Strong primary wedge given a) </a:t>
            </a:r>
            <a:r>
              <a:rPr lang="en-US" sz="900" dirty="0">
                <a:solidFill>
                  <a:schemeClr val="tx1"/>
                </a:solidFill>
              </a:rPr>
              <a:t>strong capability alignment due to high-volume, SLA-driven activities such as content production, MLR coordination, CRM administration, incentive compensation, launch readiness, analytics reporting, and b) high customer openness to new vendors; </a:t>
            </a:r>
            <a:r>
              <a:rPr lang="en-US" sz="900" i="1" dirty="0">
                <a:solidFill>
                  <a:schemeClr val="tx1"/>
                </a:solidFill>
              </a:rPr>
              <a:t>conversations with customers like Ipsen and Organon indicate willingness to test new partners </a:t>
            </a:r>
            <a:endParaRPr lang="en-US" sz="900" dirty="0">
              <a:solidFill>
                <a:schemeClr val="tx1"/>
              </a:solidFill>
            </a:endParaRPr>
          </a:p>
          <a:p>
            <a:pPr lvl="1"/>
            <a:r>
              <a:rPr lang="en-US" sz="900" u="sng" dirty="0">
                <a:solidFill>
                  <a:schemeClr val="tx1"/>
                </a:solidFill>
              </a:rPr>
              <a:t>Patient Engagement</a:t>
            </a:r>
            <a:r>
              <a:rPr lang="en-US" sz="900" dirty="0">
                <a:solidFill>
                  <a:schemeClr val="tx1"/>
                </a:solidFill>
              </a:rPr>
              <a:t>: Strong primary wedge given a) increasing criticality of service line with rise of specialty &amp; rare disease therapies, requiring structured, compliant outreach models to drive therapy initiation and persistence, b) rule-based workflows &amp; HIPAA-compliant contact center environments that create a natural fit for scalable offshore execution partners, and c) moderate-to-high customer openness for new vendors</a:t>
            </a:r>
          </a:p>
          <a:p>
            <a:pPr lvl="1"/>
            <a:r>
              <a:rPr lang="en-US" sz="900" u="sng" dirty="0">
                <a:solidFill>
                  <a:schemeClr val="tx1"/>
                </a:solidFill>
              </a:rPr>
              <a:t>Medical Affairs</a:t>
            </a:r>
            <a:r>
              <a:rPr lang="en-US" sz="900" dirty="0">
                <a:solidFill>
                  <a:schemeClr val="tx1"/>
                </a:solidFill>
              </a:rPr>
              <a:t>: Selective entry potential, where credibility, TA depth, senior leadership (PharmD/PhD) are critical. Structured content production &amp; MI governance models may serve as initial footholds, with positioning anchored in compliance rigor &amp; risk containment; </a:t>
            </a:r>
            <a:r>
              <a:rPr lang="en-US" sz="900" u="sng" dirty="0">
                <a:solidFill>
                  <a:schemeClr val="tx1"/>
                </a:solidFill>
                <a:latin typeface="Arial" panose="020B0604020202020204" pitchFamily="34" charset="0"/>
              </a:rPr>
              <a:t>Pharmacovigilance</a:t>
            </a: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</a:rPr>
              <a:t>: Remains conservative or new entrants due to high regulatory sensitivity, </a:t>
            </a:r>
            <a:r>
              <a:rPr lang="en-US" sz="900" dirty="0">
                <a:solidFill>
                  <a:schemeClr val="tx1"/>
                </a:solidFill>
              </a:rPr>
              <a:t>inspection readiness requirements </a:t>
            </a: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</a:rPr>
              <a:t>&amp; entrenched vendors</a:t>
            </a:r>
            <a:endParaRPr lang="en-US" sz="900" dirty="0">
              <a:solidFill>
                <a:schemeClr val="tx1"/>
              </a:solidFill>
            </a:endParaRPr>
          </a:p>
          <a:p>
            <a:r>
              <a:rPr lang="en-US" sz="1100" b="1" dirty="0">
                <a:solidFill>
                  <a:srgbClr val="C00000"/>
                </a:solidFill>
              </a:rPr>
              <a:t>Across customer archetypes – Large Pharma, Small-to-Mid Pharma, Biotech, and CROs – Biotech and Small-to-Mid Pharma represent the most actionable segments for </a:t>
            </a:r>
            <a:r>
              <a:rPr lang="en-US" sz="1100" b="1" dirty="0" err="1">
                <a:solidFill>
                  <a:srgbClr val="C00000"/>
                </a:solidFill>
              </a:rPr>
              <a:t>Sagility</a:t>
            </a:r>
            <a:r>
              <a:rPr lang="en-US" sz="1100" b="1" dirty="0">
                <a:solidFill>
                  <a:srgbClr val="C00000"/>
                </a:solidFill>
              </a:rPr>
              <a:t> given greater openness to modular partners, leaner internal infrastructure, and lower reference thresholds relative to large pharma and CROs </a:t>
            </a:r>
          </a:p>
          <a:p>
            <a:pPr lvl="1"/>
            <a:r>
              <a:rPr lang="en-US" sz="900" dirty="0">
                <a:solidFill>
                  <a:schemeClr val="tx1"/>
                </a:solidFill>
              </a:rPr>
              <a:t>Large pharma prefer established, best-of-breed vendors with extensive track records, while CROs have increasingly built in-house commercialization capabilities, limiting subcontracting opportunity </a:t>
            </a:r>
          </a:p>
          <a:p>
            <a:pPr lvl="1"/>
            <a:r>
              <a:rPr lang="en-US" sz="900" dirty="0">
                <a:solidFill>
                  <a:schemeClr val="tx1"/>
                </a:solidFill>
              </a:rPr>
              <a:t>Biotech and small-to-mid pharma firms – often building commercial infrastructure from scratch – demonstrate a) moderate-to-high openness to new partners for Commercial S&amp;M given lower regulatory sensitivity, emphasis on speed and pricing, lean in-house teams &amp; urgent scaling needs; and b) moderate openness to new partners for Patient Engagement given structured activities, lower scientific ownership sensitivity</a:t>
            </a:r>
          </a:p>
          <a:p>
            <a:pPr lvl="1"/>
            <a:r>
              <a:rPr lang="en-US" sz="900" dirty="0">
                <a:solidFill>
                  <a:schemeClr val="tx1"/>
                </a:solidFill>
              </a:rPr>
              <a:t>Large opportunity exists with multiple biotech and small-to-mid pharma firms (e.g., Biotech: Ipsen, Amgen; small-to-mid sized pharma: Organon, Dr. Reddy’s); US-HQ companies account for 50%+ of global biotech R&amp;D investment and six out of every ten FDA-approved therapies</a:t>
            </a:r>
          </a:p>
          <a:p>
            <a:r>
              <a:rPr lang="en-US" sz="1100" b="1" dirty="0">
                <a:solidFill>
                  <a:schemeClr val="accent3"/>
                </a:solidFill>
              </a:rPr>
              <a:t>Vendor switching in Pharma Commercialization is both performance-/ risk reduction-led and cost-led </a:t>
            </a:r>
            <a:r>
              <a:rPr lang="en-US" sz="1100" dirty="0">
                <a:solidFill>
                  <a:srgbClr val="000000"/>
                </a:solidFill>
              </a:rPr>
              <a:t>(given Biotech firms are typically capital constrained).</a:t>
            </a:r>
            <a:r>
              <a:rPr lang="en-US" sz="1100" b="1" dirty="0">
                <a:solidFill>
                  <a:schemeClr val="accent3"/>
                </a:solidFill>
              </a:rPr>
              <a:t> </a:t>
            </a:r>
            <a:r>
              <a:rPr lang="en-US" sz="1100" b="1" dirty="0">
                <a:solidFill>
                  <a:schemeClr val="tx1"/>
                </a:solidFill>
              </a:rPr>
              <a:t>Key selection criteria centers on TA expertise, proven track record, competitive pricing, and SLA transparency/ governance maturity with service line specific nuances </a:t>
            </a:r>
            <a:r>
              <a:rPr lang="en-US" sz="1100" dirty="0">
                <a:solidFill>
                  <a:schemeClr val="tx1"/>
                </a:solidFill>
              </a:rPr>
              <a:t>(e.g., innovation in offerings for Commercial S&amp;M, breadth of offerings for Patient Engagement). Buying happens at a service-line level, with buying centers/ KDMs being fragmented</a:t>
            </a:r>
            <a:endParaRPr lang="en-US" sz="1100" b="1" dirty="0">
              <a:solidFill>
                <a:schemeClr val="tx1"/>
              </a:solidFill>
            </a:endParaRPr>
          </a:p>
          <a:p>
            <a:r>
              <a:rPr lang="en-US" sz="1100" b="1" dirty="0" err="1">
                <a:solidFill>
                  <a:srgbClr val="C00000"/>
                </a:solidFill>
              </a:rPr>
              <a:t>Sagility’s</a:t>
            </a:r>
            <a:r>
              <a:rPr lang="en-US" sz="1100" b="1" dirty="0">
                <a:solidFill>
                  <a:srgbClr val="C00000"/>
                </a:solidFill>
              </a:rPr>
              <a:t> differentiation lies in combining cost-efficient global delivery with commercialization-specific workflow rigor, embedded with AI/ automation and advanced analytics, to create a high-transparency, execution-focused alternative to strategy-heavy incumbents that typically focus on large pharma cos. </a:t>
            </a:r>
            <a:r>
              <a:rPr lang="en-US" sz="1100" b="1" dirty="0">
                <a:solidFill>
                  <a:schemeClr val="tx1"/>
                </a:solidFill>
              </a:rPr>
              <a:t>– </a:t>
            </a:r>
            <a:r>
              <a:rPr lang="en-US" sz="1100" dirty="0">
                <a:solidFill>
                  <a:schemeClr val="tx1"/>
                </a:solidFill>
              </a:rPr>
              <a:t>a) position as an execution specialist, enabling faster ramp-up, lower cost-to-serve, and tighter SLA adherence in operationally intensive workflows, b) offer modular pod-based model that allows rapid capacity scaling during launch peaks without full-program overhead (typical of larger incumbents), and c) structured QA and workflow discipline can reduce compliance and audit risk in high-volume environments </a:t>
            </a:r>
          </a:p>
          <a:p>
            <a:pPr lvl="1"/>
            <a:r>
              <a:rPr lang="en-US" sz="900" u="sng" dirty="0">
                <a:solidFill>
                  <a:schemeClr val="tx1"/>
                </a:solidFill>
              </a:rPr>
              <a:t>Commercial S&amp;M</a:t>
            </a:r>
            <a:r>
              <a:rPr lang="en-US" sz="900" dirty="0">
                <a:solidFill>
                  <a:schemeClr val="tx1"/>
                </a:solidFill>
              </a:rPr>
              <a:t>: </a:t>
            </a:r>
            <a:r>
              <a:rPr lang="en-US" sz="900" dirty="0" err="1">
                <a:solidFill>
                  <a:schemeClr val="tx1"/>
                </a:solidFill>
              </a:rPr>
              <a:t>Sagility</a:t>
            </a:r>
            <a:r>
              <a:rPr lang="en-US" sz="900" dirty="0">
                <a:solidFill>
                  <a:schemeClr val="tx1"/>
                </a:solidFill>
              </a:rPr>
              <a:t> offers a modular, SLA-anchored execution engine for high-volume commercial operations (content ops, MLR coordination, CRM, IC, analytics), delivering faster ramp-up, granular output transparency, and materially lower cost-to-serve than bundled, strategy-heavy incumbents –</a:t>
            </a:r>
            <a:r>
              <a:rPr lang="en-US" sz="900" i="1" dirty="0">
                <a:solidFill>
                  <a:schemeClr val="tx1"/>
                </a:solidFill>
              </a:rPr>
              <a:t> some investments required in inhouse tech and talent</a:t>
            </a:r>
          </a:p>
          <a:p>
            <a:pPr lvl="1"/>
            <a:r>
              <a:rPr lang="en-US" sz="900" u="sng" dirty="0">
                <a:solidFill>
                  <a:schemeClr val="tx1"/>
                </a:solidFill>
              </a:rPr>
              <a:t>Patient Engagement</a:t>
            </a:r>
            <a:r>
              <a:rPr lang="en-US" sz="900" dirty="0">
                <a:solidFill>
                  <a:schemeClr val="tx1"/>
                </a:solidFill>
              </a:rPr>
              <a:t>: </a:t>
            </a:r>
            <a:r>
              <a:rPr lang="en-US" sz="900" dirty="0" err="1">
                <a:solidFill>
                  <a:schemeClr val="tx1"/>
                </a:solidFill>
              </a:rPr>
              <a:t>Sagility</a:t>
            </a:r>
            <a:r>
              <a:rPr lang="en-US" sz="900" dirty="0">
                <a:solidFill>
                  <a:schemeClr val="tx1"/>
                </a:solidFill>
              </a:rPr>
              <a:t> provides a compliance-first, performance-managed patient outreach model that combines TA-trained agents, structured QA governance, and measurable adherence outcomes –positioning it as a scalable, cost-efficient alternative to traditional call-center or fully integrated hub vendors –</a:t>
            </a:r>
            <a:r>
              <a:rPr lang="en-US" sz="900" i="1" dirty="0">
                <a:solidFill>
                  <a:schemeClr val="tx1"/>
                </a:solidFill>
              </a:rPr>
              <a:t> some investments required in inhouse tech and talent</a:t>
            </a:r>
          </a:p>
          <a:p>
            <a:pPr lvl="1"/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14" name="btfpNumberBubble399258">
            <a:extLst>
              <a:ext uri="{FF2B5EF4-FFF2-40B4-BE49-F238E27FC236}">
                <a16:creationId xmlns:a16="http://schemas.microsoft.com/office/drawing/2014/main" id="{EEE5BDBC-763E-8756-0732-CA5225274363}"/>
              </a:ext>
            </a:extLst>
          </p:cNvPr>
          <p:cNvSpPr/>
          <p:nvPr/>
        </p:nvSpPr>
        <p:spPr bwMode="gray">
          <a:xfrm>
            <a:off x="209565" y="1238642"/>
            <a:ext cx="262396" cy="26239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400" b="1">
                <a:solidFill>
                  <a:srgbClr val="CC0000"/>
                </a:solidFill>
              </a:rPr>
              <a:t>1</a:t>
            </a:r>
          </a:p>
        </p:txBody>
      </p:sp>
      <p:sp>
        <p:nvSpPr>
          <p:cNvPr id="17" name="btfpNumberBubble399258">
            <a:extLst>
              <a:ext uri="{FF2B5EF4-FFF2-40B4-BE49-F238E27FC236}">
                <a16:creationId xmlns:a16="http://schemas.microsoft.com/office/drawing/2014/main" id="{F248EC4A-1BFE-5AAA-C71C-631DB3F8A806}"/>
              </a:ext>
            </a:extLst>
          </p:cNvPr>
          <p:cNvSpPr/>
          <p:nvPr/>
        </p:nvSpPr>
        <p:spPr bwMode="gray">
          <a:xfrm>
            <a:off x="209565" y="2822633"/>
            <a:ext cx="262396" cy="26239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400" b="1">
                <a:solidFill>
                  <a:srgbClr val="CC0000"/>
                </a:solidFill>
              </a:rPr>
              <a:t>2</a:t>
            </a:r>
          </a:p>
        </p:txBody>
      </p:sp>
      <p:sp>
        <p:nvSpPr>
          <p:cNvPr id="18" name="btfpNumberBubble399258">
            <a:extLst>
              <a:ext uri="{FF2B5EF4-FFF2-40B4-BE49-F238E27FC236}">
                <a16:creationId xmlns:a16="http://schemas.microsoft.com/office/drawing/2014/main" id="{0190D7F6-4C3E-E9E6-5E07-C80C0561915D}"/>
              </a:ext>
            </a:extLst>
          </p:cNvPr>
          <p:cNvSpPr/>
          <p:nvPr/>
        </p:nvSpPr>
        <p:spPr bwMode="gray">
          <a:xfrm>
            <a:off x="209565" y="4237903"/>
            <a:ext cx="262396" cy="26239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400" b="1">
                <a:solidFill>
                  <a:srgbClr val="CC0000"/>
                </a:solidFill>
              </a:rPr>
              <a:t>3</a:t>
            </a:r>
          </a:p>
        </p:txBody>
      </p:sp>
      <p:sp>
        <p:nvSpPr>
          <p:cNvPr id="19" name="btfpNumberBubble399258">
            <a:extLst>
              <a:ext uri="{FF2B5EF4-FFF2-40B4-BE49-F238E27FC236}">
                <a16:creationId xmlns:a16="http://schemas.microsoft.com/office/drawing/2014/main" id="{936FA6F0-B58F-472C-1FD2-43F4BD8C4286}"/>
              </a:ext>
            </a:extLst>
          </p:cNvPr>
          <p:cNvSpPr/>
          <p:nvPr/>
        </p:nvSpPr>
        <p:spPr bwMode="gray">
          <a:xfrm>
            <a:off x="209565" y="4905891"/>
            <a:ext cx="262396" cy="26239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400" b="1">
                <a:solidFill>
                  <a:srgbClr val="CC0000"/>
                </a:solidFill>
              </a:rPr>
              <a:t>4</a:t>
            </a:r>
          </a:p>
        </p:txBody>
      </p:sp>
      <p:sp>
        <p:nvSpPr>
          <p:cNvPr id="27" name="CommentBox">
            <a:extLst>
              <a:ext uri="{FF2B5EF4-FFF2-40B4-BE49-F238E27FC236}">
                <a16:creationId xmlns:a16="http://schemas.microsoft.com/office/drawing/2014/main" id="{D6E26749-8D3E-10C0-5DF9-D9E3F4D36CD0}"/>
              </a:ext>
            </a:extLst>
          </p:cNvPr>
          <p:cNvSpPr/>
          <p:nvPr/>
        </p:nvSpPr>
        <p:spPr bwMode="gray">
          <a:xfrm>
            <a:off x="8849334" y="438344"/>
            <a:ext cx="3074276" cy="391712"/>
          </a:xfrm>
          <a:prstGeom prst="wedgeRoundRectCallout">
            <a:avLst>
              <a:gd name="adj1" fmla="val -40000"/>
              <a:gd name="adj2" fmla="val 40000"/>
              <a:gd name="adj3" fmla="val 16667"/>
            </a:avLst>
          </a:prstGeom>
          <a:solidFill>
            <a:srgbClr val="EED6E5"/>
          </a:solidFill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050" b="1">
                <a:solidFill>
                  <a:srgbClr val="000000"/>
                </a:solidFill>
                <a:latin typeface="Arial" panose="020B0604020202020204" pitchFamily="34" charset="0"/>
              </a:rPr>
              <a:t>INTERNAL NOTE – Answer may change basis client inputs on existing capabilities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47921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BCAA8-D0A5-2AE9-382B-AC912F346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hink-cell data - do not delete" hidden="1">
            <a:extLst>
              <a:ext uri="{FF2B5EF4-FFF2-40B4-BE49-F238E27FC236}">
                <a16:creationId xmlns:a16="http://schemas.microsoft.com/office/drawing/2014/main" id="{89A09198-94A0-009A-A57B-3DCC3B1B95B1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248173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84" imgH="486" progId="TCLayout.ActiveDocument.1">
                  <p:embed/>
                </p:oleObj>
              </mc:Choice>
              <mc:Fallback>
                <p:oleObj name="think-cell Slide" r:id="rId5" imgW="484" imgH="486" progId="TCLayout.ActiveDocument.1">
                  <p:embed/>
                  <p:pic>
                    <p:nvPicPr>
                      <p:cNvPr id="1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A09198-94A0-009A-A57B-3DCC3B1B95B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btfpColumnIndicatorGroup2">
            <a:extLst>
              <a:ext uri="{FF2B5EF4-FFF2-40B4-BE49-F238E27FC236}">
                <a16:creationId xmlns:a16="http://schemas.microsoft.com/office/drawing/2014/main" id="{1EBB4906-8E36-A879-C35F-3832CBE95866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10" name="btfpColumnGapBlocker146035">
              <a:extLst>
                <a:ext uri="{FF2B5EF4-FFF2-40B4-BE49-F238E27FC236}">
                  <a16:creationId xmlns:a16="http://schemas.microsoft.com/office/drawing/2014/main" id="{334ACD9D-EAC4-967E-1BE4-15D195331CC0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8" name="btfpColumnGapBlocker385565">
              <a:extLst>
                <a:ext uri="{FF2B5EF4-FFF2-40B4-BE49-F238E27FC236}">
                  <a16:creationId xmlns:a16="http://schemas.microsoft.com/office/drawing/2014/main" id="{9410D02D-E3C8-783B-EC6F-3AA8062AB315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6" name="btfpColumnIndicator962803">
              <a:extLst>
                <a:ext uri="{FF2B5EF4-FFF2-40B4-BE49-F238E27FC236}">
                  <a16:creationId xmlns:a16="http://schemas.microsoft.com/office/drawing/2014/main" id="{8D56B86B-DA8D-EBBB-EBBF-122DBF39216B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btfpColumnIndicator200631">
              <a:extLst>
                <a:ext uri="{FF2B5EF4-FFF2-40B4-BE49-F238E27FC236}">
                  <a16:creationId xmlns:a16="http://schemas.microsoft.com/office/drawing/2014/main" id="{2914174E-C18A-5886-808A-8CB606C8D808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btfpColumnIndicatorGroup1">
            <a:extLst>
              <a:ext uri="{FF2B5EF4-FFF2-40B4-BE49-F238E27FC236}">
                <a16:creationId xmlns:a16="http://schemas.microsoft.com/office/drawing/2014/main" id="{3194B4A2-EAD8-8B15-E657-BD4407C53E15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9" name="btfpColumnGapBlocker615338">
              <a:extLst>
                <a:ext uri="{FF2B5EF4-FFF2-40B4-BE49-F238E27FC236}">
                  <a16:creationId xmlns:a16="http://schemas.microsoft.com/office/drawing/2014/main" id="{737646B2-42A6-1B15-80A0-CC8F44D85B54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7" name="btfpColumnGapBlocker207263">
              <a:extLst>
                <a:ext uri="{FF2B5EF4-FFF2-40B4-BE49-F238E27FC236}">
                  <a16:creationId xmlns:a16="http://schemas.microsoft.com/office/drawing/2014/main" id="{0F71C4DE-5815-BE87-249C-3207646843CE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5" name="btfpColumnIndicator581076">
              <a:extLst>
                <a:ext uri="{FF2B5EF4-FFF2-40B4-BE49-F238E27FC236}">
                  <a16:creationId xmlns:a16="http://schemas.microsoft.com/office/drawing/2014/main" id="{D0361504-BE61-A2E4-75D9-F95CE930E9E6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btfpColumnIndicator233293">
              <a:extLst>
                <a:ext uri="{FF2B5EF4-FFF2-40B4-BE49-F238E27FC236}">
                  <a16:creationId xmlns:a16="http://schemas.microsoft.com/office/drawing/2014/main" id="{C2384F53-9DB5-147D-8542-99A2EE6AC9F3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E879FCB-4EB6-869C-5891-C86680479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b="1"/>
              <a:t>Summary:</a:t>
            </a:r>
            <a:r>
              <a:rPr lang="en-US"/>
              <a:t> Proposed approach for </a:t>
            </a:r>
            <a:r>
              <a:rPr lang="en-US" err="1"/>
              <a:t>Sagility</a:t>
            </a:r>
            <a:r>
              <a:rPr lang="en-US"/>
              <a:t> to build an adjacent business in Pharma Commercialization (2/2)</a:t>
            </a:r>
          </a:p>
        </p:txBody>
      </p:sp>
      <p:sp>
        <p:nvSpPr>
          <p:cNvPr id="16" name="btfpBulletedList735532">
            <a:extLst>
              <a:ext uri="{FF2B5EF4-FFF2-40B4-BE49-F238E27FC236}">
                <a16:creationId xmlns:a16="http://schemas.microsoft.com/office/drawing/2014/main" id="{40539D1F-4AF1-E13A-0CBF-27126B3F97CE}"/>
              </a:ext>
            </a:extLst>
          </p:cNvPr>
          <p:cNvSpPr/>
          <p:nvPr/>
        </p:nvSpPr>
        <p:spPr bwMode="gray">
          <a:xfrm>
            <a:off x="330200" y="1101080"/>
            <a:ext cx="11531600" cy="5126399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100" b="1" dirty="0" err="1">
                <a:solidFill>
                  <a:srgbClr val="C00000"/>
                </a:solidFill>
              </a:rPr>
              <a:t>Sagility</a:t>
            </a:r>
            <a:r>
              <a:rPr lang="en-US" sz="1100" b="1" dirty="0">
                <a:solidFill>
                  <a:srgbClr val="C00000"/>
                </a:solidFill>
              </a:rPr>
              <a:t> already has strong existing talent to support select ops-heavy activities within Commercial S&amp;M and Patient Engagement, but will require targeted capability enhancement to establish deeper domain credibility </a:t>
            </a:r>
          </a:p>
          <a:p>
            <a:pPr lvl="1"/>
            <a:r>
              <a:rPr lang="en-US" sz="900" u="sng" dirty="0">
                <a:solidFill>
                  <a:schemeClr val="tx1"/>
                </a:solidFill>
              </a:rPr>
              <a:t>Commercial S&amp;M</a:t>
            </a:r>
            <a:r>
              <a:rPr lang="en-US" sz="900" dirty="0">
                <a:solidFill>
                  <a:schemeClr val="tx1"/>
                </a:solidFill>
              </a:rPr>
              <a:t>: </a:t>
            </a:r>
            <a:r>
              <a:rPr lang="en-US" sz="900" dirty="0" err="1">
                <a:solidFill>
                  <a:schemeClr val="tx1"/>
                </a:solidFill>
              </a:rPr>
              <a:t>Sagility</a:t>
            </a:r>
            <a:r>
              <a:rPr lang="en-US" sz="900" dirty="0">
                <a:solidFill>
                  <a:schemeClr val="tx1"/>
                </a:solidFill>
              </a:rPr>
              <a:t> has a credible operational base in analytics, CRM workflow support, and reporting, but must augment with medically literate domain SMEs, platform-certified talent (e.g., Veeva/SFDC), and structured promotional compliance training to deliver commercialization-ready execution</a:t>
            </a:r>
          </a:p>
          <a:p>
            <a:pPr lvl="1"/>
            <a:r>
              <a:rPr lang="en-US" sz="900" u="sng" dirty="0">
                <a:solidFill>
                  <a:schemeClr val="tx1"/>
                </a:solidFill>
              </a:rPr>
              <a:t>Patient Engagement</a:t>
            </a:r>
            <a:r>
              <a:rPr lang="en-US" sz="900" dirty="0">
                <a:solidFill>
                  <a:schemeClr val="tx1"/>
                </a:solidFill>
              </a:rPr>
              <a:t>: </a:t>
            </a:r>
            <a:r>
              <a:rPr lang="en-US" sz="900" dirty="0" err="1">
                <a:solidFill>
                  <a:schemeClr val="tx1"/>
                </a:solidFill>
              </a:rPr>
              <a:t>Sagility’s</a:t>
            </a:r>
            <a:r>
              <a:rPr lang="en-US" sz="900" dirty="0">
                <a:solidFill>
                  <a:schemeClr val="tx1"/>
                </a:solidFill>
              </a:rPr>
              <a:t> existing hub and contact center infrastructure provides a scalable foundation for structured outreach, but requires therapy-area training, compliant engagement scripting, and enhanced adverse event escalation capabilities to support specialty-focused adherence programs</a:t>
            </a:r>
          </a:p>
          <a:p>
            <a:pPr lvl="1"/>
            <a:r>
              <a:rPr lang="en-US" sz="900" u="sng" dirty="0">
                <a:solidFill>
                  <a:schemeClr val="tx1"/>
                </a:solidFill>
              </a:rPr>
              <a:t>Medical Affairs</a:t>
            </a:r>
            <a:r>
              <a:rPr lang="en-US" sz="900" dirty="0">
                <a:solidFill>
                  <a:schemeClr val="tx1"/>
                </a:solidFill>
              </a:rPr>
              <a:t>: Limited direct adjacency and must build credibility through senior PharmD/PhD leadership, TA-experienced medical SMEs, and robust non-promotional governance frameworks to compete effectively in scientifically sensitive engagements</a:t>
            </a:r>
            <a:endParaRPr lang="en-US" sz="900" b="1" dirty="0">
              <a:solidFill>
                <a:schemeClr val="tx1"/>
              </a:solidFill>
            </a:endParaRPr>
          </a:p>
          <a:p>
            <a:r>
              <a:rPr lang="en-US" sz="1100" b="1" dirty="0" err="1">
                <a:solidFill>
                  <a:srgbClr val="C00000"/>
                </a:solidFill>
                <a:latin typeface="Arial" panose="020B0604020202020204" pitchFamily="34" charset="0"/>
              </a:rPr>
              <a:t>Sagility’s</a:t>
            </a:r>
            <a:r>
              <a:rPr lang="en-US" sz="1100" b="1" dirty="0">
                <a:solidFill>
                  <a:srgbClr val="C00000"/>
                </a:solidFill>
                <a:latin typeface="Arial" panose="020B0604020202020204" pitchFamily="34" charset="0"/>
              </a:rPr>
              <a:t> operational tech stack (CRM familiarity, cloud infrastructure, contact center platforms, workflow-led delivery, reporting) provides a scalable backbone; closing competitiveness gaps will require a hybrid build–partner approach </a:t>
            </a: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</a:rPr>
              <a:t>– developing lightweight workflow IP in-house (e.g., content ops accelerators, analytics templates) while partnering with established platforms for digital content factory, omnichannel orchestration, and AI-enabled BI to avoid heavy capex and accelerate time-to-market</a:t>
            </a:r>
          </a:p>
          <a:p>
            <a:pPr lvl="1"/>
            <a:r>
              <a:rPr lang="en-US" sz="900" dirty="0">
                <a:solidFill>
                  <a:schemeClr val="tx1"/>
                </a:solidFill>
              </a:rPr>
              <a:t>Example (inhouse IP): </a:t>
            </a:r>
            <a:r>
              <a:rPr lang="en-US" sz="900" dirty="0" err="1">
                <a:solidFill>
                  <a:schemeClr val="tx1"/>
                </a:solidFill>
              </a:rPr>
              <a:t>Indegene</a:t>
            </a:r>
            <a:r>
              <a:rPr lang="en-US" sz="900" dirty="0">
                <a:solidFill>
                  <a:schemeClr val="tx1"/>
                </a:solidFill>
              </a:rPr>
              <a:t> has multiple inhouse IP such as automated content creation and approval, HCP engagement platform; </a:t>
            </a:r>
            <a:r>
              <a:rPr lang="en-US" sz="900" dirty="0" err="1">
                <a:solidFill>
                  <a:schemeClr val="tx1"/>
                </a:solidFill>
              </a:rPr>
              <a:t>Eversana</a:t>
            </a:r>
            <a:r>
              <a:rPr lang="en-US" sz="900" dirty="0">
                <a:solidFill>
                  <a:schemeClr val="tx1"/>
                </a:solidFill>
              </a:rPr>
              <a:t> has 3 niche platforms focused on reporting and benchmarking (</a:t>
            </a:r>
            <a:r>
              <a:rPr lang="en-US" sz="900" dirty="0" err="1">
                <a:solidFill>
                  <a:schemeClr val="tx1"/>
                </a:solidFill>
              </a:rPr>
              <a:t>Intellicenter</a:t>
            </a:r>
            <a:r>
              <a:rPr lang="en-US" sz="900" dirty="0">
                <a:solidFill>
                  <a:schemeClr val="tx1"/>
                </a:solidFill>
              </a:rPr>
              <a:t>) and sales analytics (ACTICS)</a:t>
            </a:r>
          </a:p>
          <a:p>
            <a:pPr lvl="1"/>
            <a:r>
              <a:rPr lang="en-US" sz="900" dirty="0">
                <a:solidFill>
                  <a:schemeClr val="tx1"/>
                </a:solidFill>
              </a:rPr>
              <a:t>Example (partnerships): </a:t>
            </a:r>
            <a:r>
              <a:rPr lang="en-US" sz="900" dirty="0" err="1">
                <a:solidFill>
                  <a:schemeClr val="tx1"/>
                </a:solidFill>
              </a:rPr>
              <a:t>Indegene</a:t>
            </a:r>
            <a:r>
              <a:rPr lang="en-US" sz="900" dirty="0">
                <a:solidFill>
                  <a:schemeClr val="tx1"/>
                </a:solidFill>
              </a:rPr>
              <a:t> has 2 established partnerships with industry leaders, i.e., MS Dynamics (CRM) and Veeva (content creation); </a:t>
            </a:r>
            <a:r>
              <a:rPr lang="en-US" sz="900" dirty="0" err="1">
                <a:solidFill>
                  <a:schemeClr val="tx1"/>
                </a:solidFill>
              </a:rPr>
              <a:t>Eversana</a:t>
            </a:r>
            <a:r>
              <a:rPr lang="en-US" sz="900" dirty="0">
                <a:solidFill>
                  <a:schemeClr val="tx1"/>
                </a:solidFill>
              </a:rPr>
              <a:t> has partnerships with </a:t>
            </a:r>
            <a:r>
              <a:rPr lang="en-US" sz="900" dirty="0" err="1">
                <a:solidFill>
                  <a:schemeClr val="tx1"/>
                </a:solidFill>
              </a:rPr>
              <a:t>GoMo</a:t>
            </a:r>
            <a:r>
              <a:rPr lang="en-US" sz="900" dirty="0">
                <a:solidFill>
                  <a:schemeClr val="tx1"/>
                </a:solidFill>
              </a:rPr>
              <a:t> Health (Patient engagement platform), Symphony (access to patients claims data – now part of IQVIA)</a:t>
            </a:r>
          </a:p>
          <a:p>
            <a:r>
              <a:rPr lang="en-US" sz="1100" b="1" dirty="0">
                <a:solidFill>
                  <a:srgbClr val="C00000"/>
                </a:solidFill>
              </a:rPr>
              <a:t>A three-pronged phased GTM strategy is recommended for successful market entry – building sales and solutioning, credibility-led marketing and a high caliber advisor; this can be executed in a staggered manner, starting with a practice lead and senior advisor, and adding domain SMEs and hunters as traction builds</a:t>
            </a:r>
            <a:endParaRPr lang="en-US" sz="1100" b="1" dirty="0">
              <a:solidFill>
                <a:schemeClr val="tx1"/>
              </a:solidFill>
            </a:endParaRPr>
          </a:p>
          <a:p>
            <a:pPr lvl="1"/>
            <a:r>
              <a:rPr lang="en-US" sz="900" u="sng" dirty="0">
                <a:solidFill>
                  <a:schemeClr val="tx1"/>
                </a:solidFill>
              </a:rPr>
              <a:t>Sales and solutioning:</a:t>
            </a:r>
            <a:r>
              <a:rPr lang="en-US" sz="900" dirty="0">
                <a:solidFill>
                  <a:schemeClr val="tx1"/>
                </a:solidFill>
              </a:rPr>
              <a:t> Build a dedicated Pharma sales and domain SME talent base by hiring </a:t>
            </a:r>
            <a:r>
              <a:rPr lang="en-US" sz="900" b="1" i="1" u="sng" dirty="0">
                <a:solidFill>
                  <a:schemeClr val="tx1"/>
                </a:solidFill>
              </a:rPr>
              <a:t>&lt;in-house availability of select resources to be tested with </a:t>
            </a:r>
            <a:r>
              <a:rPr lang="en-US" sz="900" b="1" i="1" u="sng" dirty="0" err="1">
                <a:solidFill>
                  <a:schemeClr val="tx1"/>
                </a:solidFill>
              </a:rPr>
              <a:t>Sagility</a:t>
            </a:r>
            <a:r>
              <a:rPr lang="en-US" sz="900" b="1" i="1" u="sng" dirty="0">
                <a:solidFill>
                  <a:schemeClr val="tx1"/>
                </a:solidFill>
              </a:rPr>
              <a:t> team&gt;</a:t>
            </a:r>
            <a:endParaRPr lang="en-US" sz="900" dirty="0">
              <a:solidFill>
                <a:schemeClr val="tx1"/>
              </a:solidFill>
            </a:endParaRPr>
          </a:p>
          <a:p>
            <a:pPr lvl="2"/>
            <a:r>
              <a:rPr lang="en-US" sz="900" dirty="0">
                <a:solidFill>
                  <a:schemeClr val="tx1"/>
                </a:solidFill>
              </a:rPr>
              <a:t>Seasoned Commercial Lead with 15-20 years of Pharma experience who can define the entry wedge, shape ROI-led offerings, and anchor senior client engagement </a:t>
            </a:r>
          </a:p>
          <a:p>
            <a:pPr lvl="2"/>
            <a:r>
              <a:rPr lang="en-US" sz="900" dirty="0">
                <a:solidFill>
                  <a:schemeClr val="tx1"/>
                </a:solidFill>
              </a:rPr>
              <a:t>Domain SMEs across service lines who can translate pain points into compliant, scalable solutions</a:t>
            </a:r>
          </a:p>
          <a:p>
            <a:pPr lvl="2"/>
            <a:r>
              <a:rPr lang="en-US" sz="900" dirty="0">
                <a:solidFill>
                  <a:schemeClr val="tx1"/>
                </a:solidFill>
              </a:rPr>
              <a:t>Sales hunter with established OEM relationships to drive new logo acquisition; and (d) delivery leadership and relevant talent with Pharma governance and regulatory discipline to ensure scale, high quality delivery</a:t>
            </a:r>
          </a:p>
          <a:p>
            <a:pPr lvl="1"/>
            <a:r>
              <a:rPr lang="en-US" sz="900" u="sng" dirty="0">
                <a:solidFill>
                  <a:schemeClr val="tx1"/>
                </a:solidFill>
              </a:rPr>
              <a:t>Marketing/ lead generation</a:t>
            </a:r>
            <a:r>
              <a:rPr lang="en-US" sz="900" dirty="0">
                <a:solidFill>
                  <a:schemeClr val="tx1"/>
                </a:solidFill>
              </a:rPr>
              <a:t>: Drive targeted lead generation via industry conferences (e.g., Fierce Pharma Week) and presence in relevant industry publications</a:t>
            </a:r>
          </a:p>
          <a:p>
            <a:pPr lvl="1"/>
            <a:r>
              <a:rPr lang="en-US" sz="900" u="sng" dirty="0">
                <a:solidFill>
                  <a:schemeClr val="tx1"/>
                </a:solidFill>
              </a:rPr>
              <a:t>Advisory board:</a:t>
            </a:r>
            <a:r>
              <a:rPr lang="en-US" sz="900" dirty="0">
                <a:solidFill>
                  <a:schemeClr val="tx1"/>
                </a:solidFill>
              </a:rPr>
              <a:t> Establish a senior Pharma advisory board with one former CXO to accelerate credibility and access, open doors within target accounts, help refine client pitches, and guide early account strategy</a:t>
            </a:r>
          </a:p>
          <a:p>
            <a:r>
              <a:rPr lang="en-US" sz="1100" b="1" dirty="0">
                <a:solidFill>
                  <a:srgbClr val="C00000"/>
                </a:solidFill>
              </a:rPr>
              <a:t>A phased, hybrid path-to-scale strategy can maximize speed and credibility – A) organic expansion into Commercial S&amp;M and Patient Engagement, and B) acquisition-led entry into Medical Affairs</a:t>
            </a:r>
          </a:p>
          <a:p>
            <a:pPr lvl="1"/>
            <a:r>
              <a:rPr lang="en-US" sz="900" u="sng" dirty="0">
                <a:solidFill>
                  <a:schemeClr val="tx1"/>
                </a:solidFill>
              </a:rPr>
              <a:t>Commercial S&amp;M and Patient Engagement</a:t>
            </a:r>
            <a:r>
              <a:rPr lang="en-US" sz="900" dirty="0">
                <a:solidFill>
                  <a:schemeClr val="tx1"/>
                </a:solidFill>
              </a:rPr>
              <a:t>: Build organically by leveraging a) existing operational capability &amp; talent overlap, and b) moderate-to-high customer openness; supplement with targeted senior position hiring</a:t>
            </a:r>
          </a:p>
          <a:p>
            <a:pPr lvl="1"/>
            <a:r>
              <a:rPr lang="en-US" sz="900" u="sng" dirty="0">
                <a:solidFill>
                  <a:schemeClr val="tx1"/>
                </a:solidFill>
              </a:rPr>
              <a:t>Medical Affairs</a:t>
            </a:r>
            <a:r>
              <a:rPr lang="en-US" sz="900" dirty="0">
                <a:solidFill>
                  <a:schemeClr val="tx1"/>
                </a:solidFill>
              </a:rPr>
              <a:t>: Inorganic expansion will accelerate scientific credibility, talent / capability acquisition, regulatory track record, and referenceable client base</a:t>
            </a:r>
            <a:endParaRPr lang="en-US" sz="9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5" name="btfpNumberBubble399258">
            <a:extLst>
              <a:ext uri="{FF2B5EF4-FFF2-40B4-BE49-F238E27FC236}">
                <a16:creationId xmlns:a16="http://schemas.microsoft.com/office/drawing/2014/main" id="{F2C9ACD8-9700-5539-38CE-0FBED33F4A5E}"/>
              </a:ext>
            </a:extLst>
          </p:cNvPr>
          <p:cNvSpPr/>
          <p:nvPr/>
        </p:nvSpPr>
        <p:spPr bwMode="gray">
          <a:xfrm>
            <a:off x="231440" y="1099406"/>
            <a:ext cx="262396" cy="26239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400" b="1">
                <a:solidFill>
                  <a:srgbClr val="CC0000"/>
                </a:solidFill>
              </a:rPr>
              <a:t>5</a:t>
            </a:r>
          </a:p>
        </p:txBody>
      </p:sp>
      <p:sp>
        <p:nvSpPr>
          <p:cNvPr id="36" name="btfpNumberBubble399258">
            <a:extLst>
              <a:ext uri="{FF2B5EF4-FFF2-40B4-BE49-F238E27FC236}">
                <a16:creationId xmlns:a16="http://schemas.microsoft.com/office/drawing/2014/main" id="{B5AEC097-A9F5-0A2C-A890-78E4E9CE6F56}"/>
              </a:ext>
            </a:extLst>
          </p:cNvPr>
          <p:cNvSpPr/>
          <p:nvPr/>
        </p:nvSpPr>
        <p:spPr bwMode="gray">
          <a:xfrm>
            <a:off x="231440" y="2657454"/>
            <a:ext cx="262396" cy="26239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400" b="1">
                <a:solidFill>
                  <a:srgbClr val="CC0000"/>
                </a:solidFill>
              </a:rPr>
              <a:t>6</a:t>
            </a:r>
          </a:p>
        </p:txBody>
      </p:sp>
      <p:sp>
        <p:nvSpPr>
          <p:cNvPr id="37" name="btfpNumberBubble399258">
            <a:extLst>
              <a:ext uri="{FF2B5EF4-FFF2-40B4-BE49-F238E27FC236}">
                <a16:creationId xmlns:a16="http://schemas.microsoft.com/office/drawing/2014/main" id="{6E0E17DB-4AD4-6CE1-C251-1258E8DD6104}"/>
              </a:ext>
            </a:extLst>
          </p:cNvPr>
          <p:cNvSpPr/>
          <p:nvPr/>
        </p:nvSpPr>
        <p:spPr bwMode="gray">
          <a:xfrm>
            <a:off x="231440" y="3997802"/>
            <a:ext cx="262396" cy="26239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400" b="1">
                <a:solidFill>
                  <a:srgbClr val="CC0000"/>
                </a:solidFill>
              </a:rPr>
              <a:t>7</a:t>
            </a:r>
          </a:p>
        </p:txBody>
      </p:sp>
      <p:sp>
        <p:nvSpPr>
          <p:cNvPr id="18" name="btfpNumberBubble399258">
            <a:extLst>
              <a:ext uri="{FF2B5EF4-FFF2-40B4-BE49-F238E27FC236}">
                <a16:creationId xmlns:a16="http://schemas.microsoft.com/office/drawing/2014/main" id="{1DC83BAA-D330-B7C3-5C7E-98FE9EB642EB}"/>
              </a:ext>
            </a:extLst>
          </p:cNvPr>
          <p:cNvSpPr/>
          <p:nvPr/>
        </p:nvSpPr>
        <p:spPr bwMode="gray">
          <a:xfrm>
            <a:off x="231440" y="5769582"/>
            <a:ext cx="262396" cy="26239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400" b="1" dirty="0">
                <a:solidFill>
                  <a:srgbClr val="CC0000"/>
                </a:solidFill>
              </a:rPr>
              <a:t>8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398087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63DB8-7B39-8D92-2B19-B7B38BC33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hink-cell data - do not delete" hidden="1">
            <a:extLst>
              <a:ext uri="{FF2B5EF4-FFF2-40B4-BE49-F238E27FC236}">
                <a16:creationId xmlns:a16="http://schemas.microsoft.com/office/drawing/2014/main" id="{9245DFB6-B23E-8FE4-FD80-81976ABBAC6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9932579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606" imgH="608" progId="TCLayout.ActiveDocument.1">
                  <p:embed/>
                </p:oleObj>
              </mc:Choice>
              <mc:Fallback>
                <p:oleObj name="think-cell Slide" r:id="rId6" imgW="606" imgH="608" progId="TCLayout.ActiveDocument.1">
                  <p:embed/>
                  <p:pic>
                    <p:nvPicPr>
                      <p:cNvPr id="2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245DFB6-B23E-8FE4-FD80-81976ABBAC6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btfpColumnIndicatorGroup2">
            <a:extLst>
              <a:ext uri="{FF2B5EF4-FFF2-40B4-BE49-F238E27FC236}">
                <a16:creationId xmlns:a16="http://schemas.microsoft.com/office/drawing/2014/main" id="{F57151D3-7653-39B4-CA15-DB66183C3601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10" name="btfpColumnGapBlocker820145">
              <a:extLst>
                <a:ext uri="{FF2B5EF4-FFF2-40B4-BE49-F238E27FC236}">
                  <a16:creationId xmlns:a16="http://schemas.microsoft.com/office/drawing/2014/main" id="{75DFA5BB-694B-67BF-C2BA-C29B2984B62A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8" name="btfpColumnGapBlocker876350">
              <a:extLst>
                <a:ext uri="{FF2B5EF4-FFF2-40B4-BE49-F238E27FC236}">
                  <a16:creationId xmlns:a16="http://schemas.microsoft.com/office/drawing/2014/main" id="{EF5E51F9-FAB0-AE02-A3AF-4E6D1CF986ED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6" name="btfpColumnIndicator785732">
              <a:extLst>
                <a:ext uri="{FF2B5EF4-FFF2-40B4-BE49-F238E27FC236}">
                  <a16:creationId xmlns:a16="http://schemas.microsoft.com/office/drawing/2014/main" id="{774879E9-39C3-30EC-64C8-BE614B3D43E5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btfpColumnIndicator890798">
              <a:extLst>
                <a:ext uri="{FF2B5EF4-FFF2-40B4-BE49-F238E27FC236}">
                  <a16:creationId xmlns:a16="http://schemas.microsoft.com/office/drawing/2014/main" id="{7030468A-D237-7678-B9C7-1109BFD3C625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btfpColumnIndicatorGroup1">
            <a:extLst>
              <a:ext uri="{FF2B5EF4-FFF2-40B4-BE49-F238E27FC236}">
                <a16:creationId xmlns:a16="http://schemas.microsoft.com/office/drawing/2014/main" id="{F4ED182A-3184-4272-3049-5C9510ECCAF4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9" name="btfpColumnGapBlocker539287">
              <a:extLst>
                <a:ext uri="{FF2B5EF4-FFF2-40B4-BE49-F238E27FC236}">
                  <a16:creationId xmlns:a16="http://schemas.microsoft.com/office/drawing/2014/main" id="{7BAC785C-0BD0-17F0-B800-0BB449595DDC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7" name="btfpColumnGapBlocker652019">
              <a:extLst>
                <a:ext uri="{FF2B5EF4-FFF2-40B4-BE49-F238E27FC236}">
                  <a16:creationId xmlns:a16="http://schemas.microsoft.com/office/drawing/2014/main" id="{19494C26-17E3-6F8C-51FA-53591891DA9E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5" name="btfpColumnIndicator825419">
              <a:extLst>
                <a:ext uri="{FF2B5EF4-FFF2-40B4-BE49-F238E27FC236}">
                  <a16:creationId xmlns:a16="http://schemas.microsoft.com/office/drawing/2014/main" id="{C3D900FF-712F-ABCC-92FE-67BE9C76E292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btfpColumnIndicator696641">
              <a:extLst>
                <a:ext uri="{FF2B5EF4-FFF2-40B4-BE49-F238E27FC236}">
                  <a16:creationId xmlns:a16="http://schemas.microsoft.com/office/drawing/2014/main" id="{5A95708B-1B22-A8C7-D02D-51C690AF36C5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F6F99AE-7443-A2CE-8ED2-10F9BE879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1"/>
            <a:ext cx="11857037" cy="876687"/>
          </a:xfrm>
        </p:spPr>
        <p:txBody>
          <a:bodyPr vert="horz"/>
          <a:lstStyle/>
          <a:p>
            <a:r>
              <a:rPr lang="en-US" b="1" dirty="0"/>
              <a:t>Services lines: </a:t>
            </a:r>
            <a:r>
              <a:rPr lang="en-US" dirty="0"/>
              <a:t>The Pharma commercialization value chain has 4 elements, with Commercial and Patient Engagement showing most overlap with </a:t>
            </a:r>
            <a:r>
              <a:rPr lang="en-US" dirty="0" err="1"/>
              <a:t>Sagility’s</a:t>
            </a:r>
            <a:r>
              <a:rPr lang="en-US" dirty="0"/>
              <a:t> capabilities</a:t>
            </a:r>
            <a:endParaRPr lang="en-US" b="1" dirty="0"/>
          </a:p>
        </p:txBody>
      </p:sp>
      <p:sp>
        <p:nvSpPr>
          <p:cNvPr id="18" name="btfpBulletedList288256">
            <a:extLst>
              <a:ext uri="{FF2B5EF4-FFF2-40B4-BE49-F238E27FC236}">
                <a16:creationId xmlns:a16="http://schemas.microsoft.com/office/drawing/2014/main" id="{D543B0F5-7499-5CCE-088A-4BCEDFF9724F}"/>
              </a:ext>
            </a:extLst>
          </p:cNvPr>
          <p:cNvSpPr/>
          <p:nvPr/>
        </p:nvSpPr>
        <p:spPr bwMode="gray">
          <a:xfrm>
            <a:off x="334963" y="2679728"/>
            <a:ext cx="2349552" cy="3885230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900"/>
              </a:spcBef>
            </a:pPr>
            <a:r>
              <a:rPr lang="en-US" sz="1400" b="1">
                <a:solidFill>
                  <a:schemeClr val="accent4"/>
                </a:solidFill>
              </a:rPr>
              <a:t>Define medical strategy and scientific positioning</a:t>
            </a:r>
          </a:p>
          <a:p>
            <a:pPr>
              <a:spcBef>
                <a:spcPts val="900"/>
              </a:spcBef>
            </a:pPr>
            <a:r>
              <a:rPr lang="en-US" sz="1400" b="1">
                <a:solidFill>
                  <a:schemeClr val="accent4"/>
                </a:solidFill>
              </a:rPr>
              <a:t>Drive KOL</a:t>
            </a:r>
            <a:r>
              <a:rPr lang="en-US" sz="1400" b="1" baseline="30000">
                <a:solidFill>
                  <a:schemeClr val="accent4"/>
                </a:solidFill>
              </a:rPr>
              <a:t>1</a:t>
            </a:r>
            <a:r>
              <a:rPr lang="en-US" sz="1400" b="1">
                <a:solidFill>
                  <a:schemeClr val="accent4"/>
                </a:solidFill>
              </a:rPr>
              <a:t> engagement and MSL</a:t>
            </a:r>
            <a:r>
              <a:rPr lang="en-US" sz="1400" b="1" baseline="30000">
                <a:solidFill>
                  <a:schemeClr val="accent4"/>
                </a:solidFill>
              </a:rPr>
              <a:t>2</a:t>
            </a:r>
            <a:r>
              <a:rPr lang="en-US" sz="1400" b="1">
                <a:solidFill>
                  <a:schemeClr val="accent4"/>
                </a:solidFill>
              </a:rPr>
              <a:t> scientific exchange</a:t>
            </a:r>
          </a:p>
          <a:p>
            <a:pPr>
              <a:spcBef>
                <a:spcPts val="900"/>
              </a:spcBef>
            </a:pPr>
            <a:r>
              <a:rPr lang="en-US" sz="1400" b="1">
                <a:solidFill>
                  <a:schemeClr val="accent4"/>
                </a:solidFill>
              </a:rPr>
              <a:t>Conduct medical research, HEOR</a:t>
            </a:r>
            <a:r>
              <a:rPr lang="en-US" sz="1400" b="1" baseline="30000">
                <a:solidFill>
                  <a:schemeClr val="accent4"/>
                </a:solidFill>
              </a:rPr>
              <a:t>3</a:t>
            </a:r>
            <a:r>
              <a:rPr lang="en-US" sz="1400" b="1">
                <a:solidFill>
                  <a:schemeClr val="accent4"/>
                </a:solidFill>
              </a:rPr>
              <a:t> and RWE</a:t>
            </a:r>
            <a:r>
              <a:rPr lang="en-US" sz="1400" b="1" baseline="30000">
                <a:solidFill>
                  <a:schemeClr val="accent4"/>
                </a:solidFill>
              </a:rPr>
              <a:t>4</a:t>
            </a:r>
            <a:r>
              <a:rPr lang="en-US" sz="1400" b="1">
                <a:solidFill>
                  <a:schemeClr val="accent4"/>
                </a:solidFill>
              </a:rPr>
              <a:t> analysis</a:t>
            </a:r>
          </a:p>
          <a:p>
            <a:pPr>
              <a:spcBef>
                <a:spcPts val="900"/>
              </a:spcBef>
            </a:pPr>
            <a:r>
              <a:rPr lang="en-US" sz="1400" b="1">
                <a:solidFill>
                  <a:schemeClr val="accent4"/>
                </a:solidFill>
              </a:rPr>
              <a:t>Develop scientific content and manage MLR</a:t>
            </a:r>
            <a:r>
              <a:rPr lang="en-US" sz="1400" b="1" baseline="30000">
                <a:solidFill>
                  <a:schemeClr val="accent4"/>
                </a:solidFill>
              </a:rPr>
              <a:t>5 </a:t>
            </a:r>
            <a:r>
              <a:rPr lang="en-US" sz="1400" b="1">
                <a:solidFill>
                  <a:schemeClr val="accent4"/>
                </a:solidFill>
              </a:rPr>
              <a:t>review and approval processes</a:t>
            </a:r>
            <a:endParaRPr lang="en-US" sz="1400" b="1" baseline="30000">
              <a:solidFill>
                <a:schemeClr val="accent4"/>
              </a:solidFill>
            </a:endParaRPr>
          </a:p>
        </p:txBody>
      </p:sp>
      <p:sp>
        <p:nvSpPr>
          <p:cNvPr id="19" name="btfpBulletedList288256">
            <a:extLst>
              <a:ext uri="{FF2B5EF4-FFF2-40B4-BE49-F238E27FC236}">
                <a16:creationId xmlns:a16="http://schemas.microsoft.com/office/drawing/2014/main" id="{85E81064-5C54-52EE-DC69-A6E0C6C6F03B}"/>
              </a:ext>
            </a:extLst>
          </p:cNvPr>
          <p:cNvSpPr/>
          <p:nvPr/>
        </p:nvSpPr>
        <p:spPr bwMode="gray">
          <a:xfrm>
            <a:off x="3329665" y="2679729"/>
            <a:ext cx="2349552" cy="388522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900"/>
              </a:spcBef>
            </a:pPr>
            <a:r>
              <a:rPr lang="en-US" sz="1400" b="1">
                <a:solidFill>
                  <a:schemeClr val="accent5"/>
                </a:solidFill>
              </a:rPr>
              <a:t>Monitor, collect, and triage adverse events</a:t>
            </a:r>
          </a:p>
          <a:p>
            <a:pPr>
              <a:spcBef>
                <a:spcPts val="900"/>
              </a:spcBef>
            </a:pPr>
            <a:r>
              <a:rPr lang="en-US" sz="1400" b="1">
                <a:solidFill>
                  <a:schemeClr val="accent5"/>
                </a:solidFill>
              </a:rPr>
              <a:t>Ensure case processing,  reporting &amp; global safety compliance</a:t>
            </a:r>
          </a:p>
          <a:p>
            <a:pPr>
              <a:spcBef>
                <a:spcPts val="900"/>
              </a:spcBef>
            </a:pPr>
            <a:r>
              <a:rPr lang="en-US" sz="1400" b="1">
                <a:solidFill>
                  <a:schemeClr val="accent5"/>
                </a:solidFill>
              </a:rPr>
              <a:t>Conduct signal detection, aggregate reporting &amp; risk mgmt.</a:t>
            </a:r>
          </a:p>
          <a:p>
            <a:pPr>
              <a:spcBef>
                <a:spcPts val="900"/>
              </a:spcBef>
            </a:pPr>
            <a:r>
              <a:rPr lang="en-US" sz="1400" b="1">
                <a:solidFill>
                  <a:schemeClr val="accent5"/>
                </a:solidFill>
              </a:rPr>
              <a:t>Support regulatory submissions and post-marketing safety commitments</a:t>
            </a:r>
          </a:p>
        </p:txBody>
      </p:sp>
      <p:sp>
        <p:nvSpPr>
          <p:cNvPr id="20" name="btfpBulletedList288256">
            <a:extLst>
              <a:ext uri="{FF2B5EF4-FFF2-40B4-BE49-F238E27FC236}">
                <a16:creationId xmlns:a16="http://schemas.microsoft.com/office/drawing/2014/main" id="{B19A806E-203E-C5D7-AFE9-15447183C778}"/>
              </a:ext>
            </a:extLst>
          </p:cNvPr>
          <p:cNvSpPr/>
          <p:nvPr/>
        </p:nvSpPr>
        <p:spPr bwMode="gray">
          <a:xfrm>
            <a:off x="6310513" y="2634856"/>
            <a:ext cx="2349552" cy="4037631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900"/>
              </a:spcBef>
            </a:pPr>
            <a:r>
              <a:rPr lang="en-US" sz="1400" b="1">
                <a:solidFill>
                  <a:schemeClr val="accent6"/>
                </a:solidFill>
              </a:rPr>
              <a:t>Develop brand strategy, launch planning and omnichannel campaigns</a:t>
            </a:r>
          </a:p>
          <a:p>
            <a:pPr>
              <a:spcBef>
                <a:spcPts val="900"/>
              </a:spcBef>
            </a:pPr>
            <a:r>
              <a:rPr lang="en-US" sz="1400" b="1">
                <a:solidFill>
                  <a:schemeClr val="accent6"/>
                </a:solidFill>
              </a:rPr>
              <a:t>Execute field force enablement, inside sales, and CSO</a:t>
            </a:r>
            <a:r>
              <a:rPr lang="en-US" sz="1400" b="1" baseline="30000">
                <a:solidFill>
                  <a:schemeClr val="accent6"/>
                </a:solidFill>
              </a:rPr>
              <a:t>6</a:t>
            </a:r>
            <a:r>
              <a:rPr lang="en-US" sz="1400" b="1">
                <a:solidFill>
                  <a:schemeClr val="accent6"/>
                </a:solidFill>
              </a:rPr>
              <a:t> deployment</a:t>
            </a:r>
          </a:p>
          <a:p>
            <a:pPr>
              <a:spcBef>
                <a:spcPts val="900"/>
              </a:spcBef>
            </a:pPr>
            <a:r>
              <a:rPr lang="en-US" sz="1400" b="1">
                <a:solidFill>
                  <a:schemeClr val="accent6"/>
                </a:solidFill>
              </a:rPr>
              <a:t>Deliver content ops, analytics and marketing automation</a:t>
            </a:r>
          </a:p>
          <a:p>
            <a:pPr>
              <a:spcBef>
                <a:spcPts val="900"/>
              </a:spcBef>
            </a:pPr>
            <a:r>
              <a:rPr lang="en-US" sz="1400" b="1">
                <a:solidFill>
                  <a:schemeClr val="accent6"/>
                </a:solidFill>
              </a:rPr>
              <a:t>Drive commercial ops (forecasting, targeting, incentive comp, CRM)</a:t>
            </a:r>
          </a:p>
        </p:txBody>
      </p:sp>
      <p:sp>
        <p:nvSpPr>
          <p:cNvPr id="21" name="btfpBulletedList288256">
            <a:extLst>
              <a:ext uri="{FF2B5EF4-FFF2-40B4-BE49-F238E27FC236}">
                <a16:creationId xmlns:a16="http://schemas.microsoft.com/office/drawing/2014/main" id="{F4FE3C9C-C49F-B6B0-5E8E-E411B70E4951}"/>
              </a:ext>
            </a:extLst>
          </p:cNvPr>
          <p:cNvSpPr/>
          <p:nvPr/>
        </p:nvSpPr>
        <p:spPr bwMode="gray">
          <a:xfrm>
            <a:off x="9300598" y="2635322"/>
            <a:ext cx="2349552" cy="403762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900"/>
              </a:spcBef>
            </a:pPr>
            <a:r>
              <a:rPr lang="en-US" sz="1400" b="1">
                <a:solidFill>
                  <a:schemeClr val="accent3"/>
                </a:solidFill>
              </a:rPr>
              <a:t>Provide adherence programs, nurse education support and case mgmt.</a:t>
            </a:r>
          </a:p>
          <a:p>
            <a:pPr>
              <a:spcBef>
                <a:spcPts val="900"/>
              </a:spcBef>
            </a:pPr>
            <a:r>
              <a:rPr lang="en-US" sz="1400" b="1">
                <a:solidFill>
                  <a:schemeClr val="accent3"/>
                </a:solidFill>
              </a:rPr>
              <a:t>Operate call centers and omnichannel patient engagement</a:t>
            </a:r>
          </a:p>
          <a:p>
            <a:pPr>
              <a:spcBef>
                <a:spcPts val="900"/>
              </a:spcBef>
            </a:pPr>
            <a:r>
              <a:rPr lang="en-US" sz="1400" b="1">
                <a:solidFill>
                  <a:schemeClr val="accent3"/>
                </a:solidFill>
              </a:rPr>
              <a:t>Administer co-pay assistance, affordability and reimbursement support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F75E8B2-60DE-066B-C499-2E9AB2E7321C}"/>
              </a:ext>
            </a:extLst>
          </p:cNvPr>
          <p:cNvCxnSpPr>
            <a:cxnSpLocks/>
          </p:cNvCxnSpPr>
          <p:nvPr/>
        </p:nvCxnSpPr>
        <p:spPr bwMode="gray">
          <a:xfrm>
            <a:off x="3051102" y="1744700"/>
            <a:ext cx="0" cy="4463952"/>
          </a:xfrm>
          <a:prstGeom prst="line">
            <a:avLst/>
          </a:prstGeom>
          <a:ln w="9525" cap="flat" cmpd="sng" algn="ctr">
            <a:solidFill>
              <a:srgbClr val="D6D6D6"/>
            </a:solidFill>
            <a:prstDash val="dash"/>
            <a:miter lim="800000"/>
            <a:headEnd type="none" w="med" len="med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457F40C-B1BD-A698-071D-BA1888027090}"/>
              </a:ext>
            </a:extLst>
          </p:cNvPr>
          <p:cNvGrpSpPr/>
          <p:nvPr/>
        </p:nvGrpSpPr>
        <p:grpSpPr>
          <a:xfrm>
            <a:off x="344199" y="1710697"/>
            <a:ext cx="2349552" cy="771287"/>
            <a:chOff x="3875676" y="1296771"/>
            <a:chExt cx="3597878" cy="579479"/>
          </a:xfrm>
        </p:grpSpPr>
        <p:sp>
          <p:nvSpPr>
            <p:cNvPr id="27" name="Freeform 9">
              <a:extLst>
                <a:ext uri="{FF2B5EF4-FFF2-40B4-BE49-F238E27FC236}">
                  <a16:creationId xmlns:a16="http://schemas.microsoft.com/office/drawing/2014/main" id="{39323913-E9EF-1789-2968-F77C65BBD4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5676" y="1296771"/>
              <a:ext cx="3597878" cy="579479"/>
            </a:xfrm>
            <a:custGeom>
              <a:avLst/>
              <a:gdLst>
                <a:gd name="T0" fmla="*/ 0 w 1477"/>
                <a:gd name="T1" fmla="*/ 0 h 440"/>
                <a:gd name="T2" fmla="*/ 1392 w 1477"/>
                <a:gd name="T3" fmla="*/ 0 h 440"/>
                <a:gd name="T4" fmla="*/ 1477 w 1477"/>
                <a:gd name="T5" fmla="*/ 217 h 440"/>
                <a:gd name="T6" fmla="*/ 1392 w 1477"/>
                <a:gd name="T7" fmla="*/ 440 h 440"/>
                <a:gd name="T8" fmla="*/ 326 w 1477"/>
                <a:gd name="T9" fmla="*/ 440 h 440"/>
                <a:gd name="connsiteX0" fmla="*/ 0 w 17614"/>
                <a:gd name="connsiteY0" fmla="*/ 0 h 10000"/>
                <a:gd name="connsiteX1" fmla="*/ 17039 w 17614"/>
                <a:gd name="connsiteY1" fmla="*/ 0 h 10000"/>
                <a:gd name="connsiteX2" fmla="*/ 17614 w 17614"/>
                <a:gd name="connsiteY2" fmla="*/ 4932 h 10000"/>
                <a:gd name="connsiteX3" fmla="*/ 17039 w 17614"/>
                <a:gd name="connsiteY3" fmla="*/ 10000 h 10000"/>
                <a:gd name="connsiteX4" fmla="*/ 9821 w 17614"/>
                <a:gd name="connsiteY4" fmla="*/ 10000 h 10000"/>
                <a:gd name="connsiteX0" fmla="*/ 0 w 17692"/>
                <a:gd name="connsiteY0" fmla="*/ 0 h 10000"/>
                <a:gd name="connsiteX1" fmla="*/ 17117 w 17692"/>
                <a:gd name="connsiteY1" fmla="*/ 0 h 10000"/>
                <a:gd name="connsiteX2" fmla="*/ 17692 w 17692"/>
                <a:gd name="connsiteY2" fmla="*/ 4932 h 10000"/>
                <a:gd name="connsiteX3" fmla="*/ 17117 w 17692"/>
                <a:gd name="connsiteY3" fmla="*/ 10000 h 10000"/>
                <a:gd name="connsiteX4" fmla="*/ 9899 w 17692"/>
                <a:gd name="connsiteY4" fmla="*/ 10000 h 10000"/>
                <a:gd name="connsiteX0" fmla="*/ 0 w 17692"/>
                <a:gd name="connsiteY0" fmla="*/ 0 h 10000"/>
                <a:gd name="connsiteX1" fmla="*/ 17117 w 17692"/>
                <a:gd name="connsiteY1" fmla="*/ 0 h 10000"/>
                <a:gd name="connsiteX2" fmla="*/ 17692 w 17692"/>
                <a:gd name="connsiteY2" fmla="*/ 4932 h 10000"/>
                <a:gd name="connsiteX3" fmla="*/ 17117 w 17692"/>
                <a:gd name="connsiteY3" fmla="*/ 10000 h 10000"/>
                <a:gd name="connsiteX4" fmla="*/ 3922 w 17692"/>
                <a:gd name="connsiteY4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92" h="10000">
                  <a:moveTo>
                    <a:pt x="0" y="0"/>
                  </a:moveTo>
                  <a:lnTo>
                    <a:pt x="17117" y="0"/>
                  </a:lnTo>
                  <a:cubicBezTo>
                    <a:pt x="17309" y="1644"/>
                    <a:pt x="17500" y="3288"/>
                    <a:pt x="17692" y="4932"/>
                  </a:cubicBezTo>
                  <a:cubicBezTo>
                    <a:pt x="17500" y="6621"/>
                    <a:pt x="17309" y="8311"/>
                    <a:pt x="17117" y="10000"/>
                  </a:cubicBezTo>
                  <a:lnTo>
                    <a:pt x="3922" y="10000"/>
                  </a:lnTo>
                </a:path>
              </a:pathLst>
            </a:custGeom>
            <a:noFill/>
            <a:ln w="38100" cap="flat" cmpd="sng" algn="ctr">
              <a:solidFill>
                <a:schemeClr val="accent4"/>
              </a:solidFill>
              <a:prstDash val="solid"/>
              <a:miter lim="800000"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indent="0" algn="ctr">
                <a:buNone/>
              </a:pPr>
              <a:r>
                <a:rPr lang="en-US" b="1">
                  <a:solidFill>
                    <a:schemeClr val="accent4"/>
                  </a:solidFill>
                </a:rPr>
                <a:t>MEDICAL AFFAIRS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A4A6E06E-3CCB-7847-6343-AF20482483BE}"/>
                </a:ext>
              </a:extLst>
            </p:cNvPr>
            <p:cNvCxnSpPr>
              <a:cxnSpLocks/>
            </p:cNvCxnSpPr>
            <p:nvPr/>
          </p:nvCxnSpPr>
          <p:spPr bwMode="gray">
            <a:xfrm flipV="1">
              <a:off x="4377318" y="1876250"/>
              <a:ext cx="302293" cy="0"/>
            </a:xfrm>
            <a:prstGeom prst="line">
              <a:avLst/>
            </a:prstGeom>
            <a:noFill/>
            <a:ln w="38100" cap="flat" cmpd="sng" algn="ctr">
              <a:solidFill>
                <a:schemeClr val="accent4"/>
              </a:solidFill>
              <a:prstDash val="solid"/>
              <a:miter lim="800000"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FBC435A-6631-B16F-6EA2-B0FFDA26FBA1}"/>
              </a:ext>
            </a:extLst>
          </p:cNvPr>
          <p:cNvGrpSpPr/>
          <p:nvPr/>
        </p:nvGrpSpPr>
        <p:grpSpPr>
          <a:xfrm>
            <a:off x="3329665" y="1710697"/>
            <a:ext cx="2349552" cy="771287"/>
            <a:chOff x="3875676" y="1296771"/>
            <a:chExt cx="3597878" cy="579479"/>
          </a:xfrm>
        </p:grpSpPr>
        <p:sp>
          <p:nvSpPr>
            <p:cNvPr id="30" name="Freeform 9">
              <a:extLst>
                <a:ext uri="{FF2B5EF4-FFF2-40B4-BE49-F238E27FC236}">
                  <a16:creationId xmlns:a16="http://schemas.microsoft.com/office/drawing/2014/main" id="{EE195A9C-B35D-D72B-E318-2CF3535CDC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5676" y="1296771"/>
              <a:ext cx="3597878" cy="579479"/>
            </a:xfrm>
            <a:custGeom>
              <a:avLst/>
              <a:gdLst>
                <a:gd name="T0" fmla="*/ 0 w 1477"/>
                <a:gd name="T1" fmla="*/ 0 h 440"/>
                <a:gd name="T2" fmla="*/ 1392 w 1477"/>
                <a:gd name="T3" fmla="*/ 0 h 440"/>
                <a:gd name="T4" fmla="*/ 1477 w 1477"/>
                <a:gd name="T5" fmla="*/ 217 h 440"/>
                <a:gd name="T6" fmla="*/ 1392 w 1477"/>
                <a:gd name="T7" fmla="*/ 440 h 440"/>
                <a:gd name="T8" fmla="*/ 326 w 1477"/>
                <a:gd name="T9" fmla="*/ 440 h 440"/>
                <a:gd name="connsiteX0" fmla="*/ 0 w 17614"/>
                <a:gd name="connsiteY0" fmla="*/ 0 h 10000"/>
                <a:gd name="connsiteX1" fmla="*/ 17039 w 17614"/>
                <a:gd name="connsiteY1" fmla="*/ 0 h 10000"/>
                <a:gd name="connsiteX2" fmla="*/ 17614 w 17614"/>
                <a:gd name="connsiteY2" fmla="*/ 4932 h 10000"/>
                <a:gd name="connsiteX3" fmla="*/ 17039 w 17614"/>
                <a:gd name="connsiteY3" fmla="*/ 10000 h 10000"/>
                <a:gd name="connsiteX4" fmla="*/ 9821 w 17614"/>
                <a:gd name="connsiteY4" fmla="*/ 10000 h 10000"/>
                <a:gd name="connsiteX0" fmla="*/ 0 w 17692"/>
                <a:gd name="connsiteY0" fmla="*/ 0 h 10000"/>
                <a:gd name="connsiteX1" fmla="*/ 17117 w 17692"/>
                <a:gd name="connsiteY1" fmla="*/ 0 h 10000"/>
                <a:gd name="connsiteX2" fmla="*/ 17692 w 17692"/>
                <a:gd name="connsiteY2" fmla="*/ 4932 h 10000"/>
                <a:gd name="connsiteX3" fmla="*/ 17117 w 17692"/>
                <a:gd name="connsiteY3" fmla="*/ 10000 h 10000"/>
                <a:gd name="connsiteX4" fmla="*/ 9899 w 17692"/>
                <a:gd name="connsiteY4" fmla="*/ 10000 h 10000"/>
                <a:gd name="connsiteX0" fmla="*/ 0 w 17692"/>
                <a:gd name="connsiteY0" fmla="*/ 0 h 10000"/>
                <a:gd name="connsiteX1" fmla="*/ 17117 w 17692"/>
                <a:gd name="connsiteY1" fmla="*/ 0 h 10000"/>
                <a:gd name="connsiteX2" fmla="*/ 17692 w 17692"/>
                <a:gd name="connsiteY2" fmla="*/ 4932 h 10000"/>
                <a:gd name="connsiteX3" fmla="*/ 17117 w 17692"/>
                <a:gd name="connsiteY3" fmla="*/ 10000 h 10000"/>
                <a:gd name="connsiteX4" fmla="*/ 3922 w 17692"/>
                <a:gd name="connsiteY4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92" h="10000">
                  <a:moveTo>
                    <a:pt x="0" y="0"/>
                  </a:moveTo>
                  <a:lnTo>
                    <a:pt x="17117" y="0"/>
                  </a:lnTo>
                  <a:cubicBezTo>
                    <a:pt x="17309" y="1644"/>
                    <a:pt x="17500" y="3288"/>
                    <a:pt x="17692" y="4932"/>
                  </a:cubicBezTo>
                  <a:cubicBezTo>
                    <a:pt x="17500" y="6621"/>
                    <a:pt x="17309" y="8311"/>
                    <a:pt x="17117" y="10000"/>
                  </a:cubicBezTo>
                  <a:lnTo>
                    <a:pt x="3922" y="10000"/>
                  </a:lnTo>
                </a:path>
              </a:pathLst>
            </a:custGeom>
            <a:noFill/>
            <a:ln w="38100" cap="flat" cmpd="sng" algn="ctr">
              <a:solidFill>
                <a:schemeClr val="accent5"/>
              </a:solidFill>
              <a:prstDash val="solid"/>
              <a:miter lim="800000"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indent="0" algn="ctr">
                <a:spcBef>
                  <a:spcPct val="0"/>
                </a:spcBef>
                <a:buNone/>
              </a:pPr>
              <a:r>
                <a:rPr lang="en-US" b="1">
                  <a:solidFill>
                    <a:schemeClr val="accent5"/>
                  </a:solidFill>
                </a:rPr>
                <a:t>PHARMA-COVIGILANCE</a:t>
              </a:r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BADF89D-513C-A7F2-C69F-FEE48C6910B0}"/>
                </a:ext>
              </a:extLst>
            </p:cNvPr>
            <p:cNvCxnSpPr>
              <a:cxnSpLocks/>
            </p:cNvCxnSpPr>
            <p:nvPr/>
          </p:nvCxnSpPr>
          <p:spPr bwMode="gray">
            <a:xfrm flipV="1">
              <a:off x="4377318" y="1876250"/>
              <a:ext cx="302293" cy="0"/>
            </a:xfrm>
            <a:prstGeom prst="line">
              <a:avLst/>
            </a:prstGeom>
            <a:noFill/>
            <a:ln w="38100" cap="flat" cmpd="sng" algn="ctr">
              <a:solidFill>
                <a:schemeClr val="accent5"/>
              </a:solidFill>
              <a:prstDash val="solid"/>
              <a:miter lim="800000"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AEE2063F-38F3-B9BD-D474-90E3038484E0}"/>
              </a:ext>
            </a:extLst>
          </p:cNvPr>
          <p:cNvGrpSpPr/>
          <p:nvPr/>
        </p:nvGrpSpPr>
        <p:grpSpPr>
          <a:xfrm>
            <a:off x="6310513" y="1710697"/>
            <a:ext cx="2349552" cy="771287"/>
            <a:chOff x="3875676" y="1296771"/>
            <a:chExt cx="3597878" cy="579479"/>
          </a:xfrm>
        </p:grpSpPr>
        <p:sp>
          <p:nvSpPr>
            <p:cNvPr id="36" name="Freeform 9">
              <a:extLst>
                <a:ext uri="{FF2B5EF4-FFF2-40B4-BE49-F238E27FC236}">
                  <a16:creationId xmlns:a16="http://schemas.microsoft.com/office/drawing/2014/main" id="{A0942D4B-0A75-E3CB-360E-ACDF43B8352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5676" y="1296771"/>
              <a:ext cx="3597878" cy="579479"/>
            </a:xfrm>
            <a:custGeom>
              <a:avLst/>
              <a:gdLst>
                <a:gd name="T0" fmla="*/ 0 w 1477"/>
                <a:gd name="T1" fmla="*/ 0 h 440"/>
                <a:gd name="T2" fmla="*/ 1392 w 1477"/>
                <a:gd name="T3" fmla="*/ 0 h 440"/>
                <a:gd name="T4" fmla="*/ 1477 w 1477"/>
                <a:gd name="T5" fmla="*/ 217 h 440"/>
                <a:gd name="T6" fmla="*/ 1392 w 1477"/>
                <a:gd name="T7" fmla="*/ 440 h 440"/>
                <a:gd name="T8" fmla="*/ 326 w 1477"/>
                <a:gd name="T9" fmla="*/ 440 h 440"/>
                <a:gd name="connsiteX0" fmla="*/ 0 w 17614"/>
                <a:gd name="connsiteY0" fmla="*/ 0 h 10000"/>
                <a:gd name="connsiteX1" fmla="*/ 17039 w 17614"/>
                <a:gd name="connsiteY1" fmla="*/ 0 h 10000"/>
                <a:gd name="connsiteX2" fmla="*/ 17614 w 17614"/>
                <a:gd name="connsiteY2" fmla="*/ 4932 h 10000"/>
                <a:gd name="connsiteX3" fmla="*/ 17039 w 17614"/>
                <a:gd name="connsiteY3" fmla="*/ 10000 h 10000"/>
                <a:gd name="connsiteX4" fmla="*/ 9821 w 17614"/>
                <a:gd name="connsiteY4" fmla="*/ 10000 h 10000"/>
                <a:gd name="connsiteX0" fmla="*/ 0 w 17692"/>
                <a:gd name="connsiteY0" fmla="*/ 0 h 10000"/>
                <a:gd name="connsiteX1" fmla="*/ 17117 w 17692"/>
                <a:gd name="connsiteY1" fmla="*/ 0 h 10000"/>
                <a:gd name="connsiteX2" fmla="*/ 17692 w 17692"/>
                <a:gd name="connsiteY2" fmla="*/ 4932 h 10000"/>
                <a:gd name="connsiteX3" fmla="*/ 17117 w 17692"/>
                <a:gd name="connsiteY3" fmla="*/ 10000 h 10000"/>
                <a:gd name="connsiteX4" fmla="*/ 9899 w 17692"/>
                <a:gd name="connsiteY4" fmla="*/ 10000 h 10000"/>
                <a:gd name="connsiteX0" fmla="*/ 0 w 17692"/>
                <a:gd name="connsiteY0" fmla="*/ 0 h 10000"/>
                <a:gd name="connsiteX1" fmla="*/ 17117 w 17692"/>
                <a:gd name="connsiteY1" fmla="*/ 0 h 10000"/>
                <a:gd name="connsiteX2" fmla="*/ 17692 w 17692"/>
                <a:gd name="connsiteY2" fmla="*/ 4932 h 10000"/>
                <a:gd name="connsiteX3" fmla="*/ 17117 w 17692"/>
                <a:gd name="connsiteY3" fmla="*/ 10000 h 10000"/>
                <a:gd name="connsiteX4" fmla="*/ 3922 w 17692"/>
                <a:gd name="connsiteY4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92" h="10000">
                  <a:moveTo>
                    <a:pt x="0" y="0"/>
                  </a:moveTo>
                  <a:lnTo>
                    <a:pt x="17117" y="0"/>
                  </a:lnTo>
                  <a:cubicBezTo>
                    <a:pt x="17309" y="1644"/>
                    <a:pt x="17500" y="3288"/>
                    <a:pt x="17692" y="4932"/>
                  </a:cubicBezTo>
                  <a:cubicBezTo>
                    <a:pt x="17500" y="6621"/>
                    <a:pt x="17309" y="8311"/>
                    <a:pt x="17117" y="10000"/>
                  </a:cubicBezTo>
                  <a:lnTo>
                    <a:pt x="3922" y="10000"/>
                  </a:lnTo>
                </a:path>
              </a:pathLst>
            </a:custGeom>
            <a:noFill/>
            <a:ln w="38100" cap="flat" cmpd="sng" algn="ctr">
              <a:solidFill>
                <a:schemeClr val="accent6"/>
              </a:solidFill>
              <a:prstDash val="solid"/>
              <a:miter lim="800000"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indent="0" algn="ctr">
                <a:spcBef>
                  <a:spcPct val="0"/>
                </a:spcBef>
                <a:buNone/>
              </a:pPr>
              <a:r>
                <a:rPr lang="en-US" b="1">
                  <a:solidFill>
                    <a:schemeClr val="accent6"/>
                  </a:solidFill>
                </a:rPr>
                <a:t>COMMERCIAL (S&amp;M)</a:t>
              </a:r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D62562C-E7BD-C963-CAB8-263DBFC969C6}"/>
                </a:ext>
              </a:extLst>
            </p:cNvPr>
            <p:cNvCxnSpPr>
              <a:cxnSpLocks/>
            </p:cNvCxnSpPr>
            <p:nvPr/>
          </p:nvCxnSpPr>
          <p:spPr bwMode="gray">
            <a:xfrm flipV="1">
              <a:off x="4377318" y="1876250"/>
              <a:ext cx="302293" cy="0"/>
            </a:xfrm>
            <a:prstGeom prst="line">
              <a:avLst/>
            </a:prstGeom>
            <a:noFill/>
            <a:ln w="38100" cap="flat" cmpd="sng" algn="ctr">
              <a:solidFill>
                <a:schemeClr val="accent6"/>
              </a:solidFill>
              <a:prstDash val="solid"/>
              <a:miter lim="800000"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cxn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80B64CF-7F48-3EE9-2E22-A7BE327EDB26}"/>
              </a:ext>
            </a:extLst>
          </p:cNvPr>
          <p:cNvGrpSpPr/>
          <p:nvPr/>
        </p:nvGrpSpPr>
        <p:grpSpPr>
          <a:xfrm>
            <a:off x="9300598" y="1710697"/>
            <a:ext cx="2349552" cy="771287"/>
            <a:chOff x="3875676" y="1296771"/>
            <a:chExt cx="3597878" cy="579479"/>
          </a:xfrm>
        </p:grpSpPr>
        <p:sp>
          <p:nvSpPr>
            <p:cNvPr id="39" name="Freeform 9">
              <a:extLst>
                <a:ext uri="{FF2B5EF4-FFF2-40B4-BE49-F238E27FC236}">
                  <a16:creationId xmlns:a16="http://schemas.microsoft.com/office/drawing/2014/main" id="{AF01C762-810B-09FC-8DE3-B0196CB8E2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5676" y="1296771"/>
              <a:ext cx="3597878" cy="579479"/>
            </a:xfrm>
            <a:custGeom>
              <a:avLst/>
              <a:gdLst>
                <a:gd name="T0" fmla="*/ 0 w 1477"/>
                <a:gd name="T1" fmla="*/ 0 h 440"/>
                <a:gd name="T2" fmla="*/ 1392 w 1477"/>
                <a:gd name="T3" fmla="*/ 0 h 440"/>
                <a:gd name="T4" fmla="*/ 1477 w 1477"/>
                <a:gd name="T5" fmla="*/ 217 h 440"/>
                <a:gd name="T6" fmla="*/ 1392 w 1477"/>
                <a:gd name="T7" fmla="*/ 440 h 440"/>
                <a:gd name="T8" fmla="*/ 326 w 1477"/>
                <a:gd name="T9" fmla="*/ 440 h 440"/>
                <a:gd name="connsiteX0" fmla="*/ 0 w 17614"/>
                <a:gd name="connsiteY0" fmla="*/ 0 h 10000"/>
                <a:gd name="connsiteX1" fmla="*/ 17039 w 17614"/>
                <a:gd name="connsiteY1" fmla="*/ 0 h 10000"/>
                <a:gd name="connsiteX2" fmla="*/ 17614 w 17614"/>
                <a:gd name="connsiteY2" fmla="*/ 4932 h 10000"/>
                <a:gd name="connsiteX3" fmla="*/ 17039 w 17614"/>
                <a:gd name="connsiteY3" fmla="*/ 10000 h 10000"/>
                <a:gd name="connsiteX4" fmla="*/ 9821 w 17614"/>
                <a:gd name="connsiteY4" fmla="*/ 10000 h 10000"/>
                <a:gd name="connsiteX0" fmla="*/ 0 w 17692"/>
                <a:gd name="connsiteY0" fmla="*/ 0 h 10000"/>
                <a:gd name="connsiteX1" fmla="*/ 17117 w 17692"/>
                <a:gd name="connsiteY1" fmla="*/ 0 h 10000"/>
                <a:gd name="connsiteX2" fmla="*/ 17692 w 17692"/>
                <a:gd name="connsiteY2" fmla="*/ 4932 h 10000"/>
                <a:gd name="connsiteX3" fmla="*/ 17117 w 17692"/>
                <a:gd name="connsiteY3" fmla="*/ 10000 h 10000"/>
                <a:gd name="connsiteX4" fmla="*/ 9899 w 17692"/>
                <a:gd name="connsiteY4" fmla="*/ 10000 h 10000"/>
                <a:gd name="connsiteX0" fmla="*/ 0 w 17692"/>
                <a:gd name="connsiteY0" fmla="*/ 0 h 10000"/>
                <a:gd name="connsiteX1" fmla="*/ 17117 w 17692"/>
                <a:gd name="connsiteY1" fmla="*/ 0 h 10000"/>
                <a:gd name="connsiteX2" fmla="*/ 17692 w 17692"/>
                <a:gd name="connsiteY2" fmla="*/ 4932 h 10000"/>
                <a:gd name="connsiteX3" fmla="*/ 17117 w 17692"/>
                <a:gd name="connsiteY3" fmla="*/ 10000 h 10000"/>
                <a:gd name="connsiteX4" fmla="*/ 3922 w 17692"/>
                <a:gd name="connsiteY4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92" h="10000">
                  <a:moveTo>
                    <a:pt x="0" y="0"/>
                  </a:moveTo>
                  <a:lnTo>
                    <a:pt x="17117" y="0"/>
                  </a:lnTo>
                  <a:cubicBezTo>
                    <a:pt x="17309" y="1644"/>
                    <a:pt x="17500" y="3288"/>
                    <a:pt x="17692" y="4932"/>
                  </a:cubicBezTo>
                  <a:cubicBezTo>
                    <a:pt x="17500" y="6621"/>
                    <a:pt x="17309" y="8311"/>
                    <a:pt x="17117" y="10000"/>
                  </a:cubicBezTo>
                  <a:lnTo>
                    <a:pt x="3922" y="10000"/>
                  </a:lnTo>
                </a:path>
              </a:pathLst>
            </a:custGeom>
            <a:noFill/>
            <a:ln w="38100" cap="flat" cmpd="sng" algn="ctr">
              <a:solidFill>
                <a:schemeClr val="accent3"/>
              </a:solidFill>
              <a:prstDash val="solid"/>
              <a:miter lim="800000"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indent="0" algn="ctr">
                <a:spcBef>
                  <a:spcPct val="0"/>
                </a:spcBef>
                <a:buNone/>
              </a:pPr>
              <a:r>
                <a:rPr lang="en-US" b="1">
                  <a:solidFill>
                    <a:schemeClr val="accent3"/>
                  </a:solidFill>
                </a:rPr>
                <a:t>PATIENT ENGAGEMENT</a:t>
              </a:r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72F9C88-00D6-8069-4D27-A7207902EB14}"/>
                </a:ext>
              </a:extLst>
            </p:cNvPr>
            <p:cNvCxnSpPr>
              <a:cxnSpLocks/>
            </p:cNvCxnSpPr>
            <p:nvPr/>
          </p:nvCxnSpPr>
          <p:spPr bwMode="gray">
            <a:xfrm flipV="1">
              <a:off x="4377318" y="1876250"/>
              <a:ext cx="302293" cy="0"/>
            </a:xfrm>
            <a:prstGeom prst="line">
              <a:avLst/>
            </a:prstGeom>
            <a:noFill/>
            <a:ln w="38100" cap="flat" cmpd="sng" algn="ctr">
              <a:solidFill>
                <a:schemeClr val="accent3"/>
              </a:solidFill>
              <a:prstDash val="solid"/>
              <a:miter lim="800000"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cxnSp>
      </p:grp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AA363B2-7A24-12B9-5512-1A9A75C0A8D0}"/>
              </a:ext>
            </a:extLst>
          </p:cNvPr>
          <p:cNvCxnSpPr>
            <a:cxnSpLocks/>
          </p:cNvCxnSpPr>
          <p:nvPr/>
        </p:nvCxnSpPr>
        <p:spPr bwMode="gray">
          <a:xfrm>
            <a:off x="5984690" y="1744700"/>
            <a:ext cx="0" cy="4463952"/>
          </a:xfrm>
          <a:prstGeom prst="line">
            <a:avLst/>
          </a:prstGeom>
          <a:ln w="9525" cap="flat" cmpd="sng" algn="ctr">
            <a:solidFill>
              <a:srgbClr val="D6D6D6"/>
            </a:solidFill>
            <a:prstDash val="dash"/>
            <a:miter lim="800000"/>
            <a:headEnd type="none" w="med" len="med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0897A297-AE62-99BA-868F-FA4447A70E85}"/>
              </a:ext>
            </a:extLst>
          </p:cNvPr>
          <p:cNvCxnSpPr>
            <a:cxnSpLocks/>
          </p:cNvCxnSpPr>
          <p:nvPr/>
        </p:nvCxnSpPr>
        <p:spPr bwMode="gray">
          <a:xfrm>
            <a:off x="8927998" y="1744700"/>
            <a:ext cx="0" cy="4463952"/>
          </a:xfrm>
          <a:prstGeom prst="line">
            <a:avLst/>
          </a:prstGeom>
          <a:ln w="9525" cap="flat" cmpd="sng" algn="ctr">
            <a:solidFill>
              <a:srgbClr val="D6D6D6"/>
            </a:solidFill>
            <a:prstDash val="dash"/>
            <a:miter lim="800000"/>
            <a:headEnd type="none" w="med" len="med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btfpNotesBox982587">
            <a:extLst>
              <a:ext uri="{FF2B5EF4-FFF2-40B4-BE49-F238E27FC236}">
                <a16:creationId xmlns:a16="http://schemas.microsoft.com/office/drawing/2014/main" id="{85255CD2-98A8-E9EC-C6B9-513CD7E7ADE6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gray">
          <a:xfrm>
            <a:off x="330199" y="6614954"/>
            <a:ext cx="9471025" cy="246221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b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800">
                <a:solidFill>
                  <a:srgbClr val="000000"/>
                </a:solidFill>
              </a:rPr>
              <a:t>Note: 1. Key Opinion Leader | 2. Medical Science Liaison | 3. Health Economics and Outcomes Research | 4. Real-world evidence | 5. Medical-Legal-Regulatory | 6. </a:t>
            </a:r>
            <a:r>
              <a:rPr lang="en-US" sz="800"/>
              <a:t>Contract Sales Organization</a:t>
            </a:r>
            <a:br>
              <a:rPr lang="en-US" sz="800">
                <a:solidFill>
                  <a:srgbClr val="000000"/>
                </a:solidFill>
              </a:rPr>
            </a:br>
            <a:r>
              <a:rPr lang="en-US" sz="800">
                <a:solidFill>
                  <a:srgbClr val="000000"/>
                </a:solidFill>
              </a:rPr>
              <a:t>Source: Market participant interviews, Secondary research, Bain analysis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3B0B993-844A-D76F-B516-5D0EC76230F8}"/>
              </a:ext>
            </a:extLst>
          </p:cNvPr>
          <p:cNvCxnSpPr>
            <a:cxnSpLocks/>
          </p:cNvCxnSpPr>
          <p:nvPr/>
        </p:nvCxnSpPr>
        <p:spPr bwMode="gray">
          <a:xfrm>
            <a:off x="330200" y="1409350"/>
            <a:ext cx="11526838" cy="0"/>
          </a:xfrm>
          <a:prstGeom prst="straightConnector1">
            <a:avLst/>
          </a:prstGeom>
          <a:ln w="9525" cap="flat">
            <a:solidFill>
              <a:schemeClr val="tx1"/>
            </a:solidFill>
            <a:miter lim="800000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62EFC90E-6C4F-FCA8-33FB-916725D37A82}"/>
              </a:ext>
            </a:extLst>
          </p:cNvPr>
          <p:cNvSpPr/>
          <p:nvPr/>
        </p:nvSpPr>
        <p:spPr bwMode="gray">
          <a:xfrm>
            <a:off x="3220688" y="1308112"/>
            <a:ext cx="5750624" cy="236084"/>
          </a:xfrm>
          <a:prstGeom prst="rect">
            <a:avLst/>
          </a:prstGeom>
          <a:solidFill>
            <a:srgbClr val="B4B4B4"/>
          </a:solidFill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r>
              <a:rPr lang="en-US" sz="1200" b="1" i="1">
                <a:solidFill>
                  <a:srgbClr val="000000"/>
                </a:solidFill>
              </a:rPr>
              <a:t>Pharma commercialization service lines</a:t>
            </a:r>
          </a:p>
        </p:txBody>
      </p:sp>
      <p:sp>
        <p:nvSpPr>
          <p:cNvPr id="16" name="btfpNumberBubble399258">
            <a:extLst>
              <a:ext uri="{FF2B5EF4-FFF2-40B4-BE49-F238E27FC236}">
                <a16:creationId xmlns:a16="http://schemas.microsoft.com/office/drawing/2014/main" id="{7E5D13E3-3C57-51F0-63BC-C9F7DAFC3E11}"/>
              </a:ext>
            </a:extLst>
          </p:cNvPr>
          <p:cNvSpPr/>
          <p:nvPr/>
        </p:nvSpPr>
        <p:spPr bwMode="gray">
          <a:xfrm>
            <a:off x="54684" y="82614"/>
            <a:ext cx="288636" cy="28863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400" b="1">
                <a:solidFill>
                  <a:srgbClr val="CC0000"/>
                </a:solidFill>
              </a:rPr>
              <a:t>1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DA9C4E7-C4E5-4379-DD10-E20D413029F9}"/>
              </a:ext>
            </a:extLst>
          </p:cNvPr>
          <p:cNvSpPr/>
          <p:nvPr/>
        </p:nvSpPr>
        <p:spPr bwMode="gray">
          <a:xfrm>
            <a:off x="330076" y="1288486"/>
            <a:ext cx="11620721" cy="5112313"/>
          </a:xfrm>
          <a:prstGeom prst="rect">
            <a:avLst/>
          </a:prstGeom>
          <a:solidFill>
            <a:srgbClr val="D6D6D6">
              <a:alpha val="75000"/>
            </a:srgb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r>
              <a:rPr lang="en-ZA" sz="3600" dirty="0">
                <a:solidFill>
                  <a:srgbClr val="000000"/>
                </a:solidFill>
              </a:rPr>
              <a:t>WIP</a:t>
            </a:r>
          </a:p>
          <a:p>
            <a:pPr marL="0" indent="0" algn="ctr">
              <a:buNone/>
            </a:pPr>
            <a:r>
              <a:rPr lang="en-ZA" dirty="0">
                <a:solidFill>
                  <a:srgbClr val="000000"/>
                </a:solidFill>
              </a:rPr>
              <a:t>Text to be refined. Harvey balls to be added under each to explain degree of overlap with </a:t>
            </a:r>
            <a:r>
              <a:rPr lang="en-ZA" dirty="0" err="1">
                <a:solidFill>
                  <a:srgbClr val="000000"/>
                </a:solidFill>
              </a:rPr>
              <a:t>Sagility’s</a:t>
            </a:r>
            <a:r>
              <a:rPr lang="en-ZA" dirty="0">
                <a:solidFill>
                  <a:srgbClr val="000000"/>
                </a:solidFill>
              </a:rPr>
              <a:t> existing capabilities </a:t>
            </a:r>
            <a:endParaRPr lang="en-ZA" sz="1400" dirty="0">
              <a:solidFill>
                <a:srgbClr val="0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368251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A930C-F247-B56F-78B7-E9C485469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hink-cell data - do not delete" hidden="1">
            <a:extLst>
              <a:ext uri="{FF2B5EF4-FFF2-40B4-BE49-F238E27FC236}">
                <a16:creationId xmlns:a16="http://schemas.microsoft.com/office/drawing/2014/main" id="{5BFA7121-1937-A786-44C5-9F78C2E4700C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7640827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484" imgH="486" progId="TCLayout.ActiveDocument.1">
                  <p:embed/>
                </p:oleObj>
              </mc:Choice>
              <mc:Fallback>
                <p:oleObj name="think-cell Slide" r:id="rId8" imgW="484" imgH="486" progId="TCLayout.ActiveDocument.1">
                  <p:embed/>
                  <p:pic>
                    <p:nvPicPr>
                      <p:cNvPr id="1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BFA7121-1937-A786-44C5-9F78C2E470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" name="btfpColumnIndicatorGroup2">
            <a:extLst>
              <a:ext uri="{FF2B5EF4-FFF2-40B4-BE49-F238E27FC236}">
                <a16:creationId xmlns:a16="http://schemas.microsoft.com/office/drawing/2014/main" id="{71F739C2-8516-626A-4596-67F04455F432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11" name="btfpColumnGapBlocker995260">
              <a:extLst>
                <a:ext uri="{FF2B5EF4-FFF2-40B4-BE49-F238E27FC236}">
                  <a16:creationId xmlns:a16="http://schemas.microsoft.com/office/drawing/2014/main" id="{A02CD5AF-5061-D75A-0FC5-339DCED88026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9" name="btfpColumnGapBlocker719873">
              <a:extLst>
                <a:ext uri="{FF2B5EF4-FFF2-40B4-BE49-F238E27FC236}">
                  <a16:creationId xmlns:a16="http://schemas.microsoft.com/office/drawing/2014/main" id="{734B1E9D-B484-659B-3372-E36F42585F69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7" name="btfpColumnIndicator110084">
              <a:extLst>
                <a:ext uri="{FF2B5EF4-FFF2-40B4-BE49-F238E27FC236}">
                  <a16:creationId xmlns:a16="http://schemas.microsoft.com/office/drawing/2014/main" id="{21568AF8-40AC-1E9A-88F1-C9FB295120F3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btfpColumnIndicator169299">
              <a:extLst>
                <a:ext uri="{FF2B5EF4-FFF2-40B4-BE49-F238E27FC236}">
                  <a16:creationId xmlns:a16="http://schemas.microsoft.com/office/drawing/2014/main" id="{1BFA6752-22DE-9CD5-2F7A-11231599583C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btfpColumnIndicatorGroup1">
            <a:extLst>
              <a:ext uri="{FF2B5EF4-FFF2-40B4-BE49-F238E27FC236}">
                <a16:creationId xmlns:a16="http://schemas.microsoft.com/office/drawing/2014/main" id="{234DBC54-BF38-0AEE-A907-B021924A8A87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10" name="btfpColumnGapBlocker114371">
              <a:extLst>
                <a:ext uri="{FF2B5EF4-FFF2-40B4-BE49-F238E27FC236}">
                  <a16:creationId xmlns:a16="http://schemas.microsoft.com/office/drawing/2014/main" id="{75217F32-A87C-EA6B-FCB9-E9430F7F9242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8" name="btfpColumnGapBlocker455109">
              <a:extLst>
                <a:ext uri="{FF2B5EF4-FFF2-40B4-BE49-F238E27FC236}">
                  <a16:creationId xmlns:a16="http://schemas.microsoft.com/office/drawing/2014/main" id="{3B9DBD23-C94E-E335-256F-D70C9587B7AD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6" name="btfpColumnIndicator377624">
              <a:extLst>
                <a:ext uri="{FF2B5EF4-FFF2-40B4-BE49-F238E27FC236}">
                  <a16:creationId xmlns:a16="http://schemas.microsoft.com/office/drawing/2014/main" id="{428EE534-E9D3-8FCC-9AEB-A7CD3D1517A7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btfpColumnIndicator872711">
              <a:extLst>
                <a:ext uri="{FF2B5EF4-FFF2-40B4-BE49-F238E27FC236}">
                  <a16:creationId xmlns:a16="http://schemas.microsoft.com/office/drawing/2014/main" id="{B34FEC00-07D6-A144-EF1C-A2D10504F4BE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3" name="btfpTable223871">
            <a:extLst>
              <a:ext uri="{FF2B5EF4-FFF2-40B4-BE49-F238E27FC236}">
                <a16:creationId xmlns:a16="http://schemas.microsoft.com/office/drawing/2014/main" id="{E02C3F8E-15A9-6195-551B-AC08DF9A37DC}"/>
              </a:ext>
            </a:extLst>
          </p:cNvPr>
          <p:cNvGraphicFramePr>
            <a:graphicFrameLocks noGrp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62632393"/>
              </p:ext>
            </p:extLst>
          </p:nvPr>
        </p:nvGraphicFramePr>
        <p:xfrm>
          <a:off x="330200" y="1253972"/>
          <a:ext cx="11571505" cy="5091688"/>
        </p:xfrm>
        <a:graphic>
          <a:graphicData uri="http://schemas.openxmlformats.org/drawingml/2006/table">
            <a:tbl>
              <a:tblPr firstRow="1" firstCol="1">
                <a:tableStyleId>{9D7B26C5-4107-4FEC-AEDC-1716B250A1EF}</a:tableStyleId>
              </a:tblPr>
              <a:tblGrid>
                <a:gridCol w="1323671">
                  <a:extLst>
                    <a:ext uri="{9D8B030D-6E8A-4147-A177-3AD203B41FA5}">
                      <a16:colId xmlns:a16="http://schemas.microsoft.com/office/drawing/2014/main" val="1209404559"/>
                    </a:ext>
                  </a:extLst>
                </a:gridCol>
                <a:gridCol w="2617460">
                  <a:extLst>
                    <a:ext uri="{9D8B030D-6E8A-4147-A177-3AD203B41FA5}">
                      <a16:colId xmlns:a16="http://schemas.microsoft.com/office/drawing/2014/main" val="156624257"/>
                    </a:ext>
                  </a:extLst>
                </a:gridCol>
                <a:gridCol w="2543458">
                  <a:extLst>
                    <a:ext uri="{9D8B030D-6E8A-4147-A177-3AD203B41FA5}">
                      <a16:colId xmlns:a16="http://schemas.microsoft.com/office/drawing/2014/main" val="2180330949"/>
                    </a:ext>
                  </a:extLst>
                </a:gridCol>
                <a:gridCol w="2543458">
                  <a:extLst>
                    <a:ext uri="{9D8B030D-6E8A-4147-A177-3AD203B41FA5}">
                      <a16:colId xmlns:a16="http://schemas.microsoft.com/office/drawing/2014/main" val="842587667"/>
                    </a:ext>
                  </a:extLst>
                </a:gridCol>
                <a:gridCol w="2543458">
                  <a:extLst>
                    <a:ext uri="{9D8B030D-6E8A-4147-A177-3AD203B41FA5}">
                      <a16:colId xmlns:a16="http://schemas.microsoft.com/office/drawing/2014/main" val="1140584685"/>
                    </a:ext>
                  </a:extLst>
                </a:gridCol>
              </a:tblGrid>
              <a:tr h="528718"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FontTx/>
                        <a:buNone/>
                      </a:pPr>
                      <a:endParaRPr lang="en-US" sz="140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Large Pharma Cos</a:t>
                      </a:r>
                      <a:br>
                        <a:rPr lang="en-US" sz="1400" dirty="0"/>
                      </a:br>
                      <a:r>
                        <a:rPr lang="en-US" sz="1100" dirty="0"/>
                        <a:t>(with &gt;$10B revenue)</a:t>
                      </a:r>
                      <a:endParaRPr lang="en-US" sz="2400" i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Mid/ Small Pharma Cos</a:t>
                      </a:r>
                      <a:br>
                        <a:rPr lang="en-US" sz="1400" dirty="0"/>
                      </a:br>
                      <a:r>
                        <a:rPr lang="en-US" sz="1100" dirty="0"/>
                        <a:t>(with &lt;$10B revenue)</a:t>
                      </a:r>
                      <a:endParaRPr lang="en-US" sz="2400" i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US" sz="1400" dirty="0"/>
                        <a:t>Biotech Cos </a:t>
                      </a:r>
                      <a:br>
                        <a:rPr lang="en-US" sz="1400" dirty="0"/>
                      </a:br>
                      <a:r>
                        <a:rPr lang="en-US" sz="1100" dirty="0"/>
                        <a:t>(Bio-derived complex TAs)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US" sz="1400" dirty="0"/>
                        <a:t>CROs/ CDMOs</a:t>
                      </a:r>
                      <a:br>
                        <a:rPr lang="en-US" sz="1400" dirty="0"/>
                      </a:br>
                      <a:r>
                        <a:rPr lang="en-US" sz="1100" dirty="0"/>
                        <a:t>(3P drug dev. partners)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9069234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105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i="1" dirty="0"/>
                        <a:t>Global pharma cos with diversified multi-asset portfolios, integrated R&amp;D-to-commercial infra, global presence, strong internal functional depth, mature governance &amp; compliance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i="1" dirty="0"/>
                        <a:t>Pharma cos with focused portfolios and selective geo exposure, leaner op models, evolving internal capabilities and higher strategic reliance on partnerships to scale development &amp; commercialization</a:t>
                      </a:r>
                      <a:endParaRPr lang="en-US" sz="900" i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i="1" dirty="0"/>
                        <a:t>R&amp;D-intensive, science-led cos built around bio-derived, complex or specialty TAs (e.g., biologics, rare disease, oncology), typically asset-concentrated, capital-efficient and operating with limited legacy infra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i="1"/>
                        <a:t>Development and manufacturing partners supporting pharma and biotech firms across clinical, regulatory, and production workflows, operating asset-light or infra-led models with program-driven revenue streams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6234591"/>
                  </a:ext>
                </a:extLst>
              </a:tr>
              <a:tr h="311010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1050"/>
                        <a:t>Select players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0" indent="-177800"/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0" indent="-177800"/>
                      <a:endParaRPr lang="en-US" sz="1000" i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0" indent="-177800"/>
                      <a:endParaRPr 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6520059"/>
                  </a:ext>
                </a:extLst>
              </a:tr>
              <a:tr h="3141205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1050"/>
                        <a:t>Sagility’s alignment with customer buying preferences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900"/>
                        </a:spcBef>
                        <a:buNone/>
                      </a:pPr>
                      <a:r>
                        <a:rPr lang="en-US" sz="900" b="1"/>
                        <a:t>Low-to-moderate alignment driven by:</a:t>
                      </a:r>
                    </a:p>
                    <a:p>
                      <a:pPr lvl="0">
                        <a:spcBef>
                          <a:spcPts val="900"/>
                        </a:spcBef>
                      </a:pPr>
                      <a:r>
                        <a:rPr lang="en-US" sz="900" b="1"/>
                        <a:t>Retain regulatory accountability &amp; core scientific decisioning in-house</a:t>
                      </a:r>
                      <a:r>
                        <a:rPr lang="en-US" sz="900"/>
                        <a:t>; </a:t>
                      </a:r>
                      <a:r>
                        <a:rPr lang="en-US" sz="900" b="1"/>
                        <a:t>extensive GCC footprint </a:t>
                      </a:r>
                      <a:r>
                        <a:rPr lang="en-US" sz="900"/>
                        <a:t>for standardized back-office &amp; analytics</a:t>
                      </a:r>
                    </a:p>
                    <a:p>
                      <a:pPr lvl="0">
                        <a:spcBef>
                          <a:spcPts val="900"/>
                        </a:spcBef>
                      </a:pPr>
                      <a:r>
                        <a:rPr lang="en-US" sz="900" b="1"/>
                        <a:t>Limited o/s for high-risk, </a:t>
                      </a:r>
                      <a:r>
                        <a:rPr lang="en-US" sz="900"/>
                        <a:t>regulatory-sensitive or IP heavy functions (e.g., PV); </a:t>
                      </a:r>
                      <a:r>
                        <a:rPr lang="en-US" sz="900" b="1"/>
                        <a:t>high o/s for execution-heavy, process-driven </a:t>
                      </a:r>
                      <a:r>
                        <a:rPr lang="en-US" sz="900"/>
                        <a:t>workflows, driven by scale &amp; cost efficiency</a:t>
                      </a:r>
                    </a:p>
                    <a:p>
                      <a:pPr lvl="0">
                        <a:spcBef>
                          <a:spcPts val="900"/>
                        </a:spcBef>
                      </a:pPr>
                      <a:r>
                        <a:rPr lang="en-US" sz="900" b="1"/>
                        <a:t>Pref. for a few T1 vendors </a:t>
                      </a:r>
                      <a:r>
                        <a:rPr lang="en-US" sz="900"/>
                        <a:t>(IQVIA, Syneos, Accenture, Parexel) with E2E delivery, multi-TA breadth &amp; ability to manage cross-market programs; </a:t>
                      </a:r>
                      <a:r>
                        <a:rPr lang="en-US" sz="900" b="1"/>
                        <a:t>selectively engage best-of-breed niche vendors for differentiated capabilities </a:t>
                      </a:r>
                      <a:r>
                        <a:rPr lang="en-US" sz="900" b="0"/>
                        <a:t>(</a:t>
                      </a:r>
                      <a:r>
                        <a:rPr lang="en-US" sz="900"/>
                        <a:t>digital, analytics, AI)</a:t>
                      </a:r>
                    </a:p>
                    <a:p>
                      <a:pPr lvl="0">
                        <a:spcBef>
                          <a:spcPts val="900"/>
                        </a:spcBef>
                      </a:pPr>
                      <a:r>
                        <a:rPr lang="en-US" sz="900" b="1"/>
                        <a:t>Strong emphasis on referenceability</a:t>
                      </a:r>
                      <a:r>
                        <a:rPr lang="en-US" sz="900"/>
                        <a:t>, therapeutic depth, scalable footprint and strong governance controls</a:t>
                      </a:r>
                    </a:p>
                  </a:txBody>
                  <a:tcPr>
                    <a:gradFill>
                      <a:gsLst>
                        <a:gs pos="46000">
                          <a:srgbClr val="FAF1D1"/>
                        </a:gs>
                        <a:gs pos="54000">
                          <a:srgbClr val="FFE1E1"/>
                        </a:gs>
                      </a:gsLst>
                      <a:lin ang="27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/>
                        <a:t>High alignment driven by:</a:t>
                      </a:r>
                    </a:p>
                    <a:p>
                      <a:pPr lvl="0">
                        <a:lnSpc>
                          <a:spcPct val="100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</a:pPr>
                      <a:r>
                        <a:rPr lang="en-US" sz="900" b="1"/>
                        <a:t>Leaner internal functional depth </a:t>
                      </a:r>
                      <a:r>
                        <a:rPr lang="en-US" sz="900"/>
                        <a:t>across MA, PV and commercial ops with </a:t>
                      </a:r>
                      <a:r>
                        <a:rPr lang="en-US" sz="900" b="1"/>
                        <a:t>limited or emerging GCC footprint </a:t>
                      </a:r>
                      <a:r>
                        <a:rPr lang="en-US" sz="900"/>
                        <a:t>(e.g., Organon has ops in India for select pockets of ops work); retain strategic oversight &amp; regulatory accountability</a:t>
                      </a:r>
                    </a:p>
                    <a:p>
                      <a:pPr lvl="0">
                        <a:lnSpc>
                          <a:spcPct val="100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</a:pPr>
                      <a:r>
                        <a:rPr lang="en-US" sz="900" b="1"/>
                        <a:t>High o/s for non-core but operationally intensive workflows</a:t>
                      </a:r>
                      <a:r>
                        <a:rPr lang="en-US" sz="900"/>
                        <a:t>; </a:t>
                      </a:r>
                      <a:r>
                        <a:rPr lang="en-US" sz="900" b="1"/>
                        <a:t>moderate for regulatory-heavy processes</a:t>
                      </a:r>
                      <a:r>
                        <a:rPr lang="en-US" sz="900"/>
                        <a:t>, with increasing openness to bundled or E2E o/s</a:t>
                      </a:r>
                    </a:p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ClrTx/>
                        <a:buSzTx/>
                        <a:tabLst/>
                        <a:defRPr/>
                      </a:pPr>
                      <a:r>
                        <a:rPr lang="en-US" sz="900" b="1"/>
                        <a:t>Prioritize focused set of credible, HC-specialist vendors </a:t>
                      </a:r>
                      <a:r>
                        <a:rPr lang="en-US" sz="900"/>
                        <a:t>with flexible delivery models; less constrained by T1 vendor lock-in and more focused on execution depth and flexibility</a:t>
                      </a:r>
                    </a:p>
                    <a:p>
                      <a:pPr lvl="0">
                        <a:lnSpc>
                          <a:spcPct val="100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</a:pPr>
                      <a:r>
                        <a:rPr lang="en-US" sz="900"/>
                        <a:t>KPCs incl. proven execution across comparable portfolio sizes, therapeutic familiarity, cost efficiency and ability to scale; referenceability &amp; delivery reliability preferred over brand equity</a:t>
                      </a:r>
                    </a:p>
                  </a:txBody>
                  <a:tcPr>
                    <a:solidFill>
                      <a:srgbClr val="DBE1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900"/>
                        </a:spcBef>
                        <a:buNone/>
                      </a:pPr>
                      <a:r>
                        <a:rPr lang="en-US" sz="900" b="1"/>
                        <a:t>High alignment driven by:</a:t>
                      </a:r>
                    </a:p>
                    <a:p>
                      <a:pPr lvl="0">
                        <a:spcBef>
                          <a:spcPts val="900"/>
                        </a:spcBef>
                      </a:pPr>
                      <a:r>
                        <a:rPr lang="en-US" sz="900" b="1"/>
                        <a:t>Minimal internal infra with limited meaningful GCC footprint</a:t>
                      </a:r>
                      <a:r>
                        <a:rPr lang="en-US" sz="900"/>
                        <a:t>; scientific ownership and benefit-risk decisioning retained in-house</a:t>
                      </a:r>
                    </a:p>
                    <a:p>
                      <a:pPr lvl="0">
                        <a:spcBef>
                          <a:spcPts val="900"/>
                        </a:spcBef>
                      </a:pPr>
                      <a:r>
                        <a:rPr lang="en-US" sz="900" b="1"/>
                        <a:t>O/s operational, safety &amp; engagement workflows –</a:t>
                      </a:r>
                      <a:r>
                        <a:rPr lang="en-US" sz="900" b="0"/>
                        <a:t> high across S&amp;M, patient engagement functions; </a:t>
                      </a:r>
                      <a:r>
                        <a:rPr lang="en-US" sz="900"/>
                        <a:t>moderate-high for the others; willing to outsource E2E models where partners can provide compliance, scalability, and cost visibility</a:t>
                      </a:r>
                    </a:p>
                    <a:p>
                      <a:pPr lvl="0">
                        <a:spcBef>
                          <a:spcPts val="900"/>
                        </a:spcBef>
                      </a:pPr>
                      <a:r>
                        <a:rPr lang="en-US" sz="900" b="1"/>
                        <a:t>Prefer HC-specialist partners capable of rapid ramp-up across complex TAs</a:t>
                      </a:r>
                      <a:r>
                        <a:rPr lang="en-US" sz="900"/>
                        <a:t>; less constrained by T1 vendor lock-in and more focused on execution depth and flexibility</a:t>
                      </a:r>
                    </a:p>
                    <a:p>
                      <a:pPr lvl="0">
                        <a:spcBef>
                          <a:spcPts val="900"/>
                        </a:spcBef>
                      </a:pPr>
                      <a:r>
                        <a:rPr lang="en-US" sz="900" b="0"/>
                        <a:t>KPCs incl. s</a:t>
                      </a:r>
                      <a:r>
                        <a:rPr lang="en-US" sz="900"/>
                        <a:t>peed-to-launch, regulatory compliance, TA expertise in complex or bio-derived modalities, scalable capacity and ability to operate under capital and timeline constraints; TA-specific referenceability valued over brand equity</a:t>
                      </a:r>
                    </a:p>
                  </a:txBody>
                  <a:tcPr>
                    <a:solidFill>
                      <a:srgbClr val="DBE1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900"/>
                        </a:spcBef>
                        <a:buNone/>
                      </a:pPr>
                      <a:r>
                        <a:rPr lang="en-US" sz="900" b="1"/>
                        <a:t>Low-to-moderate alignment driven by:</a:t>
                      </a:r>
                    </a:p>
                    <a:p>
                      <a:pPr lvl="0">
                        <a:spcBef>
                          <a:spcPts val="900"/>
                        </a:spcBef>
                      </a:pPr>
                      <a:r>
                        <a:rPr lang="en-US" sz="900" b="1"/>
                        <a:t>Limited standalone ownership </a:t>
                      </a:r>
                      <a:r>
                        <a:rPr lang="en-US" sz="900"/>
                        <a:t>of value chain processes (MA, PV, S&amp;M or patient eng.); strong and scaled inhouse teams managing commercialization ops work</a:t>
                      </a:r>
                    </a:p>
                    <a:p>
                      <a:pPr lvl="0">
                        <a:spcBef>
                          <a:spcPts val="900"/>
                        </a:spcBef>
                      </a:pPr>
                      <a:r>
                        <a:rPr lang="en-US" sz="900" b="1"/>
                        <a:t>O/s structurally limited </a:t>
                      </a:r>
                      <a:r>
                        <a:rPr lang="en-US" sz="900"/>
                        <a:t>given they have scaled commercialization capabilities inhouse; </a:t>
                      </a:r>
                      <a:r>
                        <a:rPr lang="en-US" sz="900" b="1"/>
                        <a:t>O/s is transactional and scope-bound</a:t>
                      </a:r>
                      <a:r>
                        <a:rPr lang="en-US" sz="900"/>
                        <a:t>, typically for specific technical gaps vs E2E commercialization workflows</a:t>
                      </a:r>
                    </a:p>
                    <a:p>
                      <a:pPr lvl="0">
                        <a:spcBef>
                          <a:spcPts val="900"/>
                        </a:spcBef>
                      </a:pPr>
                      <a:r>
                        <a:rPr lang="en-US" sz="900"/>
                        <a:t>Engage subcontractors selectively only for narrow capability gaps/ surge capacity</a:t>
                      </a:r>
                    </a:p>
                    <a:p>
                      <a:pPr lvl="0">
                        <a:spcBef>
                          <a:spcPts val="900"/>
                        </a:spcBef>
                      </a:pPr>
                      <a:r>
                        <a:rPr lang="en-US" sz="900" b="0"/>
                        <a:t>KPCs incl. p</a:t>
                      </a:r>
                      <a:r>
                        <a:rPr lang="en-US" sz="900"/>
                        <a:t>rocess reliability, regulatory compliance, seamless integration into sponsor systems &amp; cost efficiency; </a:t>
                      </a:r>
                      <a:r>
                        <a:rPr lang="en-US" sz="900" b="1"/>
                        <a:t>emphasis on operational fit vs. vendor scale</a:t>
                      </a:r>
                    </a:p>
                  </a:txBody>
                  <a:tcPr>
                    <a:gradFill>
                      <a:gsLst>
                        <a:gs pos="46000">
                          <a:srgbClr val="FAF1D1"/>
                        </a:gs>
                        <a:gs pos="54000">
                          <a:srgbClr val="FFE1E1"/>
                        </a:gs>
                      </a:gsLst>
                      <a:lin ang="27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570130121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15A36F8A-3F2C-CFF0-8E1C-F92831AD9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1"/>
            <a:ext cx="11857035" cy="876687"/>
          </a:xfrm>
        </p:spPr>
        <p:txBody>
          <a:bodyPr vert="horz"/>
          <a:lstStyle/>
          <a:p>
            <a:r>
              <a:rPr lang="en-US" b="1"/>
              <a:t>Customer archetypes: </a:t>
            </a:r>
            <a:r>
              <a:rPr lang="en-US"/>
              <a:t>4 key customer archetypes exist, within which Mid/Small pharma and biotech companies are most attractive for </a:t>
            </a:r>
            <a:r>
              <a:rPr lang="en-US" err="1"/>
              <a:t>Sagility</a:t>
            </a:r>
            <a:endParaRPr lang="en-US" b="1"/>
          </a:p>
        </p:txBody>
      </p:sp>
      <p:grpSp>
        <p:nvGrpSpPr>
          <p:cNvPr id="6159" name="Group 6158">
            <a:extLst>
              <a:ext uri="{FF2B5EF4-FFF2-40B4-BE49-F238E27FC236}">
                <a16:creationId xmlns:a16="http://schemas.microsoft.com/office/drawing/2014/main" id="{88CDBE63-4CA5-6EBA-677B-4945E02808B5}"/>
              </a:ext>
            </a:extLst>
          </p:cNvPr>
          <p:cNvGrpSpPr/>
          <p:nvPr/>
        </p:nvGrpSpPr>
        <p:grpSpPr>
          <a:xfrm>
            <a:off x="1769651" y="2630468"/>
            <a:ext cx="2393275" cy="236014"/>
            <a:chOff x="1769651" y="2821999"/>
            <a:chExt cx="2393275" cy="236014"/>
          </a:xfrm>
        </p:grpSpPr>
        <p:pic>
          <p:nvPicPr>
            <p:cNvPr id="15" name="Picture 2">
              <a:extLst>
                <a:ext uri="{FF2B5EF4-FFF2-40B4-BE49-F238E27FC236}">
                  <a16:creationId xmlns:a16="http://schemas.microsoft.com/office/drawing/2014/main" id="{F330AFB8-6D98-B6F4-3856-24087B3F6F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69651" y="2821999"/>
              <a:ext cx="603067" cy="2360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10" descr="Roche logo in transparent PNG and vectorized SVG formats">
              <a:extLst>
                <a:ext uri="{FF2B5EF4-FFF2-40B4-BE49-F238E27FC236}">
                  <a16:creationId xmlns:a16="http://schemas.microsoft.com/office/drawing/2014/main" id="{933E17C1-3301-BC2D-8944-AEB96B45A84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09833" y="2826884"/>
              <a:ext cx="453093" cy="2251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264">
              <a:extLst>
                <a:ext uri="{FF2B5EF4-FFF2-40B4-BE49-F238E27FC236}">
                  <a16:creationId xmlns:a16="http://schemas.microsoft.com/office/drawing/2014/main" id="{16918E01-2122-4281-60D3-0191F164F5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9474" y="2858912"/>
              <a:ext cx="1068371" cy="1858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151" name="Group 6150">
            <a:extLst>
              <a:ext uri="{FF2B5EF4-FFF2-40B4-BE49-F238E27FC236}">
                <a16:creationId xmlns:a16="http://schemas.microsoft.com/office/drawing/2014/main" id="{E8975994-89B1-5945-68EC-1994D75DBE30}"/>
              </a:ext>
            </a:extLst>
          </p:cNvPr>
          <p:cNvGrpSpPr/>
          <p:nvPr/>
        </p:nvGrpSpPr>
        <p:grpSpPr>
          <a:xfrm>
            <a:off x="6991887" y="2622612"/>
            <a:ext cx="2121971" cy="220331"/>
            <a:chOff x="6862347" y="2833193"/>
            <a:chExt cx="2121971" cy="220331"/>
          </a:xfrm>
        </p:grpSpPr>
        <p:pic>
          <p:nvPicPr>
            <p:cNvPr id="26" name="Picture 2073">
              <a:extLst>
                <a:ext uri="{FF2B5EF4-FFF2-40B4-BE49-F238E27FC236}">
                  <a16:creationId xmlns:a16="http://schemas.microsoft.com/office/drawing/2014/main" id="{1C1C20C8-A2DD-E40C-734E-56B2485E0D5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62347" y="2833193"/>
              <a:ext cx="663374" cy="2203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14">
              <a:extLst>
                <a:ext uri="{FF2B5EF4-FFF2-40B4-BE49-F238E27FC236}">
                  <a16:creationId xmlns:a16="http://schemas.microsoft.com/office/drawing/2014/main" id="{C6BED99F-6497-4A02-C037-7242B386A76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36075" y="2885326"/>
              <a:ext cx="548243" cy="1160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27" descr="A blue text on a black background&#10;&#10;Description automatically generated">
              <a:extLst>
                <a:ext uri="{FF2B5EF4-FFF2-40B4-BE49-F238E27FC236}">
                  <a16:creationId xmlns:a16="http://schemas.microsoft.com/office/drawing/2014/main" id="{320C6AC4-2BD0-21E6-85D4-50BC923B05C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23522" y="2854191"/>
              <a:ext cx="679887" cy="186889"/>
            </a:xfrm>
            <a:prstGeom prst="rect">
              <a:avLst/>
            </a:prstGeom>
          </p:spPr>
        </p:pic>
      </p:grpSp>
      <p:grpSp>
        <p:nvGrpSpPr>
          <p:cNvPr id="6147" name="Group 6146">
            <a:extLst>
              <a:ext uri="{FF2B5EF4-FFF2-40B4-BE49-F238E27FC236}">
                <a16:creationId xmlns:a16="http://schemas.microsoft.com/office/drawing/2014/main" id="{23917ABE-34FA-0190-27A5-47BCE32C718E}"/>
              </a:ext>
            </a:extLst>
          </p:cNvPr>
          <p:cNvGrpSpPr/>
          <p:nvPr/>
        </p:nvGrpSpPr>
        <p:grpSpPr>
          <a:xfrm>
            <a:off x="9387075" y="2643610"/>
            <a:ext cx="2325023" cy="178335"/>
            <a:chOff x="9387075" y="2854191"/>
            <a:chExt cx="2325023" cy="178335"/>
          </a:xfrm>
        </p:grpSpPr>
        <p:pic>
          <p:nvPicPr>
            <p:cNvPr id="32" name="Picture 30">
              <a:extLst>
                <a:ext uri="{FF2B5EF4-FFF2-40B4-BE49-F238E27FC236}">
                  <a16:creationId xmlns:a16="http://schemas.microsoft.com/office/drawing/2014/main" id="{E3F8FF0F-1113-4FE3-D8A3-1AAFD4D6F6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884332" y="2854191"/>
              <a:ext cx="827766" cy="1783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Picture 32">
              <a:extLst>
                <a:ext uri="{FF2B5EF4-FFF2-40B4-BE49-F238E27FC236}">
                  <a16:creationId xmlns:a16="http://schemas.microsoft.com/office/drawing/2014/main" id="{B977757D-32CE-9FF8-E498-DC8BD167CED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87075" y="2888908"/>
              <a:ext cx="663375" cy="11066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7" name="Picture 40">
              <a:extLst>
                <a:ext uri="{FF2B5EF4-FFF2-40B4-BE49-F238E27FC236}">
                  <a16:creationId xmlns:a16="http://schemas.microsoft.com/office/drawing/2014/main" id="{A8EAA6ED-6AEE-46FA-25A8-7111C175AE1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35657" y="2857174"/>
              <a:ext cx="684105" cy="1741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" name="btfpNotesBox878883">
            <a:extLst>
              <a:ext uri="{FF2B5EF4-FFF2-40B4-BE49-F238E27FC236}">
                <a16:creationId xmlns:a16="http://schemas.microsoft.com/office/drawing/2014/main" id="{8DF8898C-1976-6351-CD15-291D531CBD3F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gray">
          <a:xfrm>
            <a:off x="330200" y="6666887"/>
            <a:ext cx="9882488" cy="123111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b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800">
                <a:solidFill>
                  <a:srgbClr val="000000"/>
                </a:solidFill>
              </a:rPr>
              <a:t>Source: Market participant interviews, Bain analysis, Secondary Research</a:t>
            </a:r>
          </a:p>
        </p:txBody>
      </p:sp>
      <p:sp>
        <p:nvSpPr>
          <p:cNvPr id="14" name="btfpNumberBubble399258">
            <a:extLst>
              <a:ext uri="{FF2B5EF4-FFF2-40B4-BE49-F238E27FC236}">
                <a16:creationId xmlns:a16="http://schemas.microsoft.com/office/drawing/2014/main" id="{C3955EA4-D5C7-D081-56D1-E290246F883A}"/>
              </a:ext>
            </a:extLst>
          </p:cNvPr>
          <p:cNvSpPr/>
          <p:nvPr/>
        </p:nvSpPr>
        <p:spPr bwMode="gray">
          <a:xfrm>
            <a:off x="54684" y="82614"/>
            <a:ext cx="288636" cy="28863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400" b="1">
                <a:solidFill>
                  <a:srgbClr val="CC0000"/>
                </a:solidFill>
              </a:rPr>
              <a:t>2</a:t>
            </a:r>
          </a:p>
        </p:txBody>
      </p:sp>
      <p:sp>
        <p:nvSpPr>
          <p:cNvPr id="21" name="btfpHighlightRectangle274318">
            <a:extLst>
              <a:ext uri="{FF2B5EF4-FFF2-40B4-BE49-F238E27FC236}">
                <a16:creationId xmlns:a16="http://schemas.microsoft.com/office/drawing/2014/main" id="{95F68458-A948-FB61-F0F2-1BB3418A1520}"/>
              </a:ext>
            </a:extLst>
          </p:cNvPr>
          <p:cNvSpPr/>
          <p:nvPr>
            <p:custDataLst>
              <p:tags r:id="rId5"/>
            </p:custDataLst>
          </p:nvPr>
        </p:nvSpPr>
        <p:spPr bwMode="gray">
          <a:xfrm>
            <a:off x="9191809" y="918293"/>
            <a:ext cx="2678786" cy="199727"/>
          </a:xfrm>
          <a:prstGeom prst="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CC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r>
              <a:rPr lang="en-US" sz="1000" b="1">
                <a:solidFill>
                  <a:srgbClr val="CC0000"/>
                </a:solidFill>
              </a:rPr>
              <a:t>Proposed priority segments for </a:t>
            </a:r>
            <a:r>
              <a:rPr lang="en-US" sz="1000" b="1" err="1">
                <a:solidFill>
                  <a:srgbClr val="CC0000"/>
                </a:solidFill>
              </a:rPr>
              <a:t>Sagility</a:t>
            </a:r>
            <a:endParaRPr lang="en-US" sz="1000" b="1">
              <a:solidFill>
                <a:srgbClr val="CC0000"/>
              </a:solidFill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44C309E-D2E3-54D4-19F6-8B771AB33CC8}"/>
              </a:ext>
            </a:extLst>
          </p:cNvPr>
          <p:cNvGrpSpPr/>
          <p:nvPr/>
        </p:nvGrpSpPr>
        <p:grpSpPr>
          <a:xfrm>
            <a:off x="4540550" y="2633345"/>
            <a:ext cx="2068047" cy="261202"/>
            <a:chOff x="4540550" y="2633345"/>
            <a:chExt cx="2068047" cy="261202"/>
          </a:xfrm>
        </p:grpSpPr>
        <p:grpSp>
          <p:nvGrpSpPr>
            <p:cNvPr id="6155" name="Group 6154">
              <a:extLst>
                <a:ext uri="{FF2B5EF4-FFF2-40B4-BE49-F238E27FC236}">
                  <a16:creationId xmlns:a16="http://schemas.microsoft.com/office/drawing/2014/main" id="{17F5BE39-33E1-9D08-8E6C-91D1295F1349}"/>
                </a:ext>
              </a:extLst>
            </p:cNvPr>
            <p:cNvGrpSpPr/>
            <p:nvPr/>
          </p:nvGrpSpPr>
          <p:grpSpPr>
            <a:xfrm>
              <a:off x="4827687" y="2678045"/>
              <a:ext cx="1780910" cy="164385"/>
              <a:chOff x="4827687" y="2847061"/>
              <a:chExt cx="1780910" cy="164385"/>
            </a:xfrm>
          </p:grpSpPr>
          <p:pic>
            <p:nvPicPr>
              <p:cNvPr id="24" name="Picture 10" descr="Download Bausch Health (Valeant Pharmaceuticals) Logo in SVG ...">
                <a:extLst>
                  <a:ext uri="{FF2B5EF4-FFF2-40B4-BE49-F238E27FC236}">
                    <a16:creationId xmlns:a16="http://schemas.microsoft.com/office/drawing/2014/main" id="{8EA3D5C6-9BB3-DD45-7C11-8C2C9828623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6599" b="39791"/>
              <a:stretch/>
            </p:blipFill>
            <p:spPr bwMode="auto">
              <a:xfrm>
                <a:off x="4827687" y="2847061"/>
                <a:ext cx="1090738" cy="16438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0172AA05-45B8-4A78-04DF-D69A05BD75B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897597" y="2847061"/>
                <a:ext cx="711000" cy="1510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D2ED55AB-6BAB-4FF0-E563-8E8BECB08E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4540550" y="2633345"/>
              <a:ext cx="194158" cy="261202"/>
            </a:xfrm>
            <a:prstGeom prst="rect">
              <a:avLst/>
            </a:prstGeom>
          </p:spPr>
        </p:pic>
      </p:grpSp>
      <p:sp>
        <p:nvSpPr>
          <p:cNvPr id="6160" name="btfpHighlightRectangle274318">
            <a:extLst>
              <a:ext uri="{FF2B5EF4-FFF2-40B4-BE49-F238E27FC236}">
                <a16:creationId xmlns:a16="http://schemas.microsoft.com/office/drawing/2014/main" id="{E1C05F50-9BA9-395E-1900-2A8FAE3080ED}"/>
              </a:ext>
            </a:extLst>
          </p:cNvPr>
          <p:cNvSpPr/>
          <p:nvPr>
            <p:custDataLst>
              <p:tags r:id="rId6"/>
            </p:custDataLst>
          </p:nvPr>
        </p:nvSpPr>
        <p:spPr bwMode="gray">
          <a:xfrm>
            <a:off x="4273111" y="1210311"/>
            <a:ext cx="5049393" cy="5150590"/>
          </a:xfrm>
          <a:prstGeom prst="rect">
            <a:avLst/>
          </a:prstGeom>
          <a:solidFill>
            <a:schemeClr val="bg1">
              <a:alpha val="0"/>
            </a:schemeClr>
          </a:solidFill>
          <a:ln w="28575">
            <a:solidFill>
              <a:srgbClr val="CC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n-US" sz="1600" err="1">
              <a:solidFill>
                <a:srgbClr val="CC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360176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B9528-4F6A-5338-4062-FA1F160D0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btfpColumnIndicatorGroup2">
            <a:extLst>
              <a:ext uri="{FF2B5EF4-FFF2-40B4-BE49-F238E27FC236}">
                <a16:creationId xmlns:a16="http://schemas.microsoft.com/office/drawing/2014/main" id="{785437DC-46E4-5412-F085-8936C8217D6D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10" name="btfpColumnGapBlocker300358">
              <a:extLst>
                <a:ext uri="{FF2B5EF4-FFF2-40B4-BE49-F238E27FC236}">
                  <a16:creationId xmlns:a16="http://schemas.microsoft.com/office/drawing/2014/main" id="{3471A6AC-74A5-D872-E64A-11DC0E617D80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8" name="btfpColumnGapBlocker365549">
              <a:extLst>
                <a:ext uri="{FF2B5EF4-FFF2-40B4-BE49-F238E27FC236}">
                  <a16:creationId xmlns:a16="http://schemas.microsoft.com/office/drawing/2014/main" id="{B8FD3B07-4B1B-6B26-BBF9-EFB7021FB97B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6" name="btfpColumnIndicator500071">
              <a:extLst>
                <a:ext uri="{FF2B5EF4-FFF2-40B4-BE49-F238E27FC236}">
                  <a16:creationId xmlns:a16="http://schemas.microsoft.com/office/drawing/2014/main" id="{3665EB31-EE60-CAAB-AD97-77D95F40B3C6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btfpColumnIndicator168095">
              <a:extLst>
                <a:ext uri="{FF2B5EF4-FFF2-40B4-BE49-F238E27FC236}">
                  <a16:creationId xmlns:a16="http://schemas.microsoft.com/office/drawing/2014/main" id="{D3524667-1958-F630-B1BC-66278F45D245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btfpColumnIndicatorGroup1">
            <a:extLst>
              <a:ext uri="{FF2B5EF4-FFF2-40B4-BE49-F238E27FC236}">
                <a16:creationId xmlns:a16="http://schemas.microsoft.com/office/drawing/2014/main" id="{9B5D712A-8421-3A15-9CAF-40F85ED02264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9" name="btfpColumnGapBlocker782200">
              <a:extLst>
                <a:ext uri="{FF2B5EF4-FFF2-40B4-BE49-F238E27FC236}">
                  <a16:creationId xmlns:a16="http://schemas.microsoft.com/office/drawing/2014/main" id="{639F26DA-6D80-1D00-6155-A54D46E234F0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7" name="btfpColumnGapBlocker529621">
              <a:extLst>
                <a:ext uri="{FF2B5EF4-FFF2-40B4-BE49-F238E27FC236}">
                  <a16:creationId xmlns:a16="http://schemas.microsoft.com/office/drawing/2014/main" id="{1628A865-2722-9FFD-F490-4CFEF3BA1868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5" name="btfpColumnIndicator240399">
              <a:extLst>
                <a:ext uri="{FF2B5EF4-FFF2-40B4-BE49-F238E27FC236}">
                  <a16:creationId xmlns:a16="http://schemas.microsoft.com/office/drawing/2014/main" id="{9DAF6802-942A-6608-ED29-1DBB2C552201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btfpColumnIndicator957779">
              <a:extLst>
                <a:ext uri="{FF2B5EF4-FFF2-40B4-BE49-F238E27FC236}">
                  <a16:creationId xmlns:a16="http://schemas.microsoft.com/office/drawing/2014/main" id="{78C8B90F-F859-597A-9297-70D94519D75B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0" name="think-cell data - do not delete" hidden="1">
            <a:extLst>
              <a:ext uri="{FF2B5EF4-FFF2-40B4-BE49-F238E27FC236}">
                <a16:creationId xmlns:a16="http://schemas.microsoft.com/office/drawing/2014/main" id="{1EC5F1FE-BD0F-447D-64AD-10630C7EA441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06799812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606" imgH="608" progId="TCLayout.ActiveDocument.1">
                  <p:embed/>
                </p:oleObj>
              </mc:Choice>
              <mc:Fallback>
                <p:oleObj name="think-cell Slide" r:id="rId9" imgW="606" imgH="608" progId="TCLayout.ActiveDocument.1">
                  <p:embed/>
                  <p:pic>
                    <p:nvPicPr>
                      <p:cNvPr id="2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EC5F1FE-BD0F-447D-64AD-10630C7EA4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btfpColumnHeaderBox565470">
            <a:extLst>
              <a:ext uri="{FF2B5EF4-FFF2-40B4-BE49-F238E27FC236}">
                <a16:creationId xmlns:a16="http://schemas.microsoft.com/office/drawing/2014/main" id="{EA17AB50-B256-9CA2-00EB-35805B2D0C11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330198" y="1237002"/>
            <a:ext cx="5291638" cy="318997"/>
            <a:chOff x="330200" y="1441775"/>
            <a:chExt cx="11531600" cy="318997"/>
          </a:xfrm>
        </p:grpSpPr>
        <p:sp>
          <p:nvSpPr>
            <p:cNvPr id="13" name="btfpColumnHeaderBoxText565470">
              <a:extLst>
                <a:ext uri="{FF2B5EF4-FFF2-40B4-BE49-F238E27FC236}">
                  <a16:creationId xmlns:a16="http://schemas.microsoft.com/office/drawing/2014/main" id="{28280DA4-D0A8-733D-8C51-3F0EABF08A63}"/>
                </a:ext>
              </a:extLst>
            </p:cNvPr>
            <p:cNvSpPr txBox="1"/>
            <p:nvPr/>
          </p:nvSpPr>
          <p:spPr bwMode="gray">
            <a:xfrm>
              <a:off x="330200" y="1441775"/>
              <a:ext cx="11531600" cy="315913"/>
            </a:xfrm>
            <a:prstGeom prst="rect">
              <a:avLst/>
            </a:prstGeom>
            <a:noFill/>
          </p:spPr>
          <p:txBody>
            <a:bodyPr vert="horz" wrap="square" lIns="36036" tIns="36036" rIns="36036" bIns="36036" rtlCol="0" anchor="b">
              <a:spAutoFit/>
            </a:bodyPr>
            <a:lstStyle/>
            <a:p>
              <a:pPr marL="0" indent="0">
                <a:spcBef>
                  <a:spcPts val="0"/>
                </a:spcBef>
                <a:buNone/>
              </a:pPr>
              <a:r>
                <a:rPr lang="en-US" b="1">
                  <a:solidFill>
                    <a:srgbClr val="000000"/>
                  </a:solidFill>
                </a:rPr>
                <a:t>Mid/ Small Pharma companies</a:t>
              </a:r>
            </a:p>
          </p:txBody>
        </p:sp>
        <p:cxnSp>
          <p:nvCxnSpPr>
            <p:cNvPr id="14" name="btfpColumnHeaderBoxLine565470">
              <a:extLst>
                <a:ext uri="{FF2B5EF4-FFF2-40B4-BE49-F238E27FC236}">
                  <a16:creationId xmlns:a16="http://schemas.microsoft.com/office/drawing/2014/main" id="{D66CED9B-6816-73C1-897D-CFB8E5AE14A2}"/>
                </a:ext>
              </a:extLst>
            </p:cNvPr>
            <p:cNvCxnSpPr/>
            <p:nvPr/>
          </p:nvCxnSpPr>
          <p:spPr bwMode="gray">
            <a:xfrm>
              <a:off x="330200" y="1760772"/>
              <a:ext cx="11531600" cy="0"/>
            </a:xfrm>
            <a:prstGeom prst="line">
              <a:avLst/>
            </a:prstGeom>
            <a:ln w="9525" cap="flat">
              <a:solidFill>
                <a:srgbClr val="000000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btfpColumnHeaderBox565470">
            <a:extLst>
              <a:ext uri="{FF2B5EF4-FFF2-40B4-BE49-F238E27FC236}">
                <a16:creationId xmlns:a16="http://schemas.microsoft.com/office/drawing/2014/main" id="{CEDBD80F-9538-B70C-7BA8-8B72CD0DBA6D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6565401" y="1241694"/>
            <a:ext cx="5291638" cy="318997"/>
            <a:chOff x="330200" y="1458871"/>
            <a:chExt cx="11531600" cy="318997"/>
          </a:xfrm>
        </p:grpSpPr>
        <p:sp>
          <p:nvSpPr>
            <p:cNvPr id="17" name="btfpColumnHeaderBoxText565470">
              <a:extLst>
                <a:ext uri="{FF2B5EF4-FFF2-40B4-BE49-F238E27FC236}">
                  <a16:creationId xmlns:a16="http://schemas.microsoft.com/office/drawing/2014/main" id="{4C64CD88-0F98-82EA-6923-8751DEE2EAB1}"/>
                </a:ext>
              </a:extLst>
            </p:cNvPr>
            <p:cNvSpPr txBox="1"/>
            <p:nvPr/>
          </p:nvSpPr>
          <p:spPr bwMode="gray">
            <a:xfrm>
              <a:off x="330200" y="1458871"/>
              <a:ext cx="11531600" cy="315913"/>
            </a:xfrm>
            <a:prstGeom prst="rect">
              <a:avLst/>
            </a:prstGeom>
            <a:noFill/>
          </p:spPr>
          <p:txBody>
            <a:bodyPr vert="horz" wrap="square" lIns="36036" tIns="36036" rIns="36036" bIns="36036" rtlCol="0" anchor="b">
              <a:spAutoFit/>
            </a:bodyPr>
            <a:lstStyle/>
            <a:p>
              <a:pPr marL="0" indent="0">
                <a:spcBef>
                  <a:spcPts val="0"/>
                </a:spcBef>
                <a:buNone/>
              </a:pPr>
              <a:r>
                <a:rPr lang="en-US" b="1">
                  <a:solidFill>
                    <a:srgbClr val="000000"/>
                  </a:solidFill>
                </a:rPr>
                <a:t>Biotech companies</a:t>
              </a:r>
              <a:endParaRPr lang="en-US" sz="1600" b="1">
                <a:solidFill>
                  <a:srgbClr val="000000"/>
                </a:solidFill>
              </a:endParaRPr>
            </a:p>
          </p:txBody>
        </p:sp>
        <p:cxnSp>
          <p:nvCxnSpPr>
            <p:cNvPr id="18" name="btfpColumnHeaderBoxLine565470">
              <a:extLst>
                <a:ext uri="{FF2B5EF4-FFF2-40B4-BE49-F238E27FC236}">
                  <a16:creationId xmlns:a16="http://schemas.microsoft.com/office/drawing/2014/main" id="{5A885D8C-49DF-0C7D-2F5E-D9BBD363B2BD}"/>
                </a:ext>
              </a:extLst>
            </p:cNvPr>
            <p:cNvCxnSpPr/>
            <p:nvPr/>
          </p:nvCxnSpPr>
          <p:spPr bwMode="gray">
            <a:xfrm>
              <a:off x="330200" y="1777868"/>
              <a:ext cx="11531600" cy="0"/>
            </a:xfrm>
            <a:prstGeom prst="line">
              <a:avLst/>
            </a:prstGeom>
            <a:ln w="9525" cap="flat">
              <a:solidFill>
                <a:srgbClr val="000000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45" name="TextBox 3244">
            <a:extLst>
              <a:ext uri="{FF2B5EF4-FFF2-40B4-BE49-F238E27FC236}">
                <a16:creationId xmlns:a16="http://schemas.microsoft.com/office/drawing/2014/main" id="{D1FA4B74-E80E-60FF-7DD4-6F48A1504580}"/>
              </a:ext>
            </a:extLst>
          </p:cNvPr>
          <p:cNvSpPr txBox="1"/>
          <p:nvPr/>
        </p:nvSpPr>
        <p:spPr bwMode="gray">
          <a:xfrm>
            <a:off x="9787930" y="3808976"/>
            <a:ext cx="884679" cy="226591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0" indent="0" algn="ctr">
              <a:buNone/>
            </a:pPr>
            <a:r>
              <a:rPr lang="en-US" sz="1000" b="1" i="1"/>
              <a:t>~$4.9B</a:t>
            </a:r>
            <a:endParaRPr lang="en-US" sz="1000" b="1" i="1">
              <a:solidFill>
                <a:schemeClr val="dk1"/>
              </a:solidFill>
            </a:endParaRPr>
          </a:p>
        </p:txBody>
      </p:sp>
      <p:sp>
        <p:nvSpPr>
          <p:cNvPr id="3281" name="btfpNotesBox878883">
            <a:extLst>
              <a:ext uri="{FF2B5EF4-FFF2-40B4-BE49-F238E27FC236}">
                <a16:creationId xmlns:a16="http://schemas.microsoft.com/office/drawing/2014/main" id="{608FCC8E-EAC7-1724-0C14-346F608C5249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gray">
          <a:xfrm>
            <a:off x="330200" y="6677773"/>
            <a:ext cx="9882488" cy="123111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b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800">
                <a:solidFill>
                  <a:srgbClr val="000000"/>
                </a:solidFill>
              </a:rPr>
              <a:t>Note: 1) Numbers indicate FY24 consolidated revenue numbers | Source: Market participant interviews, Bain analysis, Secondary Research</a:t>
            </a:r>
          </a:p>
        </p:txBody>
      </p:sp>
      <p:grpSp>
        <p:nvGrpSpPr>
          <p:cNvPr id="3286" name="btfpStatusSticker182360">
            <a:extLst>
              <a:ext uri="{FF2B5EF4-FFF2-40B4-BE49-F238E27FC236}">
                <a16:creationId xmlns:a16="http://schemas.microsoft.com/office/drawing/2014/main" id="{824FA8FC-D10A-A93A-709D-D2ECDC23DEC0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9605733" y="955344"/>
            <a:ext cx="2256067" cy="235611"/>
            <a:chOff x="-4284828" y="876300"/>
            <a:chExt cx="2256067" cy="235611"/>
          </a:xfrm>
        </p:grpSpPr>
        <p:sp>
          <p:nvSpPr>
            <p:cNvPr id="3287" name="btfpStatusStickerText182360">
              <a:extLst>
                <a:ext uri="{FF2B5EF4-FFF2-40B4-BE49-F238E27FC236}">
                  <a16:creationId xmlns:a16="http://schemas.microsoft.com/office/drawing/2014/main" id="{78A3CDB2-6D07-E5A1-4EEE-AFCBFAF25851}"/>
                </a:ext>
              </a:extLst>
            </p:cNvPr>
            <p:cNvSpPr txBox="1"/>
            <p:nvPr/>
          </p:nvSpPr>
          <p:spPr bwMode="gray">
            <a:xfrm>
              <a:off x="-4284828" y="876300"/>
              <a:ext cx="2256067" cy="235611"/>
            </a:xfrm>
            <a:prstGeom prst="rect">
              <a:avLst/>
            </a:prstGeom>
            <a:noFill/>
          </p:spPr>
          <p:txBody>
            <a:bodyPr vert="horz" wrap="none" lIns="72073" tIns="25226" rIns="0" bIns="25226" rtlCol="0" anchor="t">
              <a:spAutoFit/>
            </a:bodyPr>
            <a:lstStyle/>
            <a:p>
              <a:pPr marL="0" indent="0" algn="r">
                <a:spcBef>
                  <a:spcPts val="0"/>
                </a:spcBef>
                <a:buNone/>
              </a:pPr>
              <a:r>
                <a:rPr lang="en-US" sz="1200" b="1" cap="all" spc="450">
                  <a:solidFill>
                    <a:srgbClr val="000000"/>
                  </a:solidFill>
                </a:rPr>
                <a:t>Non-Exhaustive</a:t>
              </a:r>
            </a:p>
          </p:txBody>
        </p:sp>
        <p:cxnSp>
          <p:nvCxnSpPr>
            <p:cNvPr id="3288" name="btfpStatusStickerLine182360">
              <a:extLst>
                <a:ext uri="{FF2B5EF4-FFF2-40B4-BE49-F238E27FC236}">
                  <a16:creationId xmlns:a16="http://schemas.microsoft.com/office/drawing/2014/main" id="{6F14C0C8-BBBA-7D96-BA6C-53750E406CC1}"/>
                </a:ext>
              </a:extLst>
            </p:cNvPr>
            <p:cNvCxnSpPr>
              <a:cxnSpLocks/>
            </p:cNvCxnSpPr>
            <p:nvPr/>
          </p:nvCxnSpPr>
          <p:spPr bwMode="gray">
            <a:xfrm rot="720000">
              <a:off x="-4284828" y="876300"/>
              <a:ext cx="0" cy="235611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miter lim="800000"/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2" name="Picture 10" descr="Download Bausch Health (Valeant Pharmaceuticals) Logo in SVG ...">
            <a:extLst>
              <a:ext uri="{FF2B5EF4-FFF2-40B4-BE49-F238E27FC236}">
                <a16:creationId xmlns:a16="http://schemas.microsoft.com/office/drawing/2014/main" id="{4D6F7340-ACD4-E017-CAA5-F0399D754F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599" b="39791"/>
          <a:stretch/>
        </p:blipFill>
        <p:spPr bwMode="auto">
          <a:xfrm>
            <a:off x="502531" y="1941765"/>
            <a:ext cx="2829092" cy="426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 descr="Media - Organon - UK">
            <a:extLst>
              <a:ext uri="{FF2B5EF4-FFF2-40B4-BE49-F238E27FC236}">
                <a16:creationId xmlns:a16="http://schemas.microsoft.com/office/drawing/2014/main" id="{F895EF4F-726F-6DA2-80A5-F6CF584C56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930" y="2907360"/>
            <a:ext cx="2290147" cy="328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4">
            <a:extLst>
              <a:ext uri="{FF2B5EF4-FFF2-40B4-BE49-F238E27FC236}">
                <a16:creationId xmlns:a16="http://schemas.microsoft.com/office/drawing/2014/main" id="{6826DFF1-2B80-BBE5-83EB-3787676E15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0797" y="4121935"/>
            <a:ext cx="2454565" cy="521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6" descr="Servier logo — ASIBA">
            <a:extLst>
              <a:ext uri="{FF2B5EF4-FFF2-40B4-BE49-F238E27FC236}">
                <a16:creationId xmlns:a16="http://schemas.microsoft.com/office/drawing/2014/main" id="{28B70888-79CE-9E68-9747-D289922A8F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3295" y="1659199"/>
            <a:ext cx="2216864" cy="708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8">
            <a:extLst>
              <a:ext uri="{FF2B5EF4-FFF2-40B4-BE49-F238E27FC236}">
                <a16:creationId xmlns:a16="http://schemas.microsoft.com/office/drawing/2014/main" id="{880777CB-3966-B166-BF2F-2025A24D59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9480" y="2815627"/>
            <a:ext cx="1175207" cy="420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073">
            <a:extLst>
              <a:ext uri="{FF2B5EF4-FFF2-40B4-BE49-F238E27FC236}">
                <a16:creationId xmlns:a16="http://schemas.microsoft.com/office/drawing/2014/main" id="{7CAE311B-2FB4-1C86-524E-7E3936A54C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4721" y="1819905"/>
            <a:ext cx="1720621" cy="571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>
            <a:extLst>
              <a:ext uri="{FF2B5EF4-FFF2-40B4-BE49-F238E27FC236}">
                <a16:creationId xmlns:a16="http://schemas.microsoft.com/office/drawing/2014/main" id="{4A089389-228A-9945-8C5C-A90676D818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8352" y="1930678"/>
            <a:ext cx="1564201" cy="331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12">
            <a:extLst>
              <a:ext uri="{FF2B5EF4-FFF2-40B4-BE49-F238E27FC236}">
                <a16:creationId xmlns:a16="http://schemas.microsoft.com/office/drawing/2014/main" id="{1BBC3E20-A9D9-916D-488D-5D44EFFD24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0968" y="2953628"/>
            <a:ext cx="1466443" cy="735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16" descr="Eisai (company) - Wikipedia">
            <a:extLst>
              <a:ext uri="{FF2B5EF4-FFF2-40B4-BE49-F238E27FC236}">
                <a16:creationId xmlns:a16="http://schemas.microsoft.com/office/drawing/2014/main" id="{EFE8EF1C-4A1B-6771-14EC-E4F71C0A2B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9216" y="2886567"/>
            <a:ext cx="1464401" cy="842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18">
            <a:extLst>
              <a:ext uri="{FF2B5EF4-FFF2-40B4-BE49-F238E27FC236}">
                <a16:creationId xmlns:a16="http://schemas.microsoft.com/office/drawing/2014/main" id="{3707B8EC-2499-C9A6-9DCD-BF2E64380D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0853" y="4214294"/>
            <a:ext cx="1308384" cy="842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31" descr="A blue text on a black background&#10;&#10;Description automatically generated">
            <a:extLst>
              <a:ext uri="{FF2B5EF4-FFF2-40B4-BE49-F238E27FC236}">
                <a16:creationId xmlns:a16="http://schemas.microsoft.com/office/drawing/2014/main" id="{EB0B13FA-9B3F-3B39-6A94-F0499A67E144}"/>
              </a:ext>
            </a:extLst>
          </p:cNvPr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8120" y="4310026"/>
            <a:ext cx="2133778" cy="586543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5F2B2AF2-A122-E6B3-9D55-151DF667B808}"/>
              </a:ext>
            </a:extLst>
          </p:cNvPr>
          <p:cNvSpPr txBox="1"/>
          <p:nvPr/>
        </p:nvSpPr>
        <p:spPr bwMode="gray">
          <a:xfrm>
            <a:off x="9787930" y="5102069"/>
            <a:ext cx="884679" cy="226591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0" indent="0" algn="ctr">
              <a:buNone/>
            </a:pPr>
            <a:r>
              <a:rPr lang="en-US" sz="1000" b="1" i="1"/>
              <a:t>~$3.7B</a:t>
            </a:r>
            <a:endParaRPr lang="en-US" sz="1000" b="1" i="1">
              <a:solidFill>
                <a:schemeClr val="dk1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4429ADC-C219-C3C9-DA38-9E5143D08788}"/>
              </a:ext>
            </a:extLst>
          </p:cNvPr>
          <p:cNvSpPr txBox="1"/>
          <p:nvPr/>
        </p:nvSpPr>
        <p:spPr bwMode="gray">
          <a:xfrm>
            <a:off x="9787930" y="2503818"/>
            <a:ext cx="884679" cy="226591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0" indent="0" algn="ctr">
              <a:buNone/>
            </a:pPr>
            <a:r>
              <a:rPr lang="en-US" sz="1000" b="1" i="1"/>
              <a:t>~$7.8B</a:t>
            </a:r>
            <a:endParaRPr lang="en-US" sz="1000" b="1" i="1">
              <a:solidFill>
                <a:schemeClr val="dk1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B4AB68F-34F6-2F6A-8C0E-8F063E03714C}"/>
              </a:ext>
            </a:extLst>
          </p:cNvPr>
          <p:cNvSpPr txBox="1"/>
          <p:nvPr/>
        </p:nvSpPr>
        <p:spPr bwMode="gray">
          <a:xfrm>
            <a:off x="7115283" y="3808977"/>
            <a:ext cx="884679" cy="226591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0" indent="0" algn="ctr">
              <a:buNone/>
            </a:pPr>
            <a:r>
              <a:rPr lang="en-US" sz="1000" b="1" i="1"/>
              <a:t>~$7.7B</a:t>
            </a:r>
            <a:endParaRPr lang="en-US" sz="1000" b="1" i="1">
              <a:solidFill>
                <a:schemeClr val="dk1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E706A21-AC73-B18D-0845-3181CE2231BC}"/>
              </a:ext>
            </a:extLst>
          </p:cNvPr>
          <p:cNvSpPr txBox="1"/>
          <p:nvPr/>
        </p:nvSpPr>
        <p:spPr bwMode="gray">
          <a:xfrm>
            <a:off x="7115283" y="5107510"/>
            <a:ext cx="884679" cy="226591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0" indent="0" algn="ctr">
              <a:buNone/>
            </a:pPr>
            <a:r>
              <a:rPr lang="en-US" sz="1000" b="1" i="1"/>
              <a:t>~$4.3B</a:t>
            </a:r>
            <a:endParaRPr lang="en-US" sz="1000" b="1" i="1">
              <a:solidFill>
                <a:schemeClr val="dk1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051534A-163F-15E7-0C58-A29C920D15FD}"/>
              </a:ext>
            </a:extLst>
          </p:cNvPr>
          <p:cNvSpPr txBox="1"/>
          <p:nvPr/>
        </p:nvSpPr>
        <p:spPr bwMode="gray">
          <a:xfrm>
            <a:off x="7115283" y="2503818"/>
            <a:ext cx="884679" cy="226591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0" indent="0" algn="ctr">
              <a:buNone/>
            </a:pPr>
            <a:r>
              <a:rPr lang="en-US" sz="1000" b="1" i="1"/>
              <a:t>~$9.7B</a:t>
            </a:r>
            <a:endParaRPr lang="en-US" sz="1000" b="1" i="1">
              <a:solidFill>
                <a:schemeClr val="dk1"/>
              </a:solidFill>
            </a:endParaRPr>
          </a:p>
        </p:txBody>
      </p:sp>
      <p:pic>
        <p:nvPicPr>
          <p:cNvPr id="3149" name="Picture 3148">
            <a:extLst>
              <a:ext uri="{FF2B5EF4-FFF2-40B4-BE49-F238E27FC236}">
                <a16:creationId xmlns:a16="http://schemas.microsoft.com/office/drawing/2014/main" id="{5F84D381-435F-292A-21B0-342C815780AC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53760" y="3800161"/>
            <a:ext cx="626801" cy="843243"/>
          </a:xfrm>
          <a:prstGeom prst="rect">
            <a:avLst/>
          </a:prstGeom>
        </p:spPr>
      </p:pic>
      <p:pic>
        <p:nvPicPr>
          <p:cNvPr id="3152" name="Picture 3151">
            <a:extLst>
              <a:ext uri="{FF2B5EF4-FFF2-40B4-BE49-F238E27FC236}">
                <a16:creationId xmlns:a16="http://schemas.microsoft.com/office/drawing/2014/main" id="{6BB03D76-073F-2328-3FB3-B680307E227C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077612" y="5555385"/>
            <a:ext cx="1320857" cy="457914"/>
          </a:xfrm>
          <a:prstGeom prst="rect">
            <a:avLst/>
          </a:prstGeom>
        </p:spPr>
      </p:pic>
      <p:pic>
        <p:nvPicPr>
          <p:cNvPr id="3155" name="Picture 3154">
            <a:extLst>
              <a:ext uri="{FF2B5EF4-FFF2-40B4-BE49-F238E27FC236}">
                <a16:creationId xmlns:a16="http://schemas.microsoft.com/office/drawing/2014/main" id="{57BF07A6-917E-47BB-2442-EC33C6306815}"/>
              </a:ext>
            </a:extLst>
          </p:cNvPr>
          <p:cNvPicPr>
            <a:picLocks noChangeAspect="1"/>
          </p:cNvPicPr>
          <p:nvPr/>
        </p:nvPicPr>
        <p:blipFill>
          <a:blip r:embed="rId24"/>
          <a:srcRect t="22075" b="12002"/>
          <a:stretch/>
        </p:blipFill>
        <p:spPr>
          <a:xfrm>
            <a:off x="3673021" y="5371435"/>
            <a:ext cx="1919936" cy="641864"/>
          </a:xfrm>
          <a:prstGeom prst="rect">
            <a:avLst/>
          </a:prstGeom>
        </p:spPr>
      </p:pic>
      <p:sp>
        <p:nvSpPr>
          <p:cNvPr id="3166" name="TextBox 3165">
            <a:extLst>
              <a:ext uri="{FF2B5EF4-FFF2-40B4-BE49-F238E27FC236}">
                <a16:creationId xmlns:a16="http://schemas.microsoft.com/office/drawing/2014/main" id="{BB71C365-C157-4D5D-10BD-7A627232DB3D}"/>
              </a:ext>
            </a:extLst>
          </p:cNvPr>
          <p:cNvSpPr txBox="1"/>
          <p:nvPr/>
        </p:nvSpPr>
        <p:spPr bwMode="gray">
          <a:xfrm>
            <a:off x="1132429" y="3345884"/>
            <a:ext cx="884679" cy="226591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0" indent="0" algn="ctr">
              <a:buNone/>
            </a:pPr>
            <a:r>
              <a:rPr lang="en-US" sz="1000" b="1" i="1"/>
              <a:t>~$6.4B</a:t>
            </a:r>
            <a:endParaRPr lang="en-US" sz="1000" b="1" i="1">
              <a:solidFill>
                <a:schemeClr val="dk1"/>
              </a:solidFill>
            </a:endParaRPr>
          </a:p>
        </p:txBody>
      </p:sp>
      <p:sp>
        <p:nvSpPr>
          <p:cNvPr id="3168" name="TextBox 3167">
            <a:extLst>
              <a:ext uri="{FF2B5EF4-FFF2-40B4-BE49-F238E27FC236}">
                <a16:creationId xmlns:a16="http://schemas.microsoft.com/office/drawing/2014/main" id="{F7F9DE4D-687C-DA70-B670-3A1A19CEC43D}"/>
              </a:ext>
            </a:extLst>
          </p:cNvPr>
          <p:cNvSpPr txBox="1"/>
          <p:nvPr/>
        </p:nvSpPr>
        <p:spPr bwMode="gray">
          <a:xfrm>
            <a:off x="3583803" y="3344538"/>
            <a:ext cx="884679" cy="226591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0" indent="0" algn="ctr">
              <a:buNone/>
            </a:pPr>
            <a:r>
              <a:rPr lang="en-US" sz="1000" b="1" i="1"/>
              <a:t>~$4.4B</a:t>
            </a:r>
            <a:endParaRPr lang="en-US" sz="1000" b="1" i="1">
              <a:solidFill>
                <a:schemeClr val="dk1"/>
              </a:solidFill>
            </a:endParaRPr>
          </a:p>
        </p:txBody>
      </p:sp>
      <p:sp>
        <p:nvSpPr>
          <p:cNvPr id="3169" name="TextBox 3168">
            <a:extLst>
              <a:ext uri="{FF2B5EF4-FFF2-40B4-BE49-F238E27FC236}">
                <a16:creationId xmlns:a16="http://schemas.microsoft.com/office/drawing/2014/main" id="{251760DF-53A9-C344-F2B1-DEB72972972B}"/>
              </a:ext>
            </a:extLst>
          </p:cNvPr>
          <p:cNvSpPr txBox="1"/>
          <p:nvPr/>
        </p:nvSpPr>
        <p:spPr bwMode="gray">
          <a:xfrm>
            <a:off x="958079" y="4771639"/>
            <a:ext cx="884679" cy="226591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0" indent="0" algn="ctr">
              <a:buNone/>
            </a:pPr>
            <a:r>
              <a:rPr lang="en-US" sz="1000" b="1" i="1"/>
              <a:t>~$3.9B</a:t>
            </a:r>
            <a:endParaRPr lang="en-US" sz="1000" b="1" i="1">
              <a:solidFill>
                <a:schemeClr val="dk1"/>
              </a:solidFill>
            </a:endParaRPr>
          </a:p>
        </p:txBody>
      </p:sp>
      <p:sp>
        <p:nvSpPr>
          <p:cNvPr id="3170" name="TextBox 3169">
            <a:extLst>
              <a:ext uri="{FF2B5EF4-FFF2-40B4-BE49-F238E27FC236}">
                <a16:creationId xmlns:a16="http://schemas.microsoft.com/office/drawing/2014/main" id="{CF00C91A-0310-C5A7-C57C-EDDE072CC053}"/>
              </a:ext>
            </a:extLst>
          </p:cNvPr>
          <p:cNvSpPr txBox="1"/>
          <p:nvPr/>
        </p:nvSpPr>
        <p:spPr bwMode="gray">
          <a:xfrm>
            <a:off x="4245748" y="6097480"/>
            <a:ext cx="884679" cy="226591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0" indent="0" algn="ctr">
              <a:buNone/>
            </a:pPr>
            <a:r>
              <a:rPr lang="en-US" sz="1000" b="1" i="1"/>
              <a:t>~$1B</a:t>
            </a:r>
            <a:endParaRPr lang="en-US" sz="1000" b="1" i="1">
              <a:solidFill>
                <a:schemeClr val="dk1"/>
              </a:solidFill>
            </a:endParaRPr>
          </a:p>
        </p:txBody>
      </p:sp>
      <p:sp>
        <p:nvSpPr>
          <p:cNvPr id="3171" name="TextBox 3170">
            <a:extLst>
              <a:ext uri="{FF2B5EF4-FFF2-40B4-BE49-F238E27FC236}">
                <a16:creationId xmlns:a16="http://schemas.microsoft.com/office/drawing/2014/main" id="{3A7F20A2-B097-F9C8-4CA4-50B68A169D09}"/>
              </a:ext>
            </a:extLst>
          </p:cNvPr>
          <p:cNvSpPr txBox="1"/>
          <p:nvPr/>
        </p:nvSpPr>
        <p:spPr bwMode="gray">
          <a:xfrm>
            <a:off x="2244839" y="6097480"/>
            <a:ext cx="884679" cy="226591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0" indent="0" algn="ctr">
              <a:buNone/>
            </a:pPr>
            <a:r>
              <a:rPr lang="en-US" sz="1000" b="1" i="1"/>
              <a:t>~$2.6B</a:t>
            </a:r>
            <a:endParaRPr lang="en-US" sz="1000" b="1" i="1">
              <a:solidFill>
                <a:schemeClr val="dk1"/>
              </a:solidFill>
            </a:endParaRPr>
          </a:p>
        </p:txBody>
      </p:sp>
      <p:sp>
        <p:nvSpPr>
          <p:cNvPr id="3172" name="TextBox 3171">
            <a:extLst>
              <a:ext uri="{FF2B5EF4-FFF2-40B4-BE49-F238E27FC236}">
                <a16:creationId xmlns:a16="http://schemas.microsoft.com/office/drawing/2014/main" id="{13A60F55-4B3E-C055-E7D0-47F0DE23EF34}"/>
              </a:ext>
            </a:extLst>
          </p:cNvPr>
          <p:cNvSpPr txBox="1"/>
          <p:nvPr/>
        </p:nvSpPr>
        <p:spPr bwMode="gray">
          <a:xfrm>
            <a:off x="1423392" y="2418794"/>
            <a:ext cx="884679" cy="226591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0" indent="0" algn="ctr">
              <a:buNone/>
            </a:pPr>
            <a:r>
              <a:rPr lang="en-US" sz="1000" b="1" i="1"/>
              <a:t>~$7.2B</a:t>
            </a:r>
            <a:endParaRPr lang="en-US" sz="1000" b="1" i="1">
              <a:solidFill>
                <a:schemeClr val="dk1"/>
              </a:solidFill>
            </a:endParaRPr>
          </a:p>
        </p:txBody>
      </p:sp>
      <p:sp>
        <p:nvSpPr>
          <p:cNvPr id="3193" name="TextBox 3192">
            <a:extLst>
              <a:ext uri="{FF2B5EF4-FFF2-40B4-BE49-F238E27FC236}">
                <a16:creationId xmlns:a16="http://schemas.microsoft.com/office/drawing/2014/main" id="{218EB03B-2072-5425-917A-947CA726E162}"/>
              </a:ext>
            </a:extLst>
          </p:cNvPr>
          <p:cNvSpPr txBox="1"/>
          <p:nvPr/>
        </p:nvSpPr>
        <p:spPr bwMode="gray">
          <a:xfrm>
            <a:off x="3398111" y="4771639"/>
            <a:ext cx="884679" cy="226591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0" indent="0" algn="ctr">
              <a:buNone/>
            </a:pPr>
            <a:r>
              <a:rPr lang="en-US" sz="1000" b="1" i="1"/>
              <a:t>~$3.4B</a:t>
            </a:r>
            <a:endParaRPr lang="en-US" sz="1000" b="1" i="1">
              <a:solidFill>
                <a:schemeClr val="dk1"/>
              </a:solidFill>
            </a:endParaRPr>
          </a:p>
        </p:txBody>
      </p:sp>
      <p:sp>
        <p:nvSpPr>
          <p:cNvPr id="3194" name="TextBox 3193">
            <a:extLst>
              <a:ext uri="{FF2B5EF4-FFF2-40B4-BE49-F238E27FC236}">
                <a16:creationId xmlns:a16="http://schemas.microsoft.com/office/drawing/2014/main" id="{4AC93982-7A7C-22CD-4E8C-B002A07F1FD6}"/>
              </a:ext>
            </a:extLst>
          </p:cNvPr>
          <p:cNvSpPr txBox="1"/>
          <p:nvPr/>
        </p:nvSpPr>
        <p:spPr bwMode="gray">
          <a:xfrm>
            <a:off x="3758036" y="2418794"/>
            <a:ext cx="884679" cy="226591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0" indent="0" algn="ctr">
              <a:buNone/>
            </a:pPr>
            <a:r>
              <a:rPr lang="en-US" sz="1000" b="1" i="1"/>
              <a:t>~$6.4B</a:t>
            </a:r>
            <a:endParaRPr lang="en-US" sz="1000" b="1" i="1">
              <a:solidFill>
                <a:schemeClr val="dk1"/>
              </a:solidFill>
            </a:endParaRPr>
          </a:p>
        </p:txBody>
      </p:sp>
      <p:pic>
        <p:nvPicPr>
          <p:cNvPr id="1026" name="Picture 2" descr="BioNTech: Advancing science to help transform cancer and infectious disease  treatments">
            <a:extLst>
              <a:ext uri="{FF2B5EF4-FFF2-40B4-BE49-F238E27FC236}">
                <a16:creationId xmlns:a16="http://schemas.microsoft.com/office/drawing/2014/main" id="{27301BF8-04B1-4DDE-F021-3E9CBEF30C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7673" y="5532717"/>
            <a:ext cx="1762705" cy="587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2CE9D238-8AE2-E618-9108-C98598E099BF}"/>
              </a:ext>
            </a:extLst>
          </p:cNvPr>
          <p:cNvSpPr txBox="1"/>
          <p:nvPr/>
        </p:nvSpPr>
        <p:spPr bwMode="gray">
          <a:xfrm>
            <a:off x="7115283" y="6112073"/>
            <a:ext cx="884679" cy="226591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0" indent="0" algn="ctr">
              <a:buNone/>
            </a:pPr>
            <a:r>
              <a:rPr lang="en-US" sz="1000" b="1" i="1"/>
              <a:t>~$3B</a:t>
            </a:r>
            <a:endParaRPr lang="en-US" sz="1000" b="1" i="1">
              <a:solidFill>
                <a:schemeClr val="dk1"/>
              </a:solidFill>
            </a:endParaRPr>
          </a:p>
        </p:txBody>
      </p:sp>
      <p:pic>
        <p:nvPicPr>
          <p:cNvPr id="1028" name="Picture 4" descr="(PRNewsfoto/Neurocrine Biosciences, Inc.)">
            <a:extLst>
              <a:ext uri="{FF2B5EF4-FFF2-40B4-BE49-F238E27FC236}">
                <a16:creationId xmlns:a16="http://schemas.microsoft.com/office/drawing/2014/main" id="{923FC08D-6DAF-5D23-3770-A42432A24A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4421" y="5554016"/>
            <a:ext cx="2520585" cy="466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43" name="TextBox 3142">
            <a:extLst>
              <a:ext uri="{FF2B5EF4-FFF2-40B4-BE49-F238E27FC236}">
                <a16:creationId xmlns:a16="http://schemas.microsoft.com/office/drawing/2014/main" id="{82F58B6D-3C3B-96E7-16A2-E8DF5EBF27D9}"/>
              </a:ext>
            </a:extLst>
          </p:cNvPr>
          <p:cNvSpPr txBox="1"/>
          <p:nvPr/>
        </p:nvSpPr>
        <p:spPr bwMode="gray">
          <a:xfrm>
            <a:off x="9787929" y="6168332"/>
            <a:ext cx="884679" cy="226591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0" indent="0" algn="ctr">
              <a:buNone/>
            </a:pPr>
            <a:r>
              <a:rPr lang="en-US" sz="1000" b="1" i="1"/>
              <a:t>~$2.3B</a:t>
            </a:r>
            <a:endParaRPr lang="en-US" sz="1000" b="1" i="1">
              <a:solidFill>
                <a:schemeClr val="dk1"/>
              </a:solidFill>
            </a:endParaRPr>
          </a:p>
        </p:txBody>
      </p:sp>
      <p:sp>
        <p:nvSpPr>
          <p:cNvPr id="36" name="Title 1">
            <a:extLst>
              <a:ext uri="{FF2B5EF4-FFF2-40B4-BE49-F238E27FC236}">
                <a16:creationId xmlns:a16="http://schemas.microsoft.com/office/drawing/2014/main" id="{388F3463-2238-A7F2-095D-F3DC6BAE0E7D}"/>
              </a:ext>
            </a:extLst>
          </p:cNvPr>
          <p:cNvSpPr txBox="1">
            <a:spLocks/>
          </p:cNvSpPr>
          <p:nvPr/>
        </p:nvSpPr>
        <p:spPr>
          <a:xfrm>
            <a:off x="334963" y="1"/>
            <a:ext cx="11522075" cy="876687"/>
          </a:xfrm>
          <a:prstGeom prst="rect">
            <a:avLst/>
          </a:prstGeom>
        </p:spPr>
        <p:txBody>
          <a:bodyPr vert="horz" lIns="36000" tIns="36000" rIns="36000" bIns="72000" rtlCol="0" anchor="b">
            <a:noAutofit/>
          </a:bodyPr>
          <a:lstStyle>
            <a:lvl1pPr algn="l" defTabSz="711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indent="0"/>
            <a:r>
              <a:rPr lang="en-US" b="1" dirty="0"/>
              <a:t>Customer archetypes:</a:t>
            </a:r>
            <a:r>
              <a:rPr lang="en-US" dirty="0"/>
              <a:t> Several large companies exist across Mid/small pharma and Biotech segments for </a:t>
            </a:r>
            <a:r>
              <a:rPr lang="en-US" dirty="0" err="1"/>
              <a:t>Sagility</a:t>
            </a:r>
            <a:r>
              <a:rPr lang="en-US" dirty="0"/>
              <a:t> to target</a:t>
            </a:r>
            <a:endParaRPr lang="en-US" b="1" dirty="0"/>
          </a:p>
        </p:txBody>
      </p:sp>
      <p:sp>
        <p:nvSpPr>
          <p:cNvPr id="37" name="btfpNumberBubble399258">
            <a:extLst>
              <a:ext uri="{FF2B5EF4-FFF2-40B4-BE49-F238E27FC236}">
                <a16:creationId xmlns:a16="http://schemas.microsoft.com/office/drawing/2014/main" id="{7B7278BB-21B4-D583-0E85-F2883870BD57}"/>
              </a:ext>
            </a:extLst>
          </p:cNvPr>
          <p:cNvSpPr/>
          <p:nvPr/>
        </p:nvSpPr>
        <p:spPr bwMode="gray">
          <a:xfrm>
            <a:off x="54684" y="82614"/>
            <a:ext cx="288636" cy="28863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400" b="1">
                <a:solidFill>
                  <a:srgbClr val="CC0000"/>
                </a:solidFill>
              </a:rPr>
              <a:t>2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28D53B5-BCDE-F29B-3798-122B24DE7417}"/>
              </a:ext>
            </a:extLst>
          </p:cNvPr>
          <p:cNvCxnSpPr/>
          <p:nvPr/>
        </p:nvCxnSpPr>
        <p:spPr bwMode="gray">
          <a:xfrm>
            <a:off x="6003235" y="1552915"/>
            <a:ext cx="0" cy="4672453"/>
          </a:xfrm>
          <a:prstGeom prst="line">
            <a:avLst/>
          </a:prstGeom>
          <a:ln w="9525" cap="flat">
            <a:solidFill>
              <a:schemeClr val="tx1"/>
            </a:solidFill>
            <a:prstDash val="dash"/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ommentBox">
            <a:extLst>
              <a:ext uri="{FF2B5EF4-FFF2-40B4-BE49-F238E27FC236}">
                <a16:creationId xmlns:a16="http://schemas.microsoft.com/office/drawing/2014/main" id="{5CBA2F44-2D39-C9D2-2409-66FA610506B8}"/>
              </a:ext>
            </a:extLst>
          </p:cNvPr>
          <p:cNvSpPr/>
          <p:nvPr/>
        </p:nvSpPr>
        <p:spPr bwMode="gray">
          <a:xfrm>
            <a:off x="9719682" y="393374"/>
            <a:ext cx="2220665" cy="575611"/>
          </a:xfrm>
          <a:prstGeom prst="wedgeRoundRectCallout">
            <a:avLst>
              <a:gd name="adj1" fmla="val -40000"/>
              <a:gd name="adj2" fmla="val 40000"/>
              <a:gd name="adj3" fmla="val 16667"/>
            </a:avLst>
          </a:prstGeom>
          <a:solidFill>
            <a:srgbClr val="F2DE8A"/>
          </a:solidFill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>
              <a:buNone/>
            </a:pPr>
            <a:r>
              <a:rPr lang="en-US" sz="1050" b="1" dirty="0">
                <a:solidFill>
                  <a:schemeClr val="tx1"/>
                </a:solidFill>
              </a:rPr>
              <a:t>WIP – Trying to add more details by customer (geo coverage, small blurb on products, etc.)</a:t>
            </a:r>
          </a:p>
        </p:txBody>
      </p:sp>
      <p:pic>
        <p:nvPicPr>
          <p:cNvPr id="40" name="Picture 2" descr="Amneal unveils new brand to reimagine what's possible in making medicine  accessible for all - Express Pharma">
            <a:extLst>
              <a:ext uri="{FF2B5EF4-FFF2-40B4-BE49-F238E27FC236}">
                <a16:creationId xmlns:a16="http://schemas.microsoft.com/office/drawing/2014/main" id="{76DB96D2-BDAE-F7BE-D62F-15A963BEEC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31" y="5199128"/>
            <a:ext cx="1526571" cy="814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23BAB763-7F1E-156D-A3A3-E1FF0BC6FA3D}"/>
              </a:ext>
            </a:extLst>
          </p:cNvPr>
          <p:cNvSpPr txBox="1"/>
          <p:nvPr/>
        </p:nvSpPr>
        <p:spPr bwMode="gray">
          <a:xfrm>
            <a:off x="641447" y="6097480"/>
            <a:ext cx="884679" cy="226591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0" indent="0" algn="ctr">
              <a:buNone/>
            </a:pPr>
            <a:r>
              <a:rPr lang="en-US" sz="1000" b="1" i="1"/>
              <a:t>~$2.8B</a:t>
            </a:r>
            <a:endParaRPr lang="en-US" sz="1000" b="1" i="1">
              <a:solidFill>
                <a:schemeClr val="dk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84401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13E8E-195A-E3B6-7152-429D4C9F5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hink-cell data - do not delete" hidden="1">
            <a:extLst>
              <a:ext uri="{FF2B5EF4-FFF2-40B4-BE49-F238E27FC236}">
                <a16:creationId xmlns:a16="http://schemas.microsoft.com/office/drawing/2014/main" id="{80FE7A35-BE47-3B7A-E7FC-D6522B8EF65A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76134830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2" imgW="606" imgH="608" progId="TCLayout.ActiveDocument.1">
                  <p:embed/>
                </p:oleObj>
              </mc:Choice>
              <mc:Fallback>
                <p:oleObj name="think-cell Slide" r:id="rId12" imgW="606" imgH="608" progId="TCLayout.ActiveDocument.1">
                  <p:embed/>
                  <p:pic>
                    <p:nvPicPr>
                      <p:cNvPr id="1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0FE7A35-BE47-3B7A-E7FC-D6522B8EF65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btfpNotesBox878883">
            <a:extLst>
              <a:ext uri="{FF2B5EF4-FFF2-40B4-BE49-F238E27FC236}">
                <a16:creationId xmlns:a16="http://schemas.microsoft.com/office/drawing/2014/main" id="{2E51AAFD-D1BF-10B9-3D43-1CA7B517E96F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gray">
          <a:xfrm>
            <a:off x="330200" y="6672580"/>
            <a:ext cx="9882488" cy="123111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b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800">
                <a:solidFill>
                  <a:srgbClr val="000000"/>
                </a:solidFill>
              </a:rPr>
              <a:t>Notes: 1. Medical Service Liaison, 2. Real World Evidence/ Health Economics and Outcomes Research, 3. Medical-Legal-Regulatory | Source: Market participant interviews, Bain analysis  </a:t>
            </a:r>
          </a:p>
        </p:txBody>
      </p:sp>
      <p:grpSp>
        <p:nvGrpSpPr>
          <p:cNvPr id="12" name="btfpColumnIndicatorGroup2">
            <a:extLst>
              <a:ext uri="{FF2B5EF4-FFF2-40B4-BE49-F238E27FC236}">
                <a16:creationId xmlns:a16="http://schemas.microsoft.com/office/drawing/2014/main" id="{51B1C63F-0B6B-D2BF-1720-D966760F179F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10" name="btfpColumnGapBlocker441445">
              <a:extLst>
                <a:ext uri="{FF2B5EF4-FFF2-40B4-BE49-F238E27FC236}">
                  <a16:creationId xmlns:a16="http://schemas.microsoft.com/office/drawing/2014/main" id="{AB81DAD2-133A-2461-D1D2-A66C8E64AA08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8" name="btfpColumnGapBlocker378221">
              <a:extLst>
                <a:ext uri="{FF2B5EF4-FFF2-40B4-BE49-F238E27FC236}">
                  <a16:creationId xmlns:a16="http://schemas.microsoft.com/office/drawing/2014/main" id="{3CBDD474-38B9-7A43-0AE0-F7C6D2454F3F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6" name="btfpColumnIndicator210049">
              <a:extLst>
                <a:ext uri="{FF2B5EF4-FFF2-40B4-BE49-F238E27FC236}">
                  <a16:creationId xmlns:a16="http://schemas.microsoft.com/office/drawing/2014/main" id="{A4E99430-1BCF-F5EC-8223-F69D6FA729A9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btfpColumnIndicator153338">
              <a:extLst>
                <a:ext uri="{FF2B5EF4-FFF2-40B4-BE49-F238E27FC236}">
                  <a16:creationId xmlns:a16="http://schemas.microsoft.com/office/drawing/2014/main" id="{22DCB0E7-9E72-A2AA-76AD-C0289A617EE6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btfpColumnIndicatorGroup1">
            <a:extLst>
              <a:ext uri="{FF2B5EF4-FFF2-40B4-BE49-F238E27FC236}">
                <a16:creationId xmlns:a16="http://schemas.microsoft.com/office/drawing/2014/main" id="{4FB8373E-A38A-63CF-3435-6DECEF6DDA42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9" name="btfpColumnGapBlocker654062">
              <a:extLst>
                <a:ext uri="{FF2B5EF4-FFF2-40B4-BE49-F238E27FC236}">
                  <a16:creationId xmlns:a16="http://schemas.microsoft.com/office/drawing/2014/main" id="{F6A12930-0E28-2539-2F6F-EC733230C147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7" name="btfpColumnGapBlocker238373">
              <a:extLst>
                <a:ext uri="{FF2B5EF4-FFF2-40B4-BE49-F238E27FC236}">
                  <a16:creationId xmlns:a16="http://schemas.microsoft.com/office/drawing/2014/main" id="{B2B688A2-C481-F172-B377-B14AFCE93F7E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5" name="btfpColumnIndicator640928">
              <a:extLst>
                <a:ext uri="{FF2B5EF4-FFF2-40B4-BE49-F238E27FC236}">
                  <a16:creationId xmlns:a16="http://schemas.microsoft.com/office/drawing/2014/main" id="{17DD8978-4519-B734-FE3C-ACCEA6E44B94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btfpColumnIndicator931819">
              <a:extLst>
                <a:ext uri="{FF2B5EF4-FFF2-40B4-BE49-F238E27FC236}">
                  <a16:creationId xmlns:a16="http://schemas.microsoft.com/office/drawing/2014/main" id="{0ABFF064-A36C-48C1-F009-0062CD12BD75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CB6FFC-73BF-DDFF-8BEC-B21AA364F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1"/>
            <a:ext cx="11857035" cy="876687"/>
          </a:xfrm>
        </p:spPr>
        <p:txBody>
          <a:bodyPr vert="horz"/>
          <a:lstStyle/>
          <a:p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Buying Behavior – Ipsen (1/2):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Reputational, regulatory, and compliance-critical tasks retained in-house; scalable execution, analytics, and documentation outsourced</a:t>
            </a:r>
          </a:p>
        </p:txBody>
      </p:sp>
      <p:graphicFrame>
        <p:nvGraphicFramePr>
          <p:cNvPr id="16" name="btfpTable963805">
            <a:extLst>
              <a:ext uri="{FF2B5EF4-FFF2-40B4-BE49-F238E27FC236}">
                <a16:creationId xmlns:a16="http://schemas.microsoft.com/office/drawing/2014/main" id="{5AB5C746-76E2-0BF2-9A16-1BC6B26FC485}"/>
              </a:ext>
            </a:extLst>
          </p:cNvPr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763951863"/>
              </p:ext>
            </p:extLst>
          </p:nvPr>
        </p:nvGraphicFramePr>
        <p:xfrm>
          <a:off x="325439" y="2098611"/>
          <a:ext cx="11522076" cy="435864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011556">
                  <a:extLst>
                    <a:ext uri="{9D8B030D-6E8A-4147-A177-3AD203B41FA5}">
                      <a16:colId xmlns:a16="http://schemas.microsoft.com/office/drawing/2014/main" val="1575412931"/>
                    </a:ext>
                  </a:extLst>
                </a:gridCol>
                <a:gridCol w="2627630">
                  <a:extLst>
                    <a:ext uri="{9D8B030D-6E8A-4147-A177-3AD203B41FA5}">
                      <a16:colId xmlns:a16="http://schemas.microsoft.com/office/drawing/2014/main" val="768394406"/>
                    </a:ext>
                  </a:extLst>
                </a:gridCol>
                <a:gridCol w="2627630">
                  <a:extLst>
                    <a:ext uri="{9D8B030D-6E8A-4147-A177-3AD203B41FA5}">
                      <a16:colId xmlns:a16="http://schemas.microsoft.com/office/drawing/2014/main" val="375284160"/>
                    </a:ext>
                  </a:extLst>
                </a:gridCol>
                <a:gridCol w="2627630">
                  <a:extLst>
                    <a:ext uri="{9D8B030D-6E8A-4147-A177-3AD203B41FA5}">
                      <a16:colId xmlns:a16="http://schemas.microsoft.com/office/drawing/2014/main" val="589904468"/>
                    </a:ext>
                  </a:extLst>
                </a:gridCol>
                <a:gridCol w="2627630">
                  <a:extLst>
                    <a:ext uri="{9D8B030D-6E8A-4147-A177-3AD203B41FA5}">
                      <a16:colId xmlns:a16="http://schemas.microsoft.com/office/drawing/2014/main" val="751068752"/>
                    </a:ext>
                  </a:extLst>
                </a:gridCol>
              </a:tblGrid>
              <a:tr h="1964505"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</a:rPr>
                        <a:t>Outsourcing Philosophy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850" b="1" u="sng" dirty="0"/>
                        <a:t>In-house</a:t>
                      </a:r>
                      <a:r>
                        <a:rPr lang="en-US" sz="850" b="1" dirty="0"/>
                        <a:t>: Core scientific leadership and asset accountability </a:t>
                      </a:r>
                      <a:r>
                        <a:rPr lang="en-US" sz="850" dirty="0"/>
                        <a:t>(incl. MSL</a:t>
                      </a:r>
                      <a:r>
                        <a:rPr lang="en-US" sz="850" baseline="30000" dirty="0"/>
                        <a:t>1</a:t>
                      </a:r>
                      <a:r>
                        <a:rPr lang="en-US" sz="850" dirty="0"/>
                        <a:t> deployment and KOL/ MSL engagement, therapeutic-level medical strategy, final scientific sign-off on materials &amp; oversight of medical narratives and evidence positioning), given direct reputational and compliance risk ownership</a:t>
                      </a:r>
                    </a:p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850" b="1" u="sng" dirty="0"/>
                        <a:t>Outsourced</a:t>
                      </a:r>
                      <a:r>
                        <a:rPr lang="en-US" sz="850" b="1" dirty="0"/>
                        <a:t>: Concentrated in structured operational and analytics support layers</a:t>
                      </a:r>
                      <a:r>
                        <a:rPr lang="en-US" sz="850" dirty="0"/>
                        <a:t>, </a:t>
                      </a:r>
                      <a:r>
                        <a:rPr lang="en-US" sz="850" b="0" dirty="0"/>
                        <a:t>incl. MSL</a:t>
                      </a:r>
                      <a:r>
                        <a:rPr lang="en-US" sz="850" b="0" baseline="30000" dirty="0"/>
                        <a:t>1</a:t>
                      </a:r>
                      <a:r>
                        <a:rPr lang="en-US" sz="850" b="0" dirty="0"/>
                        <a:t> enablement ops (KOL documentation, briefing materials), RWE/ HEOR</a:t>
                      </a:r>
                      <a:r>
                        <a:rPr lang="en-US" sz="850" b="0" baseline="30000" dirty="0"/>
                        <a:t>2</a:t>
                      </a:r>
                      <a:r>
                        <a:rPr lang="en-US" sz="850" b="0" dirty="0"/>
                        <a:t> analytics support, medical content drafting, MI handling , MLR</a:t>
                      </a:r>
                      <a:r>
                        <a:rPr lang="en-US" sz="850" b="0" baseline="30000" dirty="0"/>
                        <a:t>3</a:t>
                      </a:r>
                      <a:r>
                        <a:rPr lang="en-US" sz="850" b="0" dirty="0"/>
                        <a:t> workflow coordination (routing, version control, reconciliation, approval/ audit tracking</a:t>
                      </a:r>
                      <a:r>
                        <a:rPr lang="en-US" sz="850" dirty="0"/>
                        <a:t>)</a:t>
                      </a:r>
                      <a:endParaRPr lang="en-US" sz="850" b="1" dirty="0"/>
                    </a:p>
                  </a:txBody>
                  <a:tcPr marL="45720" marR="4572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850" b="1" u="sng" dirty="0"/>
                        <a:t>In-house</a:t>
                      </a:r>
                      <a:r>
                        <a:rPr lang="en-US" sz="850" b="1" dirty="0"/>
                        <a:t>: Strategic safety ownership and regulatory accountability retained, </a:t>
                      </a:r>
                      <a:r>
                        <a:rPr lang="en-US" sz="850" dirty="0"/>
                        <a:t>incl. medical safety oversight, final FDA reporting responsibility, safety signal interpretation, and governance over protocol updates, given high compliance sensitivity &amp; regulatory exposure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850" b="1" u="sng" dirty="0"/>
                        <a:t>Outsourced</a:t>
                      </a:r>
                      <a:r>
                        <a:rPr lang="en-US" sz="850" b="1" dirty="0"/>
                        <a:t>: Concentrated in structured safety ops and case-processing workflows</a:t>
                      </a:r>
                      <a:r>
                        <a:rPr lang="en-US" sz="850" dirty="0"/>
                        <a:t>, incl. ICSR</a:t>
                      </a:r>
                      <a:r>
                        <a:rPr lang="en-US" sz="850" baseline="30000" dirty="0"/>
                        <a:t>4</a:t>
                      </a:r>
                      <a:r>
                        <a:rPr lang="en-US" sz="850" dirty="0"/>
                        <a:t> intake and triage, structured data entry into safety databases, MedDRA and WHO-DD coding, narrative drafting under sponsor-defined protocols, independent QC review, literature screening, case identification and ops support for expedited FDA submissions &amp; aggregate safety reports, where scalable execution &amp; documented governance are reqd.</a:t>
                      </a:r>
                      <a:endParaRPr lang="en-US" sz="850" b="0" dirty="0"/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850" b="1" u="sng" dirty="0"/>
                        <a:t>In-house</a:t>
                      </a:r>
                      <a:r>
                        <a:rPr lang="en-US" sz="850" b="1" dirty="0"/>
                        <a:t>: Core brand strategy &amp; commercial accountability </a:t>
                      </a:r>
                      <a:r>
                        <a:rPr lang="en-US" sz="850" dirty="0"/>
                        <a:t>(incl. TA- level brand positioning, launch planning, pricing direction, messaging approval and final campaign sign-off), given direct revenue impact and executive visibility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850" b="1" u="sng" dirty="0"/>
                        <a:t>Outsourced</a:t>
                      </a:r>
                      <a:r>
                        <a:rPr lang="en-US" sz="850" b="1" dirty="0"/>
                        <a:t>: Concentrated in analytics, promotional asset production and MLR governance </a:t>
                      </a:r>
                      <a:r>
                        <a:rPr lang="en-US" sz="850" dirty="0"/>
                        <a:t>incl. proprietary prescription and physician-level targeting analytics, campaign asset creation and lifecycle mgmt. and promotional MLR coordination covering claim annotation, approval tracking &amp; expiry mgmt., where specialized analytics and scalable execution capability are required</a:t>
                      </a:r>
                      <a:endParaRPr lang="en-US" sz="850" b="1" dirty="0"/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850" b="1" u="sng" dirty="0"/>
                        <a:t>In-house</a:t>
                      </a:r>
                      <a:r>
                        <a:rPr lang="en-US" sz="850" b="1" dirty="0"/>
                        <a:t>: Program governance &amp; compliance</a:t>
                      </a:r>
                      <a:r>
                        <a:rPr lang="en-US" sz="850" dirty="0"/>
                        <a:t>, incl. copay program design, affordability framework decisions, patient communication guardrails, escalation policies, compliance accountability, given direct patient impact &amp; regulatory sensitivity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850" b="1" u="sng" dirty="0"/>
                        <a:t>Outsourced</a:t>
                      </a:r>
                      <a:r>
                        <a:rPr lang="en-US" sz="850" b="1" dirty="0"/>
                        <a:t>: O/s concentrated in operational delivery and financial flow execution</a:t>
                      </a:r>
                      <a:r>
                        <a:rPr lang="en-US" sz="850" dirty="0"/>
                        <a:t>, incl. copay card processing, pharmacy/ PBM integration, structured adherence outreach, call center support for non-medical patient inquiries and audit-traceable case documentation &amp; follow-up coordination, where scalable manpower and structured workflow mgmt. are required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7726863"/>
                  </a:ext>
                </a:extLst>
              </a:tr>
              <a:tr h="1028239">
                <a:tc>
                  <a:txBody>
                    <a:bodyPr/>
                    <a:lstStyle/>
                    <a:p>
                      <a:pPr marL="0" marR="0" lvl="0" indent="0" algn="ctr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</a:rPr>
                        <a:t>Buying Center and process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</a:pPr>
                      <a:r>
                        <a:rPr lang="en-US" sz="850" b="1" dirty="0"/>
                        <a:t>Buying center: </a:t>
                      </a:r>
                      <a:r>
                        <a:rPr lang="en-US" sz="850" b="0" dirty="0"/>
                        <a:t>Each TA is led by a Medical Head; MA team </a:t>
                      </a:r>
                      <a:r>
                        <a:rPr lang="en-US" sz="850" dirty="0"/>
                        <a:t>drives scope definition and vendor evaluation; procurement runs the RFP and enforces MSA discipline, with Legal &amp; Compliance engaged for inputs during evaluation</a:t>
                      </a:r>
                    </a:p>
                    <a:p>
                      <a:pPr>
                        <a:spcBef>
                          <a:spcPts val="600"/>
                        </a:spcBef>
                      </a:pPr>
                      <a:r>
                        <a:rPr lang="en-US" sz="850" b="1" dirty="0"/>
                        <a:t>KDM:</a:t>
                      </a:r>
                      <a:r>
                        <a:rPr lang="en-US" sz="850" b="0" dirty="0"/>
                        <a:t> T</a:t>
                      </a:r>
                      <a:r>
                        <a:rPr lang="en-US" sz="850" dirty="0"/>
                        <a:t>iered approval – projects worth &lt;$500M approved by asset specific Medical Manager within TA’s MA team; mid-sized programs require TA Medical Head sign-off with CMO visibility; larger strategic initiatives escalate to US President </a:t>
                      </a:r>
                      <a:r>
                        <a:rPr lang="en-US" sz="850" i="1" dirty="0"/>
                        <a:t>(heads the US company, with CMO reporting into him/ her; CMO leads all the TAs)</a:t>
                      </a:r>
                      <a:endParaRPr lang="en-US" sz="850" b="1" i="1" dirty="0"/>
                    </a:p>
                  </a:txBody>
                  <a:tcPr marL="45720" marR="4572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850" b="1"/>
                        <a:t>Buying center: </a:t>
                      </a:r>
                      <a:r>
                        <a:rPr lang="en-US" sz="850" b="0"/>
                        <a:t>Pharmacovigilance sits within Medical Affairs (MA) teams; buying center same as TA</a:t>
                      </a:r>
                    </a:p>
                    <a:p>
                      <a:pPr>
                        <a:spcBef>
                          <a:spcPts val="600"/>
                        </a:spcBef>
                      </a:pPr>
                      <a:r>
                        <a:rPr lang="en-US" sz="850" b="1"/>
                        <a:t>KDM: </a:t>
                      </a:r>
                      <a:r>
                        <a:rPr lang="en-US" sz="850" b="0" i="1"/>
                        <a:t>Same as Medical Affairs </a:t>
                      </a:r>
                      <a:endParaRPr lang="en-US" sz="850" b="1" i="1"/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</a:pPr>
                      <a:r>
                        <a:rPr lang="en-US" sz="850" b="1" dirty="0"/>
                        <a:t>Buying center: </a:t>
                      </a:r>
                      <a:r>
                        <a:rPr lang="en-US" sz="850" b="0" dirty="0"/>
                        <a:t>Each TA has Commercial Team,</a:t>
                      </a:r>
                      <a:r>
                        <a:rPr lang="en-US" sz="850" b="1" dirty="0"/>
                        <a:t> </a:t>
                      </a:r>
                      <a:r>
                        <a:rPr lang="en-US" sz="850" dirty="0"/>
                        <a:t>led by TA Comm. Director (reports to President) that defines scope &amp; evaluates vendors; Proc. runs RFP &amp; validates cost constructs; Medical &amp; Legal engaged where compliance review is required under commercial-medical firewall</a:t>
                      </a:r>
                    </a:p>
                    <a:p>
                      <a:pPr>
                        <a:spcBef>
                          <a:spcPts val="600"/>
                        </a:spcBef>
                      </a:pPr>
                      <a:r>
                        <a:rPr lang="en-US" sz="850" b="1" dirty="0"/>
                        <a:t>KDM: </a:t>
                      </a:r>
                      <a:r>
                        <a:rPr lang="en-US" sz="850" dirty="0"/>
                        <a:t>Tiered approval – projects worth &lt;$500M approved by VPs within commercial teams of respective TAs (VPs head activities within Comm. Team and report to the Director); mid-sized programs require sign-off from TA Comm. Director; larger initiatives escalate to President</a:t>
                      </a:r>
                      <a:endParaRPr lang="en-US" sz="85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</a:pPr>
                      <a:r>
                        <a:rPr lang="en-US" sz="850" b="1"/>
                        <a:t>Buying center: </a:t>
                      </a:r>
                      <a:r>
                        <a:rPr lang="en-US" sz="850"/>
                        <a:t>Patient engagement sits under Medical Affairs due to high compliance and reputational sensitivity; relevant TA Medical Head leads vendor evaluation; procurement runs structured RFP with Legal Counsel participation given patient-facing regulatory exposure</a:t>
                      </a:r>
                    </a:p>
                    <a:p>
                      <a:pPr>
                        <a:spcBef>
                          <a:spcPts val="600"/>
                        </a:spcBef>
                      </a:pPr>
                      <a:r>
                        <a:rPr lang="en-US" sz="850" b="1"/>
                        <a:t>KDM: </a:t>
                      </a:r>
                      <a:r>
                        <a:rPr lang="en-US" sz="850" b="0"/>
                        <a:t>Tiered approval – projects worth &lt;$2M approved by TA Medical Head and CMO; larger spend initiatives </a:t>
                      </a:r>
                      <a:r>
                        <a:rPr lang="en-US" sz="850"/>
                        <a:t>escalate to the US President; given patient-facing and compliance-sensitive nature of these programs</a:t>
                      </a:r>
                      <a:endParaRPr lang="en-US" sz="850" b="0" i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9543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ctr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</a:rPr>
                        <a:t>Direct vs. Indirect sales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850" b="1" dirty="0"/>
                        <a:t>Direct engagement model </a:t>
                      </a:r>
                      <a:r>
                        <a:rPr lang="en-US" sz="850" dirty="0"/>
                        <a:t>– vendors are selected and contracted through centralized procurement-led RFPs, with evaluation and decision-making driven at the TA level (Medical or Commercial, depending on service line), without use of channel intermediaries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45720" marR="45720" anchor="ctr">
                    <a:lnL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2185943"/>
                  </a:ext>
                </a:extLst>
              </a:tr>
            </a:tbl>
          </a:graphicData>
        </a:graphic>
      </p:graphicFrame>
      <p:sp>
        <p:nvSpPr>
          <p:cNvPr id="17" name="btfpValueChainElement5017551">
            <a:extLst>
              <a:ext uri="{FF2B5EF4-FFF2-40B4-BE49-F238E27FC236}">
                <a16:creationId xmlns:a16="http://schemas.microsoft.com/office/drawing/2014/main" id="{8FB7A1AA-975D-0A38-CAE3-D5DCE42A3E13}"/>
              </a:ext>
            </a:extLst>
          </p:cNvPr>
          <p:cNvSpPr/>
          <p:nvPr>
            <p:custDataLst>
              <p:tags r:id="rId5"/>
            </p:custDataLst>
          </p:nvPr>
        </p:nvSpPr>
        <p:spPr bwMode="gray">
          <a:xfrm>
            <a:off x="1377951" y="1800756"/>
            <a:ext cx="2625282" cy="265350"/>
          </a:xfrm>
          <a:prstGeom prst="homePlate">
            <a:avLst>
              <a:gd name="adj" fmla="val 24348"/>
            </a:avLst>
          </a:prstGeom>
          <a:solidFill>
            <a:srgbClr val="333333"/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" tIns="18288" rIns="18288" bIns="1828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ct val="0"/>
              </a:spcBef>
              <a:buNone/>
            </a:pPr>
            <a:r>
              <a:rPr lang="en-US" sz="1200" b="1">
                <a:solidFill>
                  <a:srgbClr val="FFFFFF"/>
                </a:solidFill>
                <a:latin typeface="+mj-lt"/>
              </a:rPr>
              <a:t>Medical Affairs</a:t>
            </a:r>
          </a:p>
        </p:txBody>
      </p:sp>
      <p:sp>
        <p:nvSpPr>
          <p:cNvPr id="18" name="btfpValueChainElement5017553">
            <a:extLst>
              <a:ext uri="{FF2B5EF4-FFF2-40B4-BE49-F238E27FC236}">
                <a16:creationId xmlns:a16="http://schemas.microsoft.com/office/drawing/2014/main" id="{2948E1A6-3DDA-CBCA-2FC7-CAAAB312C607}"/>
              </a:ext>
            </a:extLst>
          </p:cNvPr>
          <p:cNvSpPr/>
          <p:nvPr>
            <p:custDataLst>
              <p:tags r:id="rId6"/>
            </p:custDataLst>
          </p:nvPr>
        </p:nvSpPr>
        <p:spPr bwMode="gray">
          <a:xfrm>
            <a:off x="3982847" y="1800756"/>
            <a:ext cx="2625282" cy="265350"/>
          </a:xfrm>
          <a:prstGeom prst="chevron">
            <a:avLst>
              <a:gd name="adj" fmla="val 24348"/>
            </a:avLst>
          </a:prstGeom>
          <a:solidFill>
            <a:srgbClr val="333333"/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" tIns="18288" rIns="18288" bIns="1828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ct val="0"/>
              </a:spcBef>
              <a:buNone/>
            </a:pPr>
            <a:r>
              <a:rPr lang="en-US" sz="1200" b="1">
                <a:solidFill>
                  <a:srgbClr val="FFFFFF"/>
                </a:solidFill>
                <a:latin typeface="+mj-lt"/>
              </a:rPr>
              <a:t>Pharmacovigilance</a:t>
            </a:r>
          </a:p>
        </p:txBody>
      </p:sp>
      <p:sp>
        <p:nvSpPr>
          <p:cNvPr id="19" name="btfpValueChainElement5017553">
            <a:extLst>
              <a:ext uri="{FF2B5EF4-FFF2-40B4-BE49-F238E27FC236}">
                <a16:creationId xmlns:a16="http://schemas.microsoft.com/office/drawing/2014/main" id="{54B9F9ED-6F80-9DDA-78BC-5CDD996AF25F}"/>
              </a:ext>
            </a:extLst>
          </p:cNvPr>
          <p:cNvSpPr/>
          <p:nvPr>
            <p:custDataLst>
              <p:tags r:id="rId7"/>
            </p:custDataLst>
          </p:nvPr>
        </p:nvSpPr>
        <p:spPr bwMode="gray">
          <a:xfrm>
            <a:off x="6587743" y="1800756"/>
            <a:ext cx="2625282" cy="265350"/>
          </a:xfrm>
          <a:prstGeom prst="chevron">
            <a:avLst>
              <a:gd name="adj" fmla="val 24348"/>
            </a:avLst>
          </a:prstGeom>
          <a:solidFill>
            <a:srgbClr val="333333"/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" tIns="18288" rIns="18288" bIns="1828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ct val="0"/>
              </a:spcBef>
              <a:buNone/>
            </a:pPr>
            <a:r>
              <a:rPr lang="en-US" sz="1200" b="1">
                <a:solidFill>
                  <a:srgbClr val="FFFFFF"/>
                </a:solidFill>
                <a:latin typeface="+mj-lt"/>
              </a:rPr>
              <a:t>Commercial (S&amp;M)</a:t>
            </a:r>
          </a:p>
        </p:txBody>
      </p:sp>
      <p:sp>
        <p:nvSpPr>
          <p:cNvPr id="20" name="btfpValueChainElement5017553">
            <a:extLst>
              <a:ext uri="{FF2B5EF4-FFF2-40B4-BE49-F238E27FC236}">
                <a16:creationId xmlns:a16="http://schemas.microsoft.com/office/drawing/2014/main" id="{8DE698B6-9D5F-FF74-1019-6808B7B66AC4}"/>
              </a:ext>
            </a:extLst>
          </p:cNvPr>
          <p:cNvSpPr/>
          <p:nvPr>
            <p:custDataLst>
              <p:tags r:id="rId8"/>
            </p:custDataLst>
          </p:nvPr>
        </p:nvSpPr>
        <p:spPr bwMode="gray">
          <a:xfrm>
            <a:off x="9192639" y="1800755"/>
            <a:ext cx="2662150" cy="265350"/>
          </a:xfrm>
          <a:prstGeom prst="chevron">
            <a:avLst>
              <a:gd name="adj" fmla="val 24348"/>
            </a:avLst>
          </a:prstGeom>
          <a:solidFill>
            <a:srgbClr val="333333"/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" tIns="18288" rIns="18288" bIns="1828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ct val="0"/>
              </a:spcBef>
              <a:buNone/>
            </a:pPr>
            <a:r>
              <a:rPr lang="en-US" sz="1200" b="1">
                <a:solidFill>
                  <a:srgbClr val="FFFFFF"/>
                </a:solidFill>
                <a:latin typeface="+mj-lt"/>
              </a:rPr>
              <a:t>Patient Engagement</a:t>
            </a:r>
          </a:p>
        </p:txBody>
      </p:sp>
      <p:sp>
        <p:nvSpPr>
          <p:cNvPr id="27" name="btfpCallout940790">
            <a:extLst>
              <a:ext uri="{FF2B5EF4-FFF2-40B4-BE49-F238E27FC236}">
                <a16:creationId xmlns:a16="http://schemas.microsoft.com/office/drawing/2014/main" id="{6469B68F-C69E-B998-FF11-DDD86542D39D}"/>
              </a:ext>
            </a:extLst>
          </p:cNvPr>
          <p:cNvSpPr/>
          <p:nvPr/>
        </p:nvSpPr>
        <p:spPr bwMode="gray">
          <a:xfrm>
            <a:off x="1377951" y="1386170"/>
            <a:ext cx="10479087" cy="367244"/>
          </a:xfrm>
          <a:prstGeom prst="wedgeRectCallout">
            <a:avLst>
              <a:gd name="adj1" fmla="val -49671"/>
              <a:gd name="adj2" fmla="val -25315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rgbClr val="5C5C5C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73" tIns="72073" rIns="72073" bIns="7207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300"/>
              </a:spcBef>
              <a:buNone/>
            </a:pPr>
            <a:r>
              <a:rPr lang="en-US" sz="1050" i="1" dirty="0">
                <a:solidFill>
                  <a:schemeClr val="tx1"/>
                </a:solidFill>
              </a:rPr>
              <a:t>Ipsen is a small-to-mid biopharma co. with US presence (~$1.5B US revenue) and is organized across 3 TAs – Oncology, Rare Disease, and Neuroscience. </a:t>
            </a:r>
            <a:br>
              <a:rPr lang="en-US" sz="1050" i="1" dirty="0">
                <a:solidFill>
                  <a:schemeClr val="tx1"/>
                </a:solidFill>
              </a:rPr>
            </a:br>
            <a:r>
              <a:rPr lang="en-US" sz="1050" i="1" dirty="0">
                <a:solidFill>
                  <a:schemeClr val="tx1"/>
                </a:solidFill>
              </a:rPr>
              <a:t>Each TA manages its own portfolio of assets, while centralized procurement controls vendor onboarding, RFPs and MSA governance across commercialization functions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3DC13D7-E49C-67A0-9D02-1F974A222157}"/>
              </a:ext>
            </a:extLst>
          </p:cNvPr>
          <p:cNvSpPr/>
          <p:nvPr/>
        </p:nvSpPr>
        <p:spPr bwMode="gray">
          <a:xfrm>
            <a:off x="337211" y="1386171"/>
            <a:ext cx="992718" cy="679934"/>
          </a:xfrm>
          <a:prstGeom prst="rect">
            <a:avLst/>
          </a:prstGeom>
          <a:noFill/>
          <a:ln w="19050">
            <a:solidFill>
              <a:schemeClr val="accent3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n-US" sz="1600" err="1">
              <a:solidFill>
                <a:schemeClr val="tx1"/>
              </a:solidFill>
            </a:endParaRPr>
          </a:p>
        </p:txBody>
      </p:sp>
      <p:pic>
        <p:nvPicPr>
          <p:cNvPr id="3074" name="Picture 2" descr="Logos - Global">
            <a:extLst>
              <a:ext uri="{FF2B5EF4-FFF2-40B4-BE49-F238E27FC236}">
                <a16:creationId xmlns:a16="http://schemas.microsoft.com/office/drawing/2014/main" id="{4A58A5A7-CF0F-759F-D0CB-590EBCEEC9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58" t="33438" r="11877" b="33267"/>
          <a:stretch/>
        </p:blipFill>
        <p:spPr bwMode="auto">
          <a:xfrm>
            <a:off x="374079" y="1515216"/>
            <a:ext cx="909974" cy="404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btfpNumberBubble399258">
            <a:extLst>
              <a:ext uri="{FF2B5EF4-FFF2-40B4-BE49-F238E27FC236}">
                <a16:creationId xmlns:a16="http://schemas.microsoft.com/office/drawing/2014/main" id="{19B94CC4-0596-7A6A-F6A1-050A49A9486F}"/>
              </a:ext>
            </a:extLst>
          </p:cNvPr>
          <p:cNvSpPr/>
          <p:nvPr/>
        </p:nvSpPr>
        <p:spPr bwMode="gray">
          <a:xfrm>
            <a:off x="54684" y="82614"/>
            <a:ext cx="288636" cy="28863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400" b="1">
                <a:solidFill>
                  <a:srgbClr val="CC0000"/>
                </a:solidFill>
              </a:rPr>
              <a:t>3</a:t>
            </a:r>
          </a:p>
        </p:txBody>
      </p:sp>
      <p:grpSp>
        <p:nvGrpSpPr>
          <p:cNvPr id="13" name="btfpRunningAgenda1Level331797">
            <a:extLst>
              <a:ext uri="{FF2B5EF4-FFF2-40B4-BE49-F238E27FC236}">
                <a16:creationId xmlns:a16="http://schemas.microsoft.com/office/drawing/2014/main" id="{D9B4C69F-91E4-1959-0E09-1F000268C921}"/>
              </a:ext>
            </a:extLst>
          </p:cNvPr>
          <p:cNvGrpSpPr/>
          <p:nvPr>
            <p:custDataLst>
              <p:tags r:id="rId9"/>
            </p:custDataLst>
          </p:nvPr>
        </p:nvGrpSpPr>
        <p:grpSpPr>
          <a:xfrm>
            <a:off x="-1" y="944429"/>
            <a:ext cx="2372446" cy="257442"/>
            <a:chOff x="-1" y="876300"/>
            <a:chExt cx="2372446" cy="257442"/>
          </a:xfrm>
        </p:grpSpPr>
        <p:sp>
          <p:nvSpPr>
            <p:cNvPr id="14" name="btfpRunningAgenda1LevelBarLeft331797">
              <a:extLst>
                <a:ext uri="{FF2B5EF4-FFF2-40B4-BE49-F238E27FC236}">
                  <a16:creationId xmlns:a16="http://schemas.microsoft.com/office/drawing/2014/main" id="{E282B90D-A19D-BE54-72E6-7B3A3B35F214}"/>
                </a:ext>
              </a:extLst>
            </p:cNvPr>
            <p:cNvSpPr/>
            <p:nvPr/>
          </p:nvSpPr>
          <p:spPr bwMode="gray">
            <a:xfrm>
              <a:off x="-1" y="876300"/>
              <a:ext cx="2326179" cy="257442"/>
            </a:xfrm>
            <a:custGeom>
              <a:avLst/>
              <a:gdLst>
                <a:gd name="connsiteX0" fmla="*/ 950801 w 1870925"/>
                <a:gd name="connsiteY0" fmla="*/ 0 h 257442"/>
                <a:gd name="connsiteX1" fmla="*/ 1870925 w 1870925"/>
                <a:gd name="connsiteY1" fmla="*/ 0 h 257442"/>
                <a:gd name="connsiteX2" fmla="*/ 1816204 w 1870925"/>
                <a:gd name="connsiteY2" fmla="*/ 257442 h 257442"/>
                <a:gd name="connsiteX3" fmla="*/ 0 w 1870925"/>
                <a:gd name="connsiteY3" fmla="*/ 257442 h 257442"/>
                <a:gd name="connsiteX0" fmla="*/ 950801 w 1816204"/>
                <a:gd name="connsiteY0" fmla="*/ 0 h 257442"/>
                <a:gd name="connsiteX1" fmla="*/ 896081 w 1816204"/>
                <a:gd name="connsiteY1" fmla="*/ 257442 h 257442"/>
                <a:gd name="connsiteX2" fmla="*/ 1816204 w 1816204"/>
                <a:gd name="connsiteY2" fmla="*/ 257442 h 257442"/>
                <a:gd name="connsiteX3" fmla="*/ 0 w 1816204"/>
                <a:gd name="connsiteY3" fmla="*/ 257442 h 257442"/>
                <a:gd name="connsiteX0" fmla="*/ 950801 w 950801"/>
                <a:gd name="connsiteY0" fmla="*/ 0 h 257442"/>
                <a:gd name="connsiteX1" fmla="*/ 896081 w 950801"/>
                <a:gd name="connsiteY1" fmla="*/ 257442 h 257442"/>
                <a:gd name="connsiteX2" fmla="*/ 1 w 950801"/>
                <a:gd name="connsiteY2" fmla="*/ 257442 h 257442"/>
                <a:gd name="connsiteX3" fmla="*/ 0 w 950801"/>
                <a:gd name="connsiteY3" fmla="*/ 257442 h 257442"/>
                <a:gd name="connsiteX0" fmla="*/ 950800 w 950800"/>
                <a:gd name="connsiteY0" fmla="*/ 0 h 257442"/>
                <a:gd name="connsiteX1" fmla="*/ 896080 w 950800"/>
                <a:gd name="connsiteY1" fmla="*/ 257442 h 257442"/>
                <a:gd name="connsiteX2" fmla="*/ 0 w 950800"/>
                <a:gd name="connsiteY2" fmla="*/ 257442 h 257442"/>
                <a:gd name="connsiteX3" fmla="*/ 1 w 950800"/>
                <a:gd name="connsiteY3" fmla="*/ 0 h 257442"/>
                <a:gd name="connsiteX0" fmla="*/ 1261784 w 1261784"/>
                <a:gd name="connsiteY0" fmla="*/ 0 h 257442"/>
                <a:gd name="connsiteX1" fmla="*/ 896080 w 1261784"/>
                <a:gd name="connsiteY1" fmla="*/ 257442 h 257442"/>
                <a:gd name="connsiteX2" fmla="*/ 0 w 1261784"/>
                <a:gd name="connsiteY2" fmla="*/ 257442 h 257442"/>
                <a:gd name="connsiteX3" fmla="*/ 1 w 1261784"/>
                <a:gd name="connsiteY3" fmla="*/ 0 h 257442"/>
                <a:gd name="connsiteX0" fmla="*/ 1261784 w 1261784"/>
                <a:gd name="connsiteY0" fmla="*/ 0 h 257442"/>
                <a:gd name="connsiteX1" fmla="*/ 1207063 w 1261784"/>
                <a:gd name="connsiteY1" fmla="*/ 257442 h 257442"/>
                <a:gd name="connsiteX2" fmla="*/ 0 w 1261784"/>
                <a:gd name="connsiteY2" fmla="*/ 257442 h 257442"/>
                <a:gd name="connsiteX3" fmla="*/ 1 w 1261784"/>
                <a:gd name="connsiteY3" fmla="*/ 0 h 257442"/>
                <a:gd name="connsiteX0" fmla="*/ 1261784 w 1261784"/>
                <a:gd name="connsiteY0" fmla="*/ 0 h 257442"/>
                <a:gd name="connsiteX1" fmla="*/ 1207063 w 1261784"/>
                <a:gd name="connsiteY1" fmla="*/ 257442 h 257442"/>
                <a:gd name="connsiteX2" fmla="*/ 0 w 1261784"/>
                <a:gd name="connsiteY2" fmla="*/ 257442 h 257442"/>
                <a:gd name="connsiteX3" fmla="*/ 1 w 1261784"/>
                <a:gd name="connsiteY3" fmla="*/ 0 h 257442"/>
                <a:gd name="connsiteX0" fmla="*/ 1261784 w 1261784"/>
                <a:gd name="connsiteY0" fmla="*/ 0 h 257442"/>
                <a:gd name="connsiteX1" fmla="*/ 1207063 w 1261784"/>
                <a:gd name="connsiteY1" fmla="*/ 257442 h 257442"/>
                <a:gd name="connsiteX2" fmla="*/ 0 w 1261784"/>
                <a:gd name="connsiteY2" fmla="*/ 257442 h 257442"/>
                <a:gd name="connsiteX3" fmla="*/ 0 w 1261784"/>
                <a:gd name="connsiteY3" fmla="*/ 0 h 257442"/>
                <a:gd name="connsiteX0" fmla="*/ 1515058 w 1515058"/>
                <a:gd name="connsiteY0" fmla="*/ 0 h 257442"/>
                <a:gd name="connsiteX1" fmla="*/ 1207063 w 1515058"/>
                <a:gd name="connsiteY1" fmla="*/ 257442 h 257442"/>
                <a:gd name="connsiteX2" fmla="*/ 0 w 1515058"/>
                <a:gd name="connsiteY2" fmla="*/ 257442 h 257442"/>
                <a:gd name="connsiteX3" fmla="*/ 0 w 1515058"/>
                <a:gd name="connsiteY3" fmla="*/ 0 h 257442"/>
                <a:gd name="connsiteX0" fmla="*/ 1515058 w 1515058"/>
                <a:gd name="connsiteY0" fmla="*/ 0 h 257442"/>
                <a:gd name="connsiteX1" fmla="*/ 1460337 w 1515058"/>
                <a:gd name="connsiteY1" fmla="*/ 257442 h 257442"/>
                <a:gd name="connsiteX2" fmla="*/ 0 w 1515058"/>
                <a:gd name="connsiteY2" fmla="*/ 257442 h 257442"/>
                <a:gd name="connsiteX3" fmla="*/ 0 w 1515058"/>
                <a:gd name="connsiteY3" fmla="*/ 0 h 257442"/>
                <a:gd name="connsiteX0" fmla="*/ 1515058 w 1515058"/>
                <a:gd name="connsiteY0" fmla="*/ 0 h 257442"/>
                <a:gd name="connsiteX1" fmla="*/ 1460337 w 1515058"/>
                <a:gd name="connsiteY1" fmla="*/ 257442 h 257442"/>
                <a:gd name="connsiteX2" fmla="*/ 0 w 1515058"/>
                <a:gd name="connsiteY2" fmla="*/ 257442 h 257442"/>
                <a:gd name="connsiteX3" fmla="*/ 0 w 1515058"/>
                <a:gd name="connsiteY3" fmla="*/ 0 h 257442"/>
                <a:gd name="connsiteX0" fmla="*/ 1515058 w 1515058"/>
                <a:gd name="connsiteY0" fmla="*/ 0 h 257442"/>
                <a:gd name="connsiteX1" fmla="*/ 1460337 w 1515058"/>
                <a:gd name="connsiteY1" fmla="*/ 257442 h 257442"/>
                <a:gd name="connsiteX2" fmla="*/ 0 w 1515058"/>
                <a:gd name="connsiteY2" fmla="*/ 257442 h 257442"/>
                <a:gd name="connsiteX3" fmla="*/ 0 w 1515058"/>
                <a:gd name="connsiteY3" fmla="*/ 0 h 257442"/>
                <a:gd name="connsiteX0" fmla="*/ 1692991 w 1692991"/>
                <a:gd name="connsiteY0" fmla="*/ 0 h 257442"/>
                <a:gd name="connsiteX1" fmla="*/ 1460337 w 1692991"/>
                <a:gd name="connsiteY1" fmla="*/ 257442 h 257442"/>
                <a:gd name="connsiteX2" fmla="*/ 0 w 1692991"/>
                <a:gd name="connsiteY2" fmla="*/ 257442 h 257442"/>
                <a:gd name="connsiteX3" fmla="*/ 0 w 1692991"/>
                <a:gd name="connsiteY3" fmla="*/ 0 h 257442"/>
                <a:gd name="connsiteX0" fmla="*/ 1692991 w 1692991"/>
                <a:gd name="connsiteY0" fmla="*/ 0 h 257442"/>
                <a:gd name="connsiteX1" fmla="*/ 1638270 w 1692991"/>
                <a:gd name="connsiteY1" fmla="*/ 257442 h 257442"/>
                <a:gd name="connsiteX2" fmla="*/ 0 w 1692991"/>
                <a:gd name="connsiteY2" fmla="*/ 257442 h 257442"/>
                <a:gd name="connsiteX3" fmla="*/ 0 w 1692991"/>
                <a:gd name="connsiteY3" fmla="*/ 0 h 257442"/>
                <a:gd name="connsiteX0" fmla="*/ 1692991 w 1692991"/>
                <a:gd name="connsiteY0" fmla="*/ 0 h 257442"/>
                <a:gd name="connsiteX1" fmla="*/ 1638270 w 1692991"/>
                <a:gd name="connsiteY1" fmla="*/ 257442 h 257442"/>
                <a:gd name="connsiteX2" fmla="*/ 0 w 1692991"/>
                <a:gd name="connsiteY2" fmla="*/ 257442 h 257442"/>
                <a:gd name="connsiteX3" fmla="*/ 0 w 1692991"/>
                <a:gd name="connsiteY3" fmla="*/ 0 h 257442"/>
                <a:gd name="connsiteX0" fmla="*/ 1692991 w 1692991"/>
                <a:gd name="connsiteY0" fmla="*/ 0 h 257442"/>
                <a:gd name="connsiteX1" fmla="*/ 1638270 w 1692991"/>
                <a:gd name="connsiteY1" fmla="*/ 257442 h 257442"/>
                <a:gd name="connsiteX2" fmla="*/ 0 w 1692991"/>
                <a:gd name="connsiteY2" fmla="*/ 257442 h 257442"/>
                <a:gd name="connsiteX3" fmla="*/ 0 w 1692991"/>
                <a:gd name="connsiteY3" fmla="*/ 0 h 257442"/>
                <a:gd name="connsiteX0" fmla="*/ 1861307 w 1861307"/>
                <a:gd name="connsiteY0" fmla="*/ 0 h 257442"/>
                <a:gd name="connsiteX1" fmla="*/ 1638270 w 1861307"/>
                <a:gd name="connsiteY1" fmla="*/ 257442 h 257442"/>
                <a:gd name="connsiteX2" fmla="*/ 0 w 1861307"/>
                <a:gd name="connsiteY2" fmla="*/ 257442 h 257442"/>
                <a:gd name="connsiteX3" fmla="*/ 0 w 1861307"/>
                <a:gd name="connsiteY3" fmla="*/ 0 h 257442"/>
                <a:gd name="connsiteX0" fmla="*/ 1861307 w 1861307"/>
                <a:gd name="connsiteY0" fmla="*/ 0 h 257442"/>
                <a:gd name="connsiteX1" fmla="*/ 1806586 w 1861307"/>
                <a:gd name="connsiteY1" fmla="*/ 257442 h 257442"/>
                <a:gd name="connsiteX2" fmla="*/ 0 w 1861307"/>
                <a:gd name="connsiteY2" fmla="*/ 257442 h 257442"/>
                <a:gd name="connsiteX3" fmla="*/ 0 w 1861307"/>
                <a:gd name="connsiteY3" fmla="*/ 0 h 257442"/>
                <a:gd name="connsiteX0" fmla="*/ 1861307 w 1861307"/>
                <a:gd name="connsiteY0" fmla="*/ 0 h 257442"/>
                <a:gd name="connsiteX1" fmla="*/ 1806586 w 1861307"/>
                <a:gd name="connsiteY1" fmla="*/ 257442 h 257442"/>
                <a:gd name="connsiteX2" fmla="*/ 0 w 1861307"/>
                <a:gd name="connsiteY2" fmla="*/ 257442 h 257442"/>
                <a:gd name="connsiteX3" fmla="*/ 0 w 1861307"/>
                <a:gd name="connsiteY3" fmla="*/ 0 h 257442"/>
                <a:gd name="connsiteX0" fmla="*/ 1861307 w 1861307"/>
                <a:gd name="connsiteY0" fmla="*/ 0 h 257442"/>
                <a:gd name="connsiteX1" fmla="*/ 1806586 w 1861307"/>
                <a:gd name="connsiteY1" fmla="*/ 257442 h 257442"/>
                <a:gd name="connsiteX2" fmla="*/ 0 w 1861307"/>
                <a:gd name="connsiteY2" fmla="*/ 257442 h 257442"/>
                <a:gd name="connsiteX3" fmla="*/ 0 w 1861307"/>
                <a:gd name="connsiteY3" fmla="*/ 0 h 257442"/>
                <a:gd name="connsiteX0" fmla="*/ 2029622 w 2029622"/>
                <a:gd name="connsiteY0" fmla="*/ 0 h 257442"/>
                <a:gd name="connsiteX1" fmla="*/ 1806586 w 2029622"/>
                <a:gd name="connsiteY1" fmla="*/ 257442 h 257442"/>
                <a:gd name="connsiteX2" fmla="*/ 0 w 2029622"/>
                <a:gd name="connsiteY2" fmla="*/ 257442 h 257442"/>
                <a:gd name="connsiteX3" fmla="*/ 0 w 2029622"/>
                <a:gd name="connsiteY3" fmla="*/ 0 h 257442"/>
                <a:gd name="connsiteX0" fmla="*/ 2029622 w 2029622"/>
                <a:gd name="connsiteY0" fmla="*/ 0 h 257442"/>
                <a:gd name="connsiteX1" fmla="*/ 1974900 w 2029622"/>
                <a:gd name="connsiteY1" fmla="*/ 257442 h 257442"/>
                <a:gd name="connsiteX2" fmla="*/ 0 w 2029622"/>
                <a:gd name="connsiteY2" fmla="*/ 257442 h 257442"/>
                <a:gd name="connsiteX3" fmla="*/ 0 w 2029622"/>
                <a:gd name="connsiteY3" fmla="*/ 0 h 257442"/>
                <a:gd name="connsiteX0" fmla="*/ 2029623 w 2029623"/>
                <a:gd name="connsiteY0" fmla="*/ 0 h 257442"/>
                <a:gd name="connsiteX1" fmla="*/ 1974901 w 2029623"/>
                <a:gd name="connsiteY1" fmla="*/ 257442 h 257442"/>
                <a:gd name="connsiteX2" fmla="*/ 0 w 2029623"/>
                <a:gd name="connsiteY2" fmla="*/ 257442 h 257442"/>
                <a:gd name="connsiteX3" fmla="*/ 1 w 2029623"/>
                <a:gd name="connsiteY3" fmla="*/ 0 h 257442"/>
                <a:gd name="connsiteX0" fmla="*/ 2029623 w 2029623"/>
                <a:gd name="connsiteY0" fmla="*/ 0 h 257442"/>
                <a:gd name="connsiteX1" fmla="*/ 1974901 w 2029623"/>
                <a:gd name="connsiteY1" fmla="*/ 257442 h 257442"/>
                <a:gd name="connsiteX2" fmla="*/ 0 w 2029623"/>
                <a:gd name="connsiteY2" fmla="*/ 257442 h 257442"/>
                <a:gd name="connsiteX3" fmla="*/ 1 w 2029623"/>
                <a:gd name="connsiteY3" fmla="*/ 0 h 257442"/>
                <a:gd name="connsiteX0" fmla="*/ 2189923 w 2189923"/>
                <a:gd name="connsiteY0" fmla="*/ 0 h 257442"/>
                <a:gd name="connsiteX1" fmla="*/ 1974901 w 2189923"/>
                <a:gd name="connsiteY1" fmla="*/ 257442 h 257442"/>
                <a:gd name="connsiteX2" fmla="*/ 0 w 2189923"/>
                <a:gd name="connsiteY2" fmla="*/ 257442 h 257442"/>
                <a:gd name="connsiteX3" fmla="*/ 1 w 2189923"/>
                <a:gd name="connsiteY3" fmla="*/ 0 h 257442"/>
                <a:gd name="connsiteX0" fmla="*/ 2189923 w 2189923"/>
                <a:gd name="connsiteY0" fmla="*/ 0 h 257442"/>
                <a:gd name="connsiteX1" fmla="*/ 2135202 w 2189923"/>
                <a:gd name="connsiteY1" fmla="*/ 257442 h 257442"/>
                <a:gd name="connsiteX2" fmla="*/ 0 w 2189923"/>
                <a:gd name="connsiteY2" fmla="*/ 257442 h 257442"/>
                <a:gd name="connsiteX3" fmla="*/ 1 w 2189923"/>
                <a:gd name="connsiteY3" fmla="*/ 0 h 257442"/>
                <a:gd name="connsiteX0" fmla="*/ 2189922 w 2189922"/>
                <a:gd name="connsiteY0" fmla="*/ 0 h 257442"/>
                <a:gd name="connsiteX1" fmla="*/ 2135201 w 2189922"/>
                <a:gd name="connsiteY1" fmla="*/ 257442 h 257442"/>
                <a:gd name="connsiteX2" fmla="*/ 0 w 2189922"/>
                <a:gd name="connsiteY2" fmla="*/ 257442 h 257442"/>
                <a:gd name="connsiteX3" fmla="*/ 0 w 2189922"/>
                <a:gd name="connsiteY3" fmla="*/ 0 h 257442"/>
                <a:gd name="connsiteX0" fmla="*/ 2189923 w 2189923"/>
                <a:gd name="connsiteY0" fmla="*/ 0 h 257442"/>
                <a:gd name="connsiteX1" fmla="*/ 2135202 w 2189923"/>
                <a:gd name="connsiteY1" fmla="*/ 257442 h 257442"/>
                <a:gd name="connsiteX2" fmla="*/ 1 w 2189923"/>
                <a:gd name="connsiteY2" fmla="*/ 257442 h 257442"/>
                <a:gd name="connsiteX3" fmla="*/ 0 w 2189923"/>
                <a:gd name="connsiteY3" fmla="*/ 0 h 257442"/>
                <a:gd name="connsiteX0" fmla="*/ 2350223 w 2350223"/>
                <a:gd name="connsiteY0" fmla="*/ 0 h 257442"/>
                <a:gd name="connsiteX1" fmla="*/ 2135202 w 2350223"/>
                <a:gd name="connsiteY1" fmla="*/ 257442 h 257442"/>
                <a:gd name="connsiteX2" fmla="*/ 1 w 2350223"/>
                <a:gd name="connsiteY2" fmla="*/ 257442 h 257442"/>
                <a:gd name="connsiteX3" fmla="*/ 0 w 2350223"/>
                <a:gd name="connsiteY3" fmla="*/ 0 h 257442"/>
                <a:gd name="connsiteX0" fmla="*/ 2350223 w 2350223"/>
                <a:gd name="connsiteY0" fmla="*/ 0 h 257442"/>
                <a:gd name="connsiteX1" fmla="*/ 2295502 w 2350223"/>
                <a:gd name="connsiteY1" fmla="*/ 257442 h 257442"/>
                <a:gd name="connsiteX2" fmla="*/ 1 w 2350223"/>
                <a:gd name="connsiteY2" fmla="*/ 257442 h 257442"/>
                <a:gd name="connsiteX3" fmla="*/ 0 w 2350223"/>
                <a:gd name="connsiteY3" fmla="*/ 0 h 257442"/>
                <a:gd name="connsiteX0" fmla="*/ 2350223 w 2350223"/>
                <a:gd name="connsiteY0" fmla="*/ 0 h 257442"/>
                <a:gd name="connsiteX1" fmla="*/ 2295502 w 2350223"/>
                <a:gd name="connsiteY1" fmla="*/ 257442 h 257442"/>
                <a:gd name="connsiteX2" fmla="*/ 1 w 2350223"/>
                <a:gd name="connsiteY2" fmla="*/ 257442 h 257442"/>
                <a:gd name="connsiteX3" fmla="*/ 0 w 2350223"/>
                <a:gd name="connsiteY3" fmla="*/ 0 h 257442"/>
                <a:gd name="connsiteX0" fmla="*/ 2350222 w 2350222"/>
                <a:gd name="connsiteY0" fmla="*/ 0 h 257442"/>
                <a:gd name="connsiteX1" fmla="*/ 2295501 w 2350222"/>
                <a:gd name="connsiteY1" fmla="*/ 257442 h 257442"/>
                <a:gd name="connsiteX2" fmla="*/ 0 w 2350222"/>
                <a:gd name="connsiteY2" fmla="*/ 257442 h 257442"/>
                <a:gd name="connsiteX3" fmla="*/ 0 w 2350222"/>
                <a:gd name="connsiteY3" fmla="*/ 0 h 257442"/>
                <a:gd name="connsiteX0" fmla="*/ 2518537 w 2518537"/>
                <a:gd name="connsiteY0" fmla="*/ 0 h 257442"/>
                <a:gd name="connsiteX1" fmla="*/ 2295501 w 2518537"/>
                <a:gd name="connsiteY1" fmla="*/ 257442 h 257442"/>
                <a:gd name="connsiteX2" fmla="*/ 0 w 2518537"/>
                <a:gd name="connsiteY2" fmla="*/ 257442 h 257442"/>
                <a:gd name="connsiteX3" fmla="*/ 0 w 2518537"/>
                <a:gd name="connsiteY3" fmla="*/ 0 h 257442"/>
                <a:gd name="connsiteX0" fmla="*/ 2518537 w 2518537"/>
                <a:gd name="connsiteY0" fmla="*/ 0 h 257442"/>
                <a:gd name="connsiteX1" fmla="*/ 2463816 w 2518537"/>
                <a:gd name="connsiteY1" fmla="*/ 257442 h 257442"/>
                <a:gd name="connsiteX2" fmla="*/ 0 w 2518537"/>
                <a:gd name="connsiteY2" fmla="*/ 257442 h 257442"/>
                <a:gd name="connsiteX3" fmla="*/ 0 w 2518537"/>
                <a:gd name="connsiteY3" fmla="*/ 0 h 257442"/>
                <a:gd name="connsiteX0" fmla="*/ 2518538 w 2518538"/>
                <a:gd name="connsiteY0" fmla="*/ 0 h 257442"/>
                <a:gd name="connsiteX1" fmla="*/ 2463817 w 2518538"/>
                <a:gd name="connsiteY1" fmla="*/ 257442 h 257442"/>
                <a:gd name="connsiteX2" fmla="*/ 0 w 2518538"/>
                <a:gd name="connsiteY2" fmla="*/ 257442 h 257442"/>
                <a:gd name="connsiteX3" fmla="*/ 1 w 2518538"/>
                <a:gd name="connsiteY3" fmla="*/ 0 h 257442"/>
                <a:gd name="connsiteX0" fmla="*/ 2518538 w 2518538"/>
                <a:gd name="connsiteY0" fmla="*/ 0 h 257442"/>
                <a:gd name="connsiteX1" fmla="*/ 2463817 w 2518538"/>
                <a:gd name="connsiteY1" fmla="*/ 257442 h 257442"/>
                <a:gd name="connsiteX2" fmla="*/ 0 w 2518538"/>
                <a:gd name="connsiteY2" fmla="*/ 257442 h 257442"/>
                <a:gd name="connsiteX3" fmla="*/ 0 w 2518538"/>
                <a:gd name="connsiteY3" fmla="*/ 0 h 257442"/>
                <a:gd name="connsiteX0" fmla="*/ 2686853 w 2686853"/>
                <a:gd name="connsiteY0" fmla="*/ 0 h 257442"/>
                <a:gd name="connsiteX1" fmla="*/ 2463817 w 2686853"/>
                <a:gd name="connsiteY1" fmla="*/ 257442 h 257442"/>
                <a:gd name="connsiteX2" fmla="*/ 0 w 2686853"/>
                <a:gd name="connsiteY2" fmla="*/ 257442 h 257442"/>
                <a:gd name="connsiteX3" fmla="*/ 0 w 2686853"/>
                <a:gd name="connsiteY3" fmla="*/ 0 h 257442"/>
                <a:gd name="connsiteX0" fmla="*/ 2686853 w 2686853"/>
                <a:gd name="connsiteY0" fmla="*/ 0 h 257442"/>
                <a:gd name="connsiteX1" fmla="*/ 2632132 w 2686853"/>
                <a:gd name="connsiteY1" fmla="*/ 257442 h 257442"/>
                <a:gd name="connsiteX2" fmla="*/ 0 w 2686853"/>
                <a:gd name="connsiteY2" fmla="*/ 257442 h 257442"/>
                <a:gd name="connsiteX3" fmla="*/ 0 w 2686853"/>
                <a:gd name="connsiteY3" fmla="*/ 0 h 257442"/>
                <a:gd name="connsiteX0" fmla="*/ 2686853 w 2686853"/>
                <a:gd name="connsiteY0" fmla="*/ 0 h 257442"/>
                <a:gd name="connsiteX1" fmla="*/ 2632132 w 2686853"/>
                <a:gd name="connsiteY1" fmla="*/ 257442 h 257442"/>
                <a:gd name="connsiteX2" fmla="*/ 0 w 2686853"/>
                <a:gd name="connsiteY2" fmla="*/ 257442 h 257442"/>
                <a:gd name="connsiteX3" fmla="*/ 0 w 2686853"/>
                <a:gd name="connsiteY3" fmla="*/ 0 h 257442"/>
                <a:gd name="connsiteX0" fmla="*/ 2686853 w 2686853"/>
                <a:gd name="connsiteY0" fmla="*/ 0 h 257442"/>
                <a:gd name="connsiteX1" fmla="*/ 2632132 w 2686853"/>
                <a:gd name="connsiteY1" fmla="*/ 257442 h 257442"/>
                <a:gd name="connsiteX2" fmla="*/ 0 w 2686853"/>
                <a:gd name="connsiteY2" fmla="*/ 257442 h 257442"/>
                <a:gd name="connsiteX3" fmla="*/ 0 w 2686853"/>
                <a:gd name="connsiteY3" fmla="*/ 0 h 257442"/>
                <a:gd name="connsiteX0" fmla="*/ 2518538 w 2632132"/>
                <a:gd name="connsiteY0" fmla="*/ 0 h 257442"/>
                <a:gd name="connsiteX1" fmla="*/ 2632132 w 2632132"/>
                <a:gd name="connsiteY1" fmla="*/ 257442 h 257442"/>
                <a:gd name="connsiteX2" fmla="*/ 0 w 2632132"/>
                <a:gd name="connsiteY2" fmla="*/ 257442 h 257442"/>
                <a:gd name="connsiteX3" fmla="*/ 0 w 2632132"/>
                <a:gd name="connsiteY3" fmla="*/ 0 h 257442"/>
                <a:gd name="connsiteX0" fmla="*/ 2518538 w 2518538"/>
                <a:gd name="connsiteY0" fmla="*/ 0 h 257442"/>
                <a:gd name="connsiteX1" fmla="*/ 2463817 w 2518538"/>
                <a:gd name="connsiteY1" fmla="*/ 257442 h 257442"/>
                <a:gd name="connsiteX2" fmla="*/ 0 w 2518538"/>
                <a:gd name="connsiteY2" fmla="*/ 257442 h 257442"/>
                <a:gd name="connsiteX3" fmla="*/ 0 w 2518538"/>
                <a:gd name="connsiteY3" fmla="*/ 0 h 257442"/>
                <a:gd name="connsiteX0" fmla="*/ 2518538 w 2518538"/>
                <a:gd name="connsiteY0" fmla="*/ 0 h 257442"/>
                <a:gd name="connsiteX1" fmla="*/ 2463817 w 2518538"/>
                <a:gd name="connsiteY1" fmla="*/ 257442 h 257442"/>
                <a:gd name="connsiteX2" fmla="*/ 0 w 2518538"/>
                <a:gd name="connsiteY2" fmla="*/ 257442 h 257442"/>
                <a:gd name="connsiteX3" fmla="*/ 0 w 2518538"/>
                <a:gd name="connsiteY3" fmla="*/ 0 h 257442"/>
                <a:gd name="connsiteX0" fmla="*/ 2518538 w 2518538"/>
                <a:gd name="connsiteY0" fmla="*/ 0 h 257442"/>
                <a:gd name="connsiteX1" fmla="*/ 2463817 w 2518538"/>
                <a:gd name="connsiteY1" fmla="*/ 257442 h 257442"/>
                <a:gd name="connsiteX2" fmla="*/ 0 w 2518538"/>
                <a:gd name="connsiteY2" fmla="*/ 257442 h 257442"/>
                <a:gd name="connsiteX3" fmla="*/ 0 w 2518538"/>
                <a:gd name="connsiteY3" fmla="*/ 0 h 257442"/>
                <a:gd name="connsiteX0" fmla="*/ 2787843 w 2787843"/>
                <a:gd name="connsiteY0" fmla="*/ 0 h 257442"/>
                <a:gd name="connsiteX1" fmla="*/ 2463817 w 2787843"/>
                <a:gd name="connsiteY1" fmla="*/ 257442 h 257442"/>
                <a:gd name="connsiteX2" fmla="*/ 0 w 2787843"/>
                <a:gd name="connsiteY2" fmla="*/ 257442 h 257442"/>
                <a:gd name="connsiteX3" fmla="*/ 0 w 2787843"/>
                <a:gd name="connsiteY3" fmla="*/ 0 h 257442"/>
                <a:gd name="connsiteX0" fmla="*/ 2787843 w 2787843"/>
                <a:gd name="connsiteY0" fmla="*/ 0 h 257442"/>
                <a:gd name="connsiteX1" fmla="*/ 2733122 w 2787843"/>
                <a:gd name="connsiteY1" fmla="*/ 257442 h 257442"/>
                <a:gd name="connsiteX2" fmla="*/ 0 w 2787843"/>
                <a:gd name="connsiteY2" fmla="*/ 257442 h 257442"/>
                <a:gd name="connsiteX3" fmla="*/ 0 w 2787843"/>
                <a:gd name="connsiteY3" fmla="*/ 0 h 257442"/>
                <a:gd name="connsiteX0" fmla="*/ 2787843 w 2787843"/>
                <a:gd name="connsiteY0" fmla="*/ 0 h 257442"/>
                <a:gd name="connsiteX1" fmla="*/ 2733122 w 2787843"/>
                <a:gd name="connsiteY1" fmla="*/ 257442 h 257442"/>
                <a:gd name="connsiteX2" fmla="*/ 0 w 2787843"/>
                <a:gd name="connsiteY2" fmla="*/ 257442 h 257442"/>
                <a:gd name="connsiteX3" fmla="*/ 0 w 2787843"/>
                <a:gd name="connsiteY3" fmla="*/ 0 h 257442"/>
                <a:gd name="connsiteX0" fmla="*/ 2787843 w 2787843"/>
                <a:gd name="connsiteY0" fmla="*/ 0 h 257442"/>
                <a:gd name="connsiteX1" fmla="*/ 2733122 w 2787843"/>
                <a:gd name="connsiteY1" fmla="*/ 257442 h 257442"/>
                <a:gd name="connsiteX2" fmla="*/ 0 w 2787843"/>
                <a:gd name="connsiteY2" fmla="*/ 257442 h 257442"/>
                <a:gd name="connsiteX3" fmla="*/ 0 w 2787843"/>
                <a:gd name="connsiteY3" fmla="*/ 0 h 257442"/>
                <a:gd name="connsiteX0" fmla="*/ 2965775 w 2965775"/>
                <a:gd name="connsiteY0" fmla="*/ 0 h 257442"/>
                <a:gd name="connsiteX1" fmla="*/ 2733122 w 2965775"/>
                <a:gd name="connsiteY1" fmla="*/ 257442 h 257442"/>
                <a:gd name="connsiteX2" fmla="*/ 0 w 2965775"/>
                <a:gd name="connsiteY2" fmla="*/ 257442 h 257442"/>
                <a:gd name="connsiteX3" fmla="*/ 0 w 2965775"/>
                <a:gd name="connsiteY3" fmla="*/ 0 h 257442"/>
                <a:gd name="connsiteX0" fmla="*/ 2965775 w 2965775"/>
                <a:gd name="connsiteY0" fmla="*/ 0 h 257442"/>
                <a:gd name="connsiteX1" fmla="*/ 2911054 w 2965775"/>
                <a:gd name="connsiteY1" fmla="*/ 257442 h 257442"/>
                <a:gd name="connsiteX2" fmla="*/ 0 w 2965775"/>
                <a:gd name="connsiteY2" fmla="*/ 257442 h 257442"/>
                <a:gd name="connsiteX3" fmla="*/ 0 w 2965775"/>
                <a:gd name="connsiteY3" fmla="*/ 0 h 257442"/>
                <a:gd name="connsiteX0" fmla="*/ 2965775 w 2965775"/>
                <a:gd name="connsiteY0" fmla="*/ 0 h 257442"/>
                <a:gd name="connsiteX1" fmla="*/ 2911054 w 2965775"/>
                <a:gd name="connsiteY1" fmla="*/ 257442 h 257442"/>
                <a:gd name="connsiteX2" fmla="*/ 0 w 2965775"/>
                <a:gd name="connsiteY2" fmla="*/ 257442 h 257442"/>
                <a:gd name="connsiteX3" fmla="*/ 0 w 2965775"/>
                <a:gd name="connsiteY3" fmla="*/ 0 h 257442"/>
                <a:gd name="connsiteX0" fmla="*/ 2965775 w 2965775"/>
                <a:gd name="connsiteY0" fmla="*/ 0 h 257442"/>
                <a:gd name="connsiteX1" fmla="*/ 2911054 w 2965775"/>
                <a:gd name="connsiteY1" fmla="*/ 257442 h 257442"/>
                <a:gd name="connsiteX2" fmla="*/ 0 w 2965775"/>
                <a:gd name="connsiteY2" fmla="*/ 257442 h 257442"/>
                <a:gd name="connsiteX3" fmla="*/ 0 w 2965775"/>
                <a:gd name="connsiteY3" fmla="*/ 0 h 257442"/>
                <a:gd name="connsiteX0" fmla="*/ 2797461 w 2911054"/>
                <a:gd name="connsiteY0" fmla="*/ 0 h 257442"/>
                <a:gd name="connsiteX1" fmla="*/ 2911054 w 2911054"/>
                <a:gd name="connsiteY1" fmla="*/ 257442 h 257442"/>
                <a:gd name="connsiteX2" fmla="*/ 0 w 2911054"/>
                <a:gd name="connsiteY2" fmla="*/ 257442 h 257442"/>
                <a:gd name="connsiteX3" fmla="*/ 0 w 2911054"/>
                <a:gd name="connsiteY3" fmla="*/ 0 h 257442"/>
                <a:gd name="connsiteX0" fmla="*/ 2797461 w 2797461"/>
                <a:gd name="connsiteY0" fmla="*/ 0 h 257442"/>
                <a:gd name="connsiteX1" fmla="*/ 2742740 w 2797461"/>
                <a:gd name="connsiteY1" fmla="*/ 257442 h 257442"/>
                <a:gd name="connsiteX2" fmla="*/ 0 w 2797461"/>
                <a:gd name="connsiteY2" fmla="*/ 257442 h 257442"/>
                <a:gd name="connsiteX3" fmla="*/ 0 w 2797461"/>
                <a:gd name="connsiteY3" fmla="*/ 0 h 257442"/>
                <a:gd name="connsiteX0" fmla="*/ 2797461 w 2797461"/>
                <a:gd name="connsiteY0" fmla="*/ 0 h 257442"/>
                <a:gd name="connsiteX1" fmla="*/ 2742740 w 2797461"/>
                <a:gd name="connsiteY1" fmla="*/ 257442 h 257442"/>
                <a:gd name="connsiteX2" fmla="*/ 1 w 2797461"/>
                <a:gd name="connsiteY2" fmla="*/ 257442 h 257442"/>
                <a:gd name="connsiteX3" fmla="*/ 0 w 2797461"/>
                <a:gd name="connsiteY3" fmla="*/ 0 h 257442"/>
                <a:gd name="connsiteX0" fmla="*/ 2797460 w 2797460"/>
                <a:gd name="connsiteY0" fmla="*/ 0 h 257442"/>
                <a:gd name="connsiteX1" fmla="*/ 2742739 w 2797460"/>
                <a:gd name="connsiteY1" fmla="*/ 257442 h 257442"/>
                <a:gd name="connsiteX2" fmla="*/ 0 w 2797460"/>
                <a:gd name="connsiteY2" fmla="*/ 257442 h 257442"/>
                <a:gd name="connsiteX3" fmla="*/ 0 w 2797460"/>
                <a:gd name="connsiteY3" fmla="*/ 0 h 257442"/>
                <a:gd name="connsiteX0" fmla="*/ 2957760 w 2957760"/>
                <a:gd name="connsiteY0" fmla="*/ 0 h 257442"/>
                <a:gd name="connsiteX1" fmla="*/ 2742739 w 2957760"/>
                <a:gd name="connsiteY1" fmla="*/ 257442 h 257442"/>
                <a:gd name="connsiteX2" fmla="*/ 0 w 2957760"/>
                <a:gd name="connsiteY2" fmla="*/ 257442 h 257442"/>
                <a:gd name="connsiteX3" fmla="*/ 0 w 2957760"/>
                <a:gd name="connsiteY3" fmla="*/ 0 h 257442"/>
                <a:gd name="connsiteX0" fmla="*/ 2957760 w 2957760"/>
                <a:gd name="connsiteY0" fmla="*/ 0 h 257442"/>
                <a:gd name="connsiteX1" fmla="*/ 2903039 w 2957760"/>
                <a:gd name="connsiteY1" fmla="*/ 257442 h 257442"/>
                <a:gd name="connsiteX2" fmla="*/ 0 w 2957760"/>
                <a:gd name="connsiteY2" fmla="*/ 257442 h 257442"/>
                <a:gd name="connsiteX3" fmla="*/ 0 w 2957760"/>
                <a:gd name="connsiteY3" fmla="*/ 0 h 257442"/>
                <a:gd name="connsiteX0" fmla="*/ 2957761 w 2957761"/>
                <a:gd name="connsiteY0" fmla="*/ 0 h 257442"/>
                <a:gd name="connsiteX1" fmla="*/ 2903040 w 2957761"/>
                <a:gd name="connsiteY1" fmla="*/ 257442 h 257442"/>
                <a:gd name="connsiteX2" fmla="*/ 0 w 2957761"/>
                <a:gd name="connsiteY2" fmla="*/ 257442 h 257442"/>
                <a:gd name="connsiteX3" fmla="*/ 1 w 2957761"/>
                <a:gd name="connsiteY3" fmla="*/ 0 h 257442"/>
                <a:gd name="connsiteX0" fmla="*/ 2957761 w 2957761"/>
                <a:gd name="connsiteY0" fmla="*/ 0 h 257442"/>
                <a:gd name="connsiteX1" fmla="*/ 2903040 w 2957761"/>
                <a:gd name="connsiteY1" fmla="*/ 257442 h 257442"/>
                <a:gd name="connsiteX2" fmla="*/ 0 w 2957761"/>
                <a:gd name="connsiteY2" fmla="*/ 257442 h 257442"/>
                <a:gd name="connsiteX3" fmla="*/ 1 w 2957761"/>
                <a:gd name="connsiteY3" fmla="*/ 0 h 257442"/>
                <a:gd name="connsiteX0" fmla="*/ 3143710 w 3143710"/>
                <a:gd name="connsiteY0" fmla="*/ 0 h 257442"/>
                <a:gd name="connsiteX1" fmla="*/ 2903040 w 3143710"/>
                <a:gd name="connsiteY1" fmla="*/ 257442 h 257442"/>
                <a:gd name="connsiteX2" fmla="*/ 0 w 3143710"/>
                <a:gd name="connsiteY2" fmla="*/ 257442 h 257442"/>
                <a:gd name="connsiteX3" fmla="*/ 1 w 3143710"/>
                <a:gd name="connsiteY3" fmla="*/ 0 h 257442"/>
                <a:gd name="connsiteX0" fmla="*/ 3143710 w 3143710"/>
                <a:gd name="connsiteY0" fmla="*/ 0 h 257442"/>
                <a:gd name="connsiteX1" fmla="*/ 3088988 w 3143710"/>
                <a:gd name="connsiteY1" fmla="*/ 257442 h 257442"/>
                <a:gd name="connsiteX2" fmla="*/ 0 w 3143710"/>
                <a:gd name="connsiteY2" fmla="*/ 257442 h 257442"/>
                <a:gd name="connsiteX3" fmla="*/ 1 w 3143710"/>
                <a:gd name="connsiteY3" fmla="*/ 0 h 257442"/>
                <a:gd name="connsiteX0" fmla="*/ 3143710 w 3143710"/>
                <a:gd name="connsiteY0" fmla="*/ 0 h 257442"/>
                <a:gd name="connsiteX1" fmla="*/ 3088988 w 3143710"/>
                <a:gd name="connsiteY1" fmla="*/ 257442 h 257442"/>
                <a:gd name="connsiteX2" fmla="*/ 0 w 3143710"/>
                <a:gd name="connsiteY2" fmla="*/ 257442 h 257442"/>
                <a:gd name="connsiteX3" fmla="*/ 1 w 3143710"/>
                <a:gd name="connsiteY3" fmla="*/ 0 h 257442"/>
                <a:gd name="connsiteX0" fmla="*/ 3143710 w 3143710"/>
                <a:gd name="connsiteY0" fmla="*/ 0 h 257442"/>
                <a:gd name="connsiteX1" fmla="*/ 3088988 w 3143710"/>
                <a:gd name="connsiteY1" fmla="*/ 257442 h 257442"/>
                <a:gd name="connsiteX2" fmla="*/ 0 w 3143710"/>
                <a:gd name="connsiteY2" fmla="*/ 257442 h 257442"/>
                <a:gd name="connsiteX3" fmla="*/ 0 w 3143710"/>
                <a:gd name="connsiteY3" fmla="*/ 0 h 257442"/>
                <a:gd name="connsiteX0" fmla="*/ 2787843 w 3088988"/>
                <a:gd name="connsiteY0" fmla="*/ 0 h 257442"/>
                <a:gd name="connsiteX1" fmla="*/ 3088988 w 3088988"/>
                <a:gd name="connsiteY1" fmla="*/ 257442 h 257442"/>
                <a:gd name="connsiteX2" fmla="*/ 0 w 3088988"/>
                <a:gd name="connsiteY2" fmla="*/ 257442 h 257442"/>
                <a:gd name="connsiteX3" fmla="*/ 0 w 3088988"/>
                <a:gd name="connsiteY3" fmla="*/ 0 h 257442"/>
                <a:gd name="connsiteX0" fmla="*/ 2787843 w 2787843"/>
                <a:gd name="connsiteY0" fmla="*/ 0 h 257442"/>
                <a:gd name="connsiteX1" fmla="*/ 2733122 w 2787843"/>
                <a:gd name="connsiteY1" fmla="*/ 257442 h 257442"/>
                <a:gd name="connsiteX2" fmla="*/ 0 w 2787843"/>
                <a:gd name="connsiteY2" fmla="*/ 257442 h 257442"/>
                <a:gd name="connsiteX3" fmla="*/ 0 w 2787843"/>
                <a:gd name="connsiteY3" fmla="*/ 0 h 257442"/>
                <a:gd name="connsiteX0" fmla="*/ 2787843 w 2787843"/>
                <a:gd name="connsiteY0" fmla="*/ 0 h 257442"/>
                <a:gd name="connsiteX1" fmla="*/ 2733122 w 2787843"/>
                <a:gd name="connsiteY1" fmla="*/ 257442 h 257442"/>
                <a:gd name="connsiteX2" fmla="*/ 1 w 2787843"/>
                <a:gd name="connsiteY2" fmla="*/ 257442 h 257442"/>
                <a:gd name="connsiteX3" fmla="*/ 0 w 2787843"/>
                <a:gd name="connsiteY3" fmla="*/ 0 h 257442"/>
                <a:gd name="connsiteX0" fmla="*/ 2787842 w 2787842"/>
                <a:gd name="connsiteY0" fmla="*/ 0 h 257442"/>
                <a:gd name="connsiteX1" fmla="*/ 2733121 w 2787842"/>
                <a:gd name="connsiteY1" fmla="*/ 257442 h 257442"/>
                <a:gd name="connsiteX2" fmla="*/ 0 w 2787842"/>
                <a:gd name="connsiteY2" fmla="*/ 257442 h 257442"/>
                <a:gd name="connsiteX3" fmla="*/ 0 w 2787842"/>
                <a:gd name="connsiteY3" fmla="*/ 0 h 257442"/>
                <a:gd name="connsiteX0" fmla="*/ 2965774 w 2965774"/>
                <a:gd name="connsiteY0" fmla="*/ 0 h 257442"/>
                <a:gd name="connsiteX1" fmla="*/ 2733121 w 2965774"/>
                <a:gd name="connsiteY1" fmla="*/ 257442 h 257442"/>
                <a:gd name="connsiteX2" fmla="*/ 0 w 2965774"/>
                <a:gd name="connsiteY2" fmla="*/ 257442 h 257442"/>
                <a:gd name="connsiteX3" fmla="*/ 0 w 2965774"/>
                <a:gd name="connsiteY3" fmla="*/ 0 h 257442"/>
                <a:gd name="connsiteX0" fmla="*/ 2965774 w 2965774"/>
                <a:gd name="connsiteY0" fmla="*/ 0 h 257442"/>
                <a:gd name="connsiteX1" fmla="*/ 2911053 w 2965774"/>
                <a:gd name="connsiteY1" fmla="*/ 257442 h 257442"/>
                <a:gd name="connsiteX2" fmla="*/ 0 w 2965774"/>
                <a:gd name="connsiteY2" fmla="*/ 257442 h 257442"/>
                <a:gd name="connsiteX3" fmla="*/ 0 w 2965774"/>
                <a:gd name="connsiteY3" fmla="*/ 0 h 257442"/>
                <a:gd name="connsiteX0" fmla="*/ 2965775 w 2965775"/>
                <a:gd name="connsiteY0" fmla="*/ 0 h 257442"/>
                <a:gd name="connsiteX1" fmla="*/ 2911054 w 2965775"/>
                <a:gd name="connsiteY1" fmla="*/ 257442 h 257442"/>
                <a:gd name="connsiteX2" fmla="*/ 0 w 2965775"/>
                <a:gd name="connsiteY2" fmla="*/ 257442 h 257442"/>
                <a:gd name="connsiteX3" fmla="*/ 1 w 2965775"/>
                <a:gd name="connsiteY3" fmla="*/ 0 h 257442"/>
                <a:gd name="connsiteX0" fmla="*/ 2965775 w 2965775"/>
                <a:gd name="connsiteY0" fmla="*/ 0 h 257442"/>
                <a:gd name="connsiteX1" fmla="*/ 2911054 w 2965775"/>
                <a:gd name="connsiteY1" fmla="*/ 257442 h 257442"/>
                <a:gd name="connsiteX2" fmla="*/ 0 w 2965775"/>
                <a:gd name="connsiteY2" fmla="*/ 257442 h 257442"/>
                <a:gd name="connsiteX3" fmla="*/ 1 w 2965775"/>
                <a:gd name="connsiteY3" fmla="*/ 0 h 257442"/>
                <a:gd name="connsiteX0" fmla="*/ 950802 w 2911054"/>
                <a:gd name="connsiteY0" fmla="*/ 0 h 257442"/>
                <a:gd name="connsiteX1" fmla="*/ 2911054 w 2911054"/>
                <a:gd name="connsiteY1" fmla="*/ 257442 h 257442"/>
                <a:gd name="connsiteX2" fmla="*/ 0 w 2911054"/>
                <a:gd name="connsiteY2" fmla="*/ 257442 h 257442"/>
                <a:gd name="connsiteX3" fmla="*/ 1 w 2911054"/>
                <a:gd name="connsiteY3" fmla="*/ 0 h 257442"/>
                <a:gd name="connsiteX0" fmla="*/ 950802 w 950802"/>
                <a:gd name="connsiteY0" fmla="*/ 0 h 257442"/>
                <a:gd name="connsiteX1" fmla="*/ 896081 w 950802"/>
                <a:gd name="connsiteY1" fmla="*/ 257442 h 257442"/>
                <a:gd name="connsiteX2" fmla="*/ 0 w 950802"/>
                <a:gd name="connsiteY2" fmla="*/ 257442 h 257442"/>
                <a:gd name="connsiteX3" fmla="*/ 1 w 950802"/>
                <a:gd name="connsiteY3" fmla="*/ 0 h 257442"/>
                <a:gd name="connsiteX0" fmla="*/ 950801 w 950801"/>
                <a:gd name="connsiteY0" fmla="*/ 0 h 257442"/>
                <a:gd name="connsiteX1" fmla="*/ 896080 w 950801"/>
                <a:gd name="connsiteY1" fmla="*/ 257442 h 257442"/>
                <a:gd name="connsiteX2" fmla="*/ 0 w 950801"/>
                <a:gd name="connsiteY2" fmla="*/ 257442 h 257442"/>
                <a:gd name="connsiteX3" fmla="*/ 0 w 950801"/>
                <a:gd name="connsiteY3" fmla="*/ 0 h 257442"/>
                <a:gd name="connsiteX0" fmla="*/ 950801 w 950801"/>
                <a:gd name="connsiteY0" fmla="*/ 0 h 257442"/>
                <a:gd name="connsiteX1" fmla="*/ 896080 w 950801"/>
                <a:gd name="connsiteY1" fmla="*/ 257442 h 257442"/>
                <a:gd name="connsiteX2" fmla="*/ 0 w 950801"/>
                <a:gd name="connsiteY2" fmla="*/ 257442 h 257442"/>
                <a:gd name="connsiteX3" fmla="*/ 0 w 950801"/>
                <a:gd name="connsiteY3" fmla="*/ 0 h 257442"/>
                <a:gd name="connsiteX0" fmla="*/ 782550 w 896080"/>
                <a:gd name="connsiteY0" fmla="*/ 0 h 257442"/>
                <a:gd name="connsiteX1" fmla="*/ 896080 w 896080"/>
                <a:gd name="connsiteY1" fmla="*/ 257442 h 257442"/>
                <a:gd name="connsiteX2" fmla="*/ 0 w 896080"/>
                <a:gd name="connsiteY2" fmla="*/ 257442 h 257442"/>
                <a:gd name="connsiteX3" fmla="*/ 0 w 896080"/>
                <a:gd name="connsiteY3" fmla="*/ 0 h 257442"/>
                <a:gd name="connsiteX0" fmla="*/ 782550 w 782550"/>
                <a:gd name="connsiteY0" fmla="*/ 0 h 257442"/>
                <a:gd name="connsiteX1" fmla="*/ 727829 w 782550"/>
                <a:gd name="connsiteY1" fmla="*/ 257442 h 257442"/>
                <a:gd name="connsiteX2" fmla="*/ 0 w 782550"/>
                <a:gd name="connsiteY2" fmla="*/ 257442 h 257442"/>
                <a:gd name="connsiteX3" fmla="*/ 0 w 782550"/>
                <a:gd name="connsiteY3" fmla="*/ 0 h 257442"/>
                <a:gd name="connsiteX0" fmla="*/ 782550 w 782550"/>
                <a:gd name="connsiteY0" fmla="*/ 0 h 257442"/>
                <a:gd name="connsiteX1" fmla="*/ 727829 w 782550"/>
                <a:gd name="connsiteY1" fmla="*/ 257442 h 257442"/>
                <a:gd name="connsiteX2" fmla="*/ 0 w 782550"/>
                <a:gd name="connsiteY2" fmla="*/ 257442 h 257442"/>
                <a:gd name="connsiteX3" fmla="*/ 0 w 782550"/>
                <a:gd name="connsiteY3" fmla="*/ 0 h 257442"/>
                <a:gd name="connsiteX0" fmla="*/ 782550 w 782550"/>
                <a:gd name="connsiteY0" fmla="*/ 0 h 257442"/>
                <a:gd name="connsiteX1" fmla="*/ 727829 w 782550"/>
                <a:gd name="connsiteY1" fmla="*/ 257442 h 257442"/>
                <a:gd name="connsiteX2" fmla="*/ 0 w 782550"/>
                <a:gd name="connsiteY2" fmla="*/ 257442 h 257442"/>
                <a:gd name="connsiteX3" fmla="*/ 0 w 782550"/>
                <a:gd name="connsiteY3" fmla="*/ 0 h 257442"/>
                <a:gd name="connsiteX0" fmla="*/ 950801 w 950801"/>
                <a:gd name="connsiteY0" fmla="*/ 0 h 257442"/>
                <a:gd name="connsiteX1" fmla="*/ 727829 w 950801"/>
                <a:gd name="connsiteY1" fmla="*/ 257442 h 257442"/>
                <a:gd name="connsiteX2" fmla="*/ 0 w 950801"/>
                <a:gd name="connsiteY2" fmla="*/ 257442 h 257442"/>
                <a:gd name="connsiteX3" fmla="*/ 0 w 950801"/>
                <a:gd name="connsiteY3" fmla="*/ 0 h 257442"/>
                <a:gd name="connsiteX0" fmla="*/ 950801 w 950801"/>
                <a:gd name="connsiteY0" fmla="*/ 0 h 257442"/>
                <a:gd name="connsiteX1" fmla="*/ 896080 w 950801"/>
                <a:gd name="connsiteY1" fmla="*/ 257442 h 257442"/>
                <a:gd name="connsiteX2" fmla="*/ 0 w 950801"/>
                <a:gd name="connsiteY2" fmla="*/ 257442 h 257442"/>
                <a:gd name="connsiteX3" fmla="*/ 0 w 950801"/>
                <a:gd name="connsiteY3" fmla="*/ 0 h 257442"/>
                <a:gd name="connsiteX0" fmla="*/ 950801 w 950801"/>
                <a:gd name="connsiteY0" fmla="*/ 0 h 257442"/>
                <a:gd name="connsiteX1" fmla="*/ 896080 w 950801"/>
                <a:gd name="connsiteY1" fmla="*/ 257442 h 257442"/>
                <a:gd name="connsiteX2" fmla="*/ 0 w 950801"/>
                <a:gd name="connsiteY2" fmla="*/ 257442 h 257442"/>
                <a:gd name="connsiteX3" fmla="*/ 0 w 950801"/>
                <a:gd name="connsiteY3" fmla="*/ 0 h 257442"/>
                <a:gd name="connsiteX0" fmla="*/ 950801 w 950801"/>
                <a:gd name="connsiteY0" fmla="*/ 0 h 257442"/>
                <a:gd name="connsiteX1" fmla="*/ 896080 w 950801"/>
                <a:gd name="connsiteY1" fmla="*/ 257442 h 257442"/>
                <a:gd name="connsiteX2" fmla="*/ 0 w 950801"/>
                <a:gd name="connsiteY2" fmla="*/ 257442 h 257442"/>
                <a:gd name="connsiteX3" fmla="*/ 0 w 950801"/>
                <a:gd name="connsiteY3" fmla="*/ 0 h 257442"/>
                <a:gd name="connsiteX0" fmla="*/ 1229724 w 1229724"/>
                <a:gd name="connsiteY0" fmla="*/ 0 h 257442"/>
                <a:gd name="connsiteX1" fmla="*/ 896080 w 1229724"/>
                <a:gd name="connsiteY1" fmla="*/ 257442 h 257442"/>
                <a:gd name="connsiteX2" fmla="*/ 0 w 1229724"/>
                <a:gd name="connsiteY2" fmla="*/ 257442 h 257442"/>
                <a:gd name="connsiteX3" fmla="*/ 0 w 1229724"/>
                <a:gd name="connsiteY3" fmla="*/ 0 h 257442"/>
                <a:gd name="connsiteX0" fmla="*/ 1229724 w 1229724"/>
                <a:gd name="connsiteY0" fmla="*/ 0 h 257442"/>
                <a:gd name="connsiteX1" fmla="*/ 1175002 w 1229724"/>
                <a:gd name="connsiteY1" fmla="*/ 257442 h 257442"/>
                <a:gd name="connsiteX2" fmla="*/ 0 w 1229724"/>
                <a:gd name="connsiteY2" fmla="*/ 257442 h 257442"/>
                <a:gd name="connsiteX3" fmla="*/ 0 w 1229724"/>
                <a:gd name="connsiteY3" fmla="*/ 0 h 257442"/>
                <a:gd name="connsiteX0" fmla="*/ 1229725 w 1229725"/>
                <a:gd name="connsiteY0" fmla="*/ 0 h 257442"/>
                <a:gd name="connsiteX1" fmla="*/ 1175003 w 1229725"/>
                <a:gd name="connsiteY1" fmla="*/ 257442 h 257442"/>
                <a:gd name="connsiteX2" fmla="*/ 0 w 1229725"/>
                <a:gd name="connsiteY2" fmla="*/ 257442 h 257442"/>
                <a:gd name="connsiteX3" fmla="*/ 1 w 1229725"/>
                <a:gd name="connsiteY3" fmla="*/ 0 h 257442"/>
                <a:gd name="connsiteX0" fmla="*/ 1229725 w 1229725"/>
                <a:gd name="connsiteY0" fmla="*/ 0 h 257442"/>
                <a:gd name="connsiteX1" fmla="*/ 1175003 w 1229725"/>
                <a:gd name="connsiteY1" fmla="*/ 257442 h 257442"/>
                <a:gd name="connsiteX2" fmla="*/ 0 w 1229725"/>
                <a:gd name="connsiteY2" fmla="*/ 257442 h 257442"/>
                <a:gd name="connsiteX3" fmla="*/ 1 w 1229725"/>
                <a:gd name="connsiteY3" fmla="*/ 0 h 257442"/>
                <a:gd name="connsiteX0" fmla="*/ 1542310 w 1542310"/>
                <a:gd name="connsiteY0" fmla="*/ 0 h 257442"/>
                <a:gd name="connsiteX1" fmla="*/ 1175003 w 1542310"/>
                <a:gd name="connsiteY1" fmla="*/ 257442 h 257442"/>
                <a:gd name="connsiteX2" fmla="*/ 0 w 1542310"/>
                <a:gd name="connsiteY2" fmla="*/ 257442 h 257442"/>
                <a:gd name="connsiteX3" fmla="*/ 1 w 1542310"/>
                <a:gd name="connsiteY3" fmla="*/ 0 h 257442"/>
                <a:gd name="connsiteX0" fmla="*/ 1542310 w 1542310"/>
                <a:gd name="connsiteY0" fmla="*/ 0 h 257442"/>
                <a:gd name="connsiteX1" fmla="*/ 1487588 w 1542310"/>
                <a:gd name="connsiteY1" fmla="*/ 257442 h 257442"/>
                <a:gd name="connsiteX2" fmla="*/ 0 w 1542310"/>
                <a:gd name="connsiteY2" fmla="*/ 257442 h 257442"/>
                <a:gd name="connsiteX3" fmla="*/ 1 w 1542310"/>
                <a:gd name="connsiteY3" fmla="*/ 0 h 257442"/>
                <a:gd name="connsiteX0" fmla="*/ 1542310 w 1542310"/>
                <a:gd name="connsiteY0" fmla="*/ 0 h 257442"/>
                <a:gd name="connsiteX1" fmla="*/ 1487588 w 1542310"/>
                <a:gd name="connsiteY1" fmla="*/ 257442 h 257442"/>
                <a:gd name="connsiteX2" fmla="*/ 0 w 1542310"/>
                <a:gd name="connsiteY2" fmla="*/ 257442 h 257442"/>
                <a:gd name="connsiteX3" fmla="*/ 1 w 1542310"/>
                <a:gd name="connsiteY3" fmla="*/ 0 h 257442"/>
                <a:gd name="connsiteX0" fmla="*/ 1542310 w 1542310"/>
                <a:gd name="connsiteY0" fmla="*/ 0 h 257442"/>
                <a:gd name="connsiteX1" fmla="*/ 1487588 w 1542310"/>
                <a:gd name="connsiteY1" fmla="*/ 257442 h 257442"/>
                <a:gd name="connsiteX2" fmla="*/ 0 w 1542310"/>
                <a:gd name="connsiteY2" fmla="*/ 257442 h 257442"/>
                <a:gd name="connsiteX3" fmla="*/ 0 w 1542310"/>
                <a:gd name="connsiteY3" fmla="*/ 0 h 257442"/>
                <a:gd name="connsiteX0" fmla="*/ 1710625 w 1710625"/>
                <a:gd name="connsiteY0" fmla="*/ 0 h 257442"/>
                <a:gd name="connsiteX1" fmla="*/ 1487588 w 1710625"/>
                <a:gd name="connsiteY1" fmla="*/ 257442 h 257442"/>
                <a:gd name="connsiteX2" fmla="*/ 0 w 1710625"/>
                <a:gd name="connsiteY2" fmla="*/ 257442 h 257442"/>
                <a:gd name="connsiteX3" fmla="*/ 0 w 1710625"/>
                <a:gd name="connsiteY3" fmla="*/ 0 h 257442"/>
                <a:gd name="connsiteX0" fmla="*/ 1710625 w 1710625"/>
                <a:gd name="connsiteY0" fmla="*/ 0 h 257442"/>
                <a:gd name="connsiteX1" fmla="*/ 1655904 w 1710625"/>
                <a:gd name="connsiteY1" fmla="*/ 257442 h 257442"/>
                <a:gd name="connsiteX2" fmla="*/ 0 w 1710625"/>
                <a:gd name="connsiteY2" fmla="*/ 257442 h 257442"/>
                <a:gd name="connsiteX3" fmla="*/ 0 w 1710625"/>
                <a:gd name="connsiteY3" fmla="*/ 0 h 257442"/>
                <a:gd name="connsiteX0" fmla="*/ 1710625 w 1710625"/>
                <a:gd name="connsiteY0" fmla="*/ 0 h 257442"/>
                <a:gd name="connsiteX1" fmla="*/ 1655904 w 1710625"/>
                <a:gd name="connsiteY1" fmla="*/ 257442 h 257442"/>
                <a:gd name="connsiteX2" fmla="*/ 0 w 1710625"/>
                <a:gd name="connsiteY2" fmla="*/ 257442 h 257442"/>
                <a:gd name="connsiteX3" fmla="*/ 0 w 1710625"/>
                <a:gd name="connsiteY3" fmla="*/ 0 h 257442"/>
                <a:gd name="connsiteX0" fmla="*/ 1710625 w 1710625"/>
                <a:gd name="connsiteY0" fmla="*/ 0 h 257442"/>
                <a:gd name="connsiteX1" fmla="*/ 1655904 w 1710625"/>
                <a:gd name="connsiteY1" fmla="*/ 257442 h 257442"/>
                <a:gd name="connsiteX2" fmla="*/ 0 w 1710625"/>
                <a:gd name="connsiteY2" fmla="*/ 257442 h 257442"/>
                <a:gd name="connsiteX3" fmla="*/ 0 w 1710625"/>
                <a:gd name="connsiteY3" fmla="*/ 0 h 257442"/>
                <a:gd name="connsiteX0" fmla="*/ 1878939 w 1878939"/>
                <a:gd name="connsiteY0" fmla="*/ 0 h 257442"/>
                <a:gd name="connsiteX1" fmla="*/ 1655904 w 1878939"/>
                <a:gd name="connsiteY1" fmla="*/ 257442 h 257442"/>
                <a:gd name="connsiteX2" fmla="*/ 0 w 1878939"/>
                <a:gd name="connsiteY2" fmla="*/ 257442 h 257442"/>
                <a:gd name="connsiteX3" fmla="*/ 0 w 1878939"/>
                <a:gd name="connsiteY3" fmla="*/ 0 h 257442"/>
                <a:gd name="connsiteX0" fmla="*/ 1878939 w 1878939"/>
                <a:gd name="connsiteY0" fmla="*/ 0 h 257442"/>
                <a:gd name="connsiteX1" fmla="*/ 1824218 w 1878939"/>
                <a:gd name="connsiteY1" fmla="*/ 257442 h 257442"/>
                <a:gd name="connsiteX2" fmla="*/ 0 w 1878939"/>
                <a:gd name="connsiteY2" fmla="*/ 257442 h 257442"/>
                <a:gd name="connsiteX3" fmla="*/ 0 w 1878939"/>
                <a:gd name="connsiteY3" fmla="*/ 0 h 257442"/>
                <a:gd name="connsiteX0" fmla="*/ 1878939 w 1878939"/>
                <a:gd name="connsiteY0" fmla="*/ 0 h 257442"/>
                <a:gd name="connsiteX1" fmla="*/ 1824218 w 1878939"/>
                <a:gd name="connsiteY1" fmla="*/ 257442 h 257442"/>
                <a:gd name="connsiteX2" fmla="*/ 0 w 1878939"/>
                <a:gd name="connsiteY2" fmla="*/ 257442 h 257442"/>
                <a:gd name="connsiteX3" fmla="*/ 0 w 1878939"/>
                <a:gd name="connsiteY3" fmla="*/ 0 h 257442"/>
                <a:gd name="connsiteX0" fmla="*/ 1878939 w 1878939"/>
                <a:gd name="connsiteY0" fmla="*/ 0 h 257442"/>
                <a:gd name="connsiteX1" fmla="*/ 1824218 w 1878939"/>
                <a:gd name="connsiteY1" fmla="*/ 257442 h 257442"/>
                <a:gd name="connsiteX2" fmla="*/ 0 w 1878939"/>
                <a:gd name="connsiteY2" fmla="*/ 257442 h 257442"/>
                <a:gd name="connsiteX3" fmla="*/ 0 w 1878939"/>
                <a:gd name="connsiteY3" fmla="*/ 0 h 257442"/>
                <a:gd name="connsiteX0" fmla="*/ 2148244 w 2148244"/>
                <a:gd name="connsiteY0" fmla="*/ 0 h 257442"/>
                <a:gd name="connsiteX1" fmla="*/ 1824218 w 2148244"/>
                <a:gd name="connsiteY1" fmla="*/ 257442 h 257442"/>
                <a:gd name="connsiteX2" fmla="*/ 0 w 2148244"/>
                <a:gd name="connsiteY2" fmla="*/ 257442 h 257442"/>
                <a:gd name="connsiteX3" fmla="*/ 0 w 2148244"/>
                <a:gd name="connsiteY3" fmla="*/ 0 h 257442"/>
                <a:gd name="connsiteX0" fmla="*/ 2148244 w 2148244"/>
                <a:gd name="connsiteY0" fmla="*/ 0 h 257442"/>
                <a:gd name="connsiteX1" fmla="*/ 2093522 w 2148244"/>
                <a:gd name="connsiteY1" fmla="*/ 257442 h 257442"/>
                <a:gd name="connsiteX2" fmla="*/ 0 w 2148244"/>
                <a:gd name="connsiteY2" fmla="*/ 257442 h 257442"/>
                <a:gd name="connsiteX3" fmla="*/ 0 w 2148244"/>
                <a:gd name="connsiteY3" fmla="*/ 0 h 257442"/>
                <a:gd name="connsiteX0" fmla="*/ 2148245 w 2148245"/>
                <a:gd name="connsiteY0" fmla="*/ 0 h 257442"/>
                <a:gd name="connsiteX1" fmla="*/ 2093523 w 2148245"/>
                <a:gd name="connsiteY1" fmla="*/ 257442 h 257442"/>
                <a:gd name="connsiteX2" fmla="*/ 0 w 2148245"/>
                <a:gd name="connsiteY2" fmla="*/ 257442 h 257442"/>
                <a:gd name="connsiteX3" fmla="*/ 1 w 2148245"/>
                <a:gd name="connsiteY3" fmla="*/ 0 h 257442"/>
                <a:gd name="connsiteX0" fmla="*/ 2148245 w 2148245"/>
                <a:gd name="connsiteY0" fmla="*/ 0 h 257442"/>
                <a:gd name="connsiteX1" fmla="*/ 2093523 w 2148245"/>
                <a:gd name="connsiteY1" fmla="*/ 257442 h 257442"/>
                <a:gd name="connsiteX2" fmla="*/ 0 w 2148245"/>
                <a:gd name="connsiteY2" fmla="*/ 257442 h 257442"/>
                <a:gd name="connsiteX3" fmla="*/ 1 w 2148245"/>
                <a:gd name="connsiteY3" fmla="*/ 0 h 257442"/>
                <a:gd name="connsiteX0" fmla="*/ 2326179 w 2326179"/>
                <a:gd name="connsiteY0" fmla="*/ 0 h 257442"/>
                <a:gd name="connsiteX1" fmla="*/ 2093523 w 2326179"/>
                <a:gd name="connsiteY1" fmla="*/ 257442 h 257442"/>
                <a:gd name="connsiteX2" fmla="*/ 0 w 2326179"/>
                <a:gd name="connsiteY2" fmla="*/ 257442 h 257442"/>
                <a:gd name="connsiteX3" fmla="*/ 1 w 2326179"/>
                <a:gd name="connsiteY3" fmla="*/ 0 h 257442"/>
                <a:gd name="connsiteX0" fmla="*/ 2326179 w 2326179"/>
                <a:gd name="connsiteY0" fmla="*/ 0 h 257442"/>
                <a:gd name="connsiteX1" fmla="*/ 2271458 w 2326179"/>
                <a:gd name="connsiteY1" fmla="*/ 257442 h 257442"/>
                <a:gd name="connsiteX2" fmla="*/ 0 w 2326179"/>
                <a:gd name="connsiteY2" fmla="*/ 257442 h 257442"/>
                <a:gd name="connsiteX3" fmla="*/ 1 w 2326179"/>
                <a:gd name="connsiteY3" fmla="*/ 0 h 257442"/>
                <a:gd name="connsiteX0" fmla="*/ 2326178 w 2326178"/>
                <a:gd name="connsiteY0" fmla="*/ 0 h 257442"/>
                <a:gd name="connsiteX1" fmla="*/ 2271457 w 2326178"/>
                <a:gd name="connsiteY1" fmla="*/ 257442 h 257442"/>
                <a:gd name="connsiteX2" fmla="*/ 0 w 2326178"/>
                <a:gd name="connsiteY2" fmla="*/ 257442 h 257442"/>
                <a:gd name="connsiteX3" fmla="*/ 0 w 2326178"/>
                <a:gd name="connsiteY3" fmla="*/ 0 h 257442"/>
                <a:gd name="connsiteX0" fmla="*/ 2326179 w 2326179"/>
                <a:gd name="connsiteY0" fmla="*/ 0 h 257442"/>
                <a:gd name="connsiteX1" fmla="*/ 2271458 w 2326179"/>
                <a:gd name="connsiteY1" fmla="*/ 257442 h 257442"/>
                <a:gd name="connsiteX2" fmla="*/ 1 w 2326179"/>
                <a:gd name="connsiteY2" fmla="*/ 257442 h 257442"/>
                <a:gd name="connsiteX3" fmla="*/ 0 w 2326179"/>
                <a:gd name="connsiteY3" fmla="*/ 0 h 2574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26179" h="257442">
                  <a:moveTo>
                    <a:pt x="2326179" y="0"/>
                  </a:moveTo>
                  <a:lnTo>
                    <a:pt x="2271458" y="257442"/>
                  </a:lnTo>
                  <a:lnTo>
                    <a:pt x="1" y="2574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C5C5C"/>
            </a:solidFill>
            <a:ln w="9525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21" name="btfpRunningAgenda1LevelTextLeft331797">
              <a:extLst>
                <a:ext uri="{FF2B5EF4-FFF2-40B4-BE49-F238E27FC236}">
                  <a16:creationId xmlns:a16="http://schemas.microsoft.com/office/drawing/2014/main" id="{88EA3657-B139-B495-7219-882A24B68369}"/>
                </a:ext>
              </a:extLst>
            </p:cNvPr>
            <p:cNvSpPr txBox="1"/>
            <p:nvPr/>
          </p:nvSpPr>
          <p:spPr bwMode="gray">
            <a:xfrm>
              <a:off x="0" y="876300"/>
              <a:ext cx="2372445" cy="257442"/>
            </a:xfrm>
            <a:prstGeom prst="rect">
              <a:avLst/>
            </a:prstGeom>
            <a:noFill/>
          </p:spPr>
          <p:txBody>
            <a:bodyPr vert="horz" wrap="none" lIns="360363" tIns="36036" rIns="360363" bIns="36036" rtlCol="0" anchor="t">
              <a:spAutoFit/>
            </a:bodyPr>
            <a:lstStyle/>
            <a:p>
              <a:pPr marL="0" indent="0">
                <a:spcBef>
                  <a:spcPts val="0"/>
                </a:spcBef>
                <a:buNone/>
              </a:pPr>
              <a:r>
                <a:rPr lang="en-US" sz="1200" b="1" cap="all" spc="450" dirty="0">
                  <a:solidFill>
                    <a:srgbClr val="FFFFFF"/>
                  </a:solidFill>
                </a:rPr>
                <a:t>BIOTECH CO.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36988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ABB89-1F2D-14ED-C408-E01FA3CAD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hink-cell data - do not delete" hidden="1">
            <a:extLst>
              <a:ext uri="{FF2B5EF4-FFF2-40B4-BE49-F238E27FC236}">
                <a16:creationId xmlns:a16="http://schemas.microsoft.com/office/drawing/2014/main" id="{B216A7E7-7468-8345-2C63-E523F1A50BC1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60468892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2" imgW="606" imgH="608" progId="TCLayout.ActiveDocument.1">
                  <p:embed/>
                </p:oleObj>
              </mc:Choice>
              <mc:Fallback>
                <p:oleObj name="think-cell Slide" r:id="rId12" imgW="606" imgH="608" progId="TCLayout.ActiveDocument.1">
                  <p:embed/>
                  <p:pic>
                    <p:nvPicPr>
                      <p:cNvPr id="1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216A7E7-7468-8345-2C63-E523F1A50BC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btfpNotesBox878883">
            <a:extLst>
              <a:ext uri="{FF2B5EF4-FFF2-40B4-BE49-F238E27FC236}">
                <a16:creationId xmlns:a16="http://schemas.microsoft.com/office/drawing/2014/main" id="{49DDCC8B-1711-EAC9-3D43-7464830CCC9F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gray">
          <a:xfrm>
            <a:off x="338589" y="6680613"/>
            <a:ext cx="9882488" cy="123111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b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800">
                <a:solidFill>
                  <a:srgbClr val="000000"/>
                </a:solidFill>
              </a:rPr>
              <a:t>Source: Market participant interviews, Bain analysis  </a:t>
            </a:r>
          </a:p>
        </p:txBody>
      </p:sp>
      <p:grpSp>
        <p:nvGrpSpPr>
          <p:cNvPr id="12" name="btfpColumnIndicatorGroup2">
            <a:extLst>
              <a:ext uri="{FF2B5EF4-FFF2-40B4-BE49-F238E27FC236}">
                <a16:creationId xmlns:a16="http://schemas.microsoft.com/office/drawing/2014/main" id="{0E271134-765F-5547-1DC4-40D433F6D816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10" name="btfpColumnGapBlocker441445">
              <a:extLst>
                <a:ext uri="{FF2B5EF4-FFF2-40B4-BE49-F238E27FC236}">
                  <a16:creationId xmlns:a16="http://schemas.microsoft.com/office/drawing/2014/main" id="{BEEF1DA2-E176-9BDD-C909-F58525D1705B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8" name="btfpColumnGapBlocker378221">
              <a:extLst>
                <a:ext uri="{FF2B5EF4-FFF2-40B4-BE49-F238E27FC236}">
                  <a16:creationId xmlns:a16="http://schemas.microsoft.com/office/drawing/2014/main" id="{D5CF9093-4260-7A12-4AE3-36B1A22D9BEB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6" name="btfpColumnIndicator210049">
              <a:extLst>
                <a:ext uri="{FF2B5EF4-FFF2-40B4-BE49-F238E27FC236}">
                  <a16:creationId xmlns:a16="http://schemas.microsoft.com/office/drawing/2014/main" id="{FD35421A-0C26-2F38-6929-0444AE3C6964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btfpColumnIndicator153338">
              <a:extLst>
                <a:ext uri="{FF2B5EF4-FFF2-40B4-BE49-F238E27FC236}">
                  <a16:creationId xmlns:a16="http://schemas.microsoft.com/office/drawing/2014/main" id="{13026566-63B1-8462-CA46-6B67089E2D0F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btfpColumnIndicatorGroup1">
            <a:extLst>
              <a:ext uri="{FF2B5EF4-FFF2-40B4-BE49-F238E27FC236}">
                <a16:creationId xmlns:a16="http://schemas.microsoft.com/office/drawing/2014/main" id="{1F1AFF9A-1ED4-B731-D8A6-3AC711CF0C7F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9" name="btfpColumnGapBlocker654062">
              <a:extLst>
                <a:ext uri="{FF2B5EF4-FFF2-40B4-BE49-F238E27FC236}">
                  <a16:creationId xmlns:a16="http://schemas.microsoft.com/office/drawing/2014/main" id="{A81AB5AD-5D7A-A3B3-B36D-38D4B4CD0CC4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7" name="btfpColumnGapBlocker238373">
              <a:extLst>
                <a:ext uri="{FF2B5EF4-FFF2-40B4-BE49-F238E27FC236}">
                  <a16:creationId xmlns:a16="http://schemas.microsoft.com/office/drawing/2014/main" id="{581A34B4-9BFE-B851-4EC5-517624FFF9A7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5" name="btfpColumnIndicator640928">
              <a:extLst>
                <a:ext uri="{FF2B5EF4-FFF2-40B4-BE49-F238E27FC236}">
                  <a16:creationId xmlns:a16="http://schemas.microsoft.com/office/drawing/2014/main" id="{8F5E3B1A-EA62-6CE7-EC56-50C56ABF15F6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btfpColumnIndicator931819">
              <a:extLst>
                <a:ext uri="{FF2B5EF4-FFF2-40B4-BE49-F238E27FC236}">
                  <a16:creationId xmlns:a16="http://schemas.microsoft.com/office/drawing/2014/main" id="{AF126F8D-AB28-D4BD-7B40-FE15B3D8AD8B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6D4906A-B562-549F-2D48-29A513B25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b="1" dirty="0"/>
              <a:t>Buying Behavior – Ipsen (2/2): </a:t>
            </a:r>
            <a:r>
              <a:rPr lang="en-US" dirty="0"/>
              <a:t>Moderate-to-high willingness for new vendors in commercial (S&amp;M) and patient engagement</a:t>
            </a:r>
          </a:p>
        </p:txBody>
      </p:sp>
      <p:graphicFrame>
        <p:nvGraphicFramePr>
          <p:cNvPr id="16" name="btfpTable963805">
            <a:extLst>
              <a:ext uri="{FF2B5EF4-FFF2-40B4-BE49-F238E27FC236}">
                <a16:creationId xmlns:a16="http://schemas.microsoft.com/office/drawing/2014/main" id="{B531099F-4776-C45F-9839-F0283C9C62CE}"/>
              </a:ext>
            </a:extLst>
          </p:cNvPr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784829556"/>
              </p:ext>
            </p:extLst>
          </p:nvPr>
        </p:nvGraphicFramePr>
        <p:xfrm>
          <a:off x="325439" y="1577047"/>
          <a:ext cx="11522076" cy="4949112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011556">
                  <a:extLst>
                    <a:ext uri="{9D8B030D-6E8A-4147-A177-3AD203B41FA5}">
                      <a16:colId xmlns:a16="http://schemas.microsoft.com/office/drawing/2014/main" val="1575412931"/>
                    </a:ext>
                  </a:extLst>
                </a:gridCol>
                <a:gridCol w="2627630">
                  <a:extLst>
                    <a:ext uri="{9D8B030D-6E8A-4147-A177-3AD203B41FA5}">
                      <a16:colId xmlns:a16="http://schemas.microsoft.com/office/drawing/2014/main" val="768394406"/>
                    </a:ext>
                  </a:extLst>
                </a:gridCol>
                <a:gridCol w="2627630">
                  <a:extLst>
                    <a:ext uri="{9D8B030D-6E8A-4147-A177-3AD203B41FA5}">
                      <a16:colId xmlns:a16="http://schemas.microsoft.com/office/drawing/2014/main" val="375284160"/>
                    </a:ext>
                  </a:extLst>
                </a:gridCol>
                <a:gridCol w="2627630">
                  <a:extLst>
                    <a:ext uri="{9D8B030D-6E8A-4147-A177-3AD203B41FA5}">
                      <a16:colId xmlns:a16="http://schemas.microsoft.com/office/drawing/2014/main" val="589904468"/>
                    </a:ext>
                  </a:extLst>
                </a:gridCol>
                <a:gridCol w="2627630">
                  <a:extLst>
                    <a:ext uri="{9D8B030D-6E8A-4147-A177-3AD203B41FA5}">
                      <a16:colId xmlns:a16="http://schemas.microsoft.com/office/drawing/2014/main" val="751068752"/>
                    </a:ext>
                  </a:extLst>
                </a:gridCol>
              </a:tblGrid>
              <a:tr h="2038240">
                <a:tc>
                  <a:txBody>
                    <a:bodyPr/>
                    <a:lstStyle/>
                    <a:p>
                      <a:pPr marL="0" marR="0" lvl="0" indent="0" algn="ctr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</a:rPr>
                        <a:t>KPCs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900" b="1" dirty="0"/>
                        <a:t>Expertise in relevant TA: </a:t>
                      </a:r>
                      <a:r>
                        <a:rPr lang="en-US" sz="900" b="0" dirty="0"/>
                        <a:t>Deep knowledge of focus TAs to enable content heavy activities (e.g., publications), KOL network (differentiator given vendors usually work on ops support only)</a:t>
                      </a:r>
                      <a:endParaRPr lang="en-US" sz="900" b="1" dirty="0"/>
                    </a:p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900" b="1" dirty="0"/>
                        <a:t>Strong track record:</a:t>
                      </a:r>
                      <a:r>
                        <a:rPr lang="en-US" sz="900" dirty="0"/>
                        <a:t> Proven experience supporting MA in regulated biotech environments with credible peer references &amp; familiarity with internal/ external MLR review</a:t>
                      </a:r>
                    </a:p>
                    <a:p>
                      <a:pPr>
                        <a:spcBef>
                          <a:spcPts val="600"/>
                        </a:spcBef>
                      </a:pPr>
                      <a:r>
                        <a:rPr lang="en-US" sz="900" b="1" dirty="0"/>
                        <a:t>Pricing: </a:t>
                      </a:r>
                      <a:r>
                        <a:rPr lang="en-US" sz="900" b="0" dirty="0"/>
                        <a:t>Flexibility for amendments given launches often deviate from initial timelines</a:t>
                      </a:r>
                    </a:p>
                    <a:p>
                      <a:pPr>
                        <a:spcBef>
                          <a:spcPts val="600"/>
                        </a:spcBef>
                      </a:pPr>
                      <a:r>
                        <a:rPr lang="en-US" sz="900" b="1" dirty="0"/>
                        <a:t>Delivery team relationship: </a:t>
                      </a:r>
                      <a:r>
                        <a:rPr lang="en-US" sz="900" b="0" dirty="0"/>
                        <a:t>1:1 relationships with vendor teams and preference for vendors that showcase exact team members (and qualifications) upfront</a:t>
                      </a:r>
                      <a:endParaRPr lang="en-US" sz="900" b="1" dirty="0"/>
                    </a:p>
                  </a:txBody>
                  <a:tcPr marL="45720" marR="4572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900" b="1" dirty="0"/>
                        <a:t>Inspection readiness and SOP maturity: </a:t>
                      </a:r>
                      <a:r>
                        <a:rPr lang="en-US" sz="900" dirty="0"/>
                        <a:t>Proven ability to execute FDA safety submissions and support in regulatory inspections with </a:t>
                      </a:r>
                      <a:r>
                        <a:rPr lang="en-US" sz="900" b="0" dirty="0"/>
                        <a:t>mature SOPs in place</a:t>
                      </a:r>
                      <a:endParaRPr lang="en-US" sz="900" b="1" dirty="0"/>
                    </a:p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900" b="1" dirty="0"/>
                        <a:t>Strong track record: </a:t>
                      </a:r>
                      <a:r>
                        <a:rPr lang="en-US" sz="900" dirty="0"/>
                        <a:t>Established biopharma track record with strong peer validation, minimizing risk of “first-time” vendor experimentation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/>
                        <a:t>ICSR quality &amp; coding accuracy:</a:t>
                      </a:r>
                      <a:r>
                        <a:rPr lang="en-US" sz="900" dirty="0"/>
                        <a:t> Demonstrated consistency in case intake, MedDRA/ WHO Drug coding governance, and duplicate detection with low error rates under audit review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</a:pPr>
                      <a:r>
                        <a:rPr lang="en-US" sz="900" b="1" dirty="0"/>
                        <a:t>Speed: </a:t>
                      </a:r>
                      <a:r>
                        <a:rPr lang="en-US" sz="900" b="0" dirty="0"/>
                        <a:t>Ability to execute quickly on task-heavy processes such as CRM setup, dashboards, and incentive comp plans (ideally within ~10 weeks)</a:t>
                      </a:r>
                    </a:p>
                    <a:p>
                      <a:pPr>
                        <a:spcBef>
                          <a:spcPts val="600"/>
                        </a:spcBef>
                      </a:pPr>
                      <a:r>
                        <a:rPr lang="en-US" sz="900" b="1" dirty="0"/>
                        <a:t>Reporting capabilities: </a:t>
                      </a:r>
                      <a:r>
                        <a:rPr lang="en-US" sz="900" dirty="0"/>
                        <a:t>Clear tracking of NRX, territory performance, provider targeting, patient reach, and launch ramp velocity with executive-ready reporting and analytics</a:t>
                      </a:r>
                      <a:endParaRPr lang="en-US" sz="900" b="1" dirty="0"/>
                    </a:p>
                    <a:p>
                      <a:pPr>
                        <a:spcBef>
                          <a:spcPts val="600"/>
                        </a:spcBef>
                      </a:pPr>
                      <a:r>
                        <a:rPr lang="en-US" sz="900" b="1" dirty="0"/>
                        <a:t>Pricing: </a:t>
                      </a:r>
                      <a:r>
                        <a:rPr lang="en-US" sz="900" b="0" dirty="0"/>
                        <a:t>Billing rates considered to be key metric, esp. for content creation and execution</a:t>
                      </a:r>
                    </a:p>
                    <a:p>
                      <a:pPr>
                        <a:spcBef>
                          <a:spcPts val="600"/>
                        </a:spcBef>
                      </a:pPr>
                      <a:r>
                        <a:rPr lang="en-US" sz="900" b="1" dirty="0"/>
                        <a:t>Strong track record: </a:t>
                      </a:r>
                      <a:r>
                        <a:rPr lang="en-US" sz="900" b="0" dirty="0"/>
                        <a:t>I</a:t>
                      </a:r>
                      <a:r>
                        <a:rPr lang="en-US" sz="900" dirty="0"/>
                        <a:t>n delivering pharma campaigns within regulated environments</a:t>
                      </a:r>
                    </a:p>
                    <a:p>
                      <a:pPr>
                        <a:spcBef>
                          <a:spcPts val="600"/>
                        </a:spcBef>
                      </a:pPr>
                      <a:r>
                        <a:rPr lang="en-US" sz="900" b="1" dirty="0"/>
                        <a:t>Innovation in offerings: </a:t>
                      </a:r>
                      <a:r>
                        <a:rPr lang="en-US" sz="900" b="0" dirty="0"/>
                        <a:t>Leveraging AI/ GenAI to automate content production, driving effective marketing and slashing TATs</a:t>
                      </a:r>
                      <a:endParaRPr lang="en-US" sz="900" b="1" dirty="0"/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</a:pPr>
                      <a:r>
                        <a:rPr lang="en-US" sz="900" b="1" dirty="0"/>
                        <a:t>Pricing: </a:t>
                      </a:r>
                      <a:r>
                        <a:rPr lang="en-US" sz="900" b="0" dirty="0"/>
                        <a:t>Transparent, competitive pricing aligned with program value &amp; scalability – </a:t>
                      </a:r>
                      <a:r>
                        <a:rPr lang="en-US" sz="900" b="0" i="1" dirty="0"/>
                        <a:t>highly relevant for biopharma given typically cash constrained</a:t>
                      </a:r>
                    </a:p>
                    <a:p>
                      <a:pPr>
                        <a:spcBef>
                          <a:spcPts val="600"/>
                        </a:spcBef>
                      </a:pPr>
                      <a:r>
                        <a:rPr lang="en-US" sz="900" b="1" dirty="0"/>
                        <a:t>Expertise in relevant TA: </a:t>
                      </a:r>
                      <a:r>
                        <a:rPr lang="en-US" sz="900" b="0" dirty="0"/>
                        <a:t>Deep knowledge of focus TAs to optimize patient engagement and access workflows</a:t>
                      </a:r>
                      <a:endParaRPr lang="en-US" sz="900" b="1" dirty="0"/>
                    </a:p>
                    <a:p>
                      <a:pPr>
                        <a:spcBef>
                          <a:spcPts val="600"/>
                        </a:spcBef>
                      </a:pPr>
                      <a:r>
                        <a:rPr lang="en-US" sz="900" b="1" dirty="0"/>
                        <a:t>Strong track record: </a:t>
                      </a:r>
                      <a:r>
                        <a:rPr lang="en-US" sz="900" b="0" dirty="0"/>
                        <a:t>Strong experience with demonstrated results in the past – across areas such as therapy acceleration (reducing time from prescription to therapy), co-pay/ financial support programs, &amp; other initiatives</a:t>
                      </a:r>
                    </a:p>
                    <a:p>
                      <a:pPr>
                        <a:spcBef>
                          <a:spcPts val="600"/>
                        </a:spcBef>
                      </a:pPr>
                      <a:r>
                        <a:rPr lang="en-US" sz="900" b="1" dirty="0"/>
                        <a:t>Breadth of offerings: </a:t>
                      </a:r>
                      <a:r>
                        <a:rPr lang="en-US" sz="900" b="0" dirty="0"/>
                        <a:t>Ability to deliver E2E patient services – </a:t>
                      </a:r>
                      <a:r>
                        <a:rPr lang="en-US" sz="900" b="0" i="1" dirty="0"/>
                        <a:t>highly relevant for given cos prefer single vendor vs best of breed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7726863"/>
                  </a:ext>
                </a:extLst>
              </a:tr>
              <a:tr h="884454">
                <a:tc>
                  <a:txBody>
                    <a:bodyPr/>
                    <a:lstStyle/>
                    <a:p>
                      <a:pPr marL="0" marR="0" lvl="0" indent="0" algn="ctr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>
                          <a:solidFill>
                            <a:schemeClr val="bg1"/>
                          </a:solidFill>
                        </a:rPr>
                        <a:t>Openness to new vendors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</a:pPr>
                      <a:r>
                        <a:rPr lang="en-US" sz="900" b="1" dirty="0"/>
                        <a:t>Low-moderate openness to test new vendors in low-risk, production heavy layers </a:t>
                      </a:r>
                      <a:r>
                        <a:rPr lang="en-US" sz="900" b="0" dirty="0"/>
                        <a:t>(e.g., MI intake, publication formatting, MLR workflow coordination) </a:t>
                      </a:r>
                      <a:r>
                        <a:rPr lang="en-US" sz="900" b="1" dirty="0"/>
                        <a:t>given teams are lean and lack scaled infra</a:t>
                      </a:r>
                      <a:r>
                        <a:rPr lang="en-US" sz="900" b="0" dirty="0"/>
                        <a:t>; however, willingness moderated as a) scientific credibility risk is brand defining, and b) there is a high scrutiny bar on TA depth and credentials (PhD/ PharmD)</a:t>
                      </a:r>
                      <a:endParaRPr lang="en-US" sz="900" dirty="0"/>
                    </a:p>
                  </a:txBody>
                  <a:tcPr marL="45720" marR="4572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45000">
                          <a:srgbClr val="FBF2D2"/>
                        </a:gs>
                        <a:gs pos="49000">
                          <a:srgbClr val="FFE5E5"/>
                        </a:gs>
                      </a:gsLst>
                      <a:lin ang="27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/>
                        <a:t>Low openness </a:t>
                      </a:r>
                      <a:r>
                        <a:rPr lang="en-US" sz="900" b="0"/>
                        <a:t>as errors are company-threatening (esp. for firms with single/ limited assets)</a:t>
                      </a:r>
                      <a:r>
                        <a:rPr lang="en-US" sz="900"/>
                        <a:t> given </a:t>
                      </a:r>
                      <a:r>
                        <a:rPr lang="en-US" sz="900" b="1"/>
                        <a:t>a) high regulatory and FDA reporting sensitivity</a:t>
                      </a:r>
                      <a:r>
                        <a:rPr lang="en-US" sz="900"/>
                        <a:t> where </a:t>
                      </a:r>
                      <a:r>
                        <a:rPr lang="en-US" sz="900" b="1"/>
                        <a:t>inspection-readiness is the gating factor</a:t>
                      </a:r>
                      <a:r>
                        <a:rPr lang="en-US" sz="900"/>
                        <a:t>, thus favoring mature PV firms and restricting willingness to experiment, and </a:t>
                      </a:r>
                      <a:r>
                        <a:rPr lang="en-US" sz="900" b="1"/>
                        <a:t>b) stable incumbent performance</a:t>
                      </a:r>
                      <a:r>
                        <a:rPr lang="en-US" sz="900"/>
                        <a:t> with minimal dissatisfaction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E5"/>
                    </a:solidFill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900" b="1" dirty="0"/>
                        <a:t>High willingness</a:t>
                      </a:r>
                      <a:r>
                        <a:rPr lang="en-US" sz="900" dirty="0"/>
                        <a:t> given a) lower regulatory sensitivity vs MA and PV, b) emphasis on speed and pricing efficiency, and c) lean inhouse teams with urgent scaling needs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1D5"/>
                    </a:solidFill>
                  </a:tcPr>
                </a:tc>
                <a:tc>
                  <a:txBody>
                    <a:bodyPr/>
                    <a:lstStyle/>
                    <a:p>
                      <a:pPr marL="177800" indent="-177800" algn="l">
                        <a:spcBef>
                          <a:spcPts val="600"/>
                        </a:spcBef>
                      </a:pPr>
                      <a:r>
                        <a:rPr lang="en-US" sz="900" b="1" dirty="0"/>
                        <a:t>High-moderate openness</a:t>
                      </a:r>
                      <a:r>
                        <a:rPr lang="en-US" sz="900" dirty="0"/>
                        <a:t>, given a) operationally structured and rules based, and b) lower scientific ownership sensitivity, offset by strong reliance on peer-referenced/ credible and experienced vendors given compliance-sensitive patient-facing function</a:t>
                      </a:r>
                      <a:endParaRPr lang="en-US" sz="9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46000">
                          <a:srgbClr val="DBE1D5"/>
                        </a:gs>
                        <a:gs pos="54000">
                          <a:srgbClr val="FAF1D1"/>
                        </a:gs>
                      </a:gsLst>
                      <a:lin ang="27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89695431"/>
                  </a:ext>
                </a:extLst>
              </a:tr>
              <a:tr h="1169592">
                <a:tc>
                  <a:txBody>
                    <a:bodyPr/>
                    <a:lstStyle/>
                    <a:p>
                      <a:pPr marL="0" marR="0" lvl="0" indent="0" algn="ctr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Illustrative vendor set</a:t>
                      </a:r>
                      <a:endParaRPr lang="en-US" sz="1000" b="0" i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</a:pPr>
                      <a:endParaRPr lang="en-US" sz="900"/>
                    </a:p>
                  </a:txBody>
                  <a:tcPr marL="45720" marR="4572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0" indent="-177800" algn="l">
                        <a:spcBef>
                          <a:spcPts val="600"/>
                        </a:spcBef>
                      </a:pPr>
                      <a:endParaRPr lang="en-US" sz="900" b="0" i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0" indent="-177800" algn="l">
                        <a:spcBef>
                          <a:spcPts val="600"/>
                        </a:spcBef>
                      </a:pPr>
                      <a:endParaRPr lang="en-US" sz="9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3908801"/>
                  </a:ext>
                </a:extLst>
              </a:tr>
            </a:tbl>
          </a:graphicData>
        </a:graphic>
      </p:graphicFrame>
      <p:sp>
        <p:nvSpPr>
          <p:cNvPr id="17" name="btfpValueChainElement5017551">
            <a:extLst>
              <a:ext uri="{FF2B5EF4-FFF2-40B4-BE49-F238E27FC236}">
                <a16:creationId xmlns:a16="http://schemas.microsoft.com/office/drawing/2014/main" id="{BFE6A813-1776-4302-3824-ABB45542D7C8}"/>
              </a:ext>
            </a:extLst>
          </p:cNvPr>
          <p:cNvSpPr/>
          <p:nvPr>
            <p:custDataLst>
              <p:tags r:id="rId5"/>
            </p:custDataLst>
          </p:nvPr>
        </p:nvSpPr>
        <p:spPr bwMode="gray">
          <a:xfrm>
            <a:off x="1377951" y="1262132"/>
            <a:ext cx="2625282" cy="301372"/>
          </a:xfrm>
          <a:prstGeom prst="homePlate">
            <a:avLst>
              <a:gd name="adj" fmla="val 24348"/>
            </a:avLst>
          </a:prstGeom>
          <a:solidFill>
            <a:srgbClr val="333333"/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" tIns="18288" rIns="18288" bIns="1828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ct val="0"/>
              </a:spcBef>
              <a:buNone/>
            </a:pPr>
            <a:r>
              <a:rPr lang="en-US" sz="1200" b="1">
                <a:solidFill>
                  <a:srgbClr val="FFFFFF"/>
                </a:solidFill>
                <a:latin typeface="+mj-lt"/>
              </a:rPr>
              <a:t>Medical Affairs</a:t>
            </a:r>
          </a:p>
        </p:txBody>
      </p:sp>
      <p:sp>
        <p:nvSpPr>
          <p:cNvPr id="18" name="btfpValueChainElement5017553">
            <a:extLst>
              <a:ext uri="{FF2B5EF4-FFF2-40B4-BE49-F238E27FC236}">
                <a16:creationId xmlns:a16="http://schemas.microsoft.com/office/drawing/2014/main" id="{7903E682-C0E1-DAE9-2F13-90D06D0DFC6E}"/>
              </a:ext>
            </a:extLst>
          </p:cNvPr>
          <p:cNvSpPr/>
          <p:nvPr>
            <p:custDataLst>
              <p:tags r:id="rId6"/>
            </p:custDataLst>
          </p:nvPr>
        </p:nvSpPr>
        <p:spPr bwMode="gray">
          <a:xfrm>
            <a:off x="3982847" y="1262132"/>
            <a:ext cx="2625282" cy="301372"/>
          </a:xfrm>
          <a:prstGeom prst="chevron">
            <a:avLst>
              <a:gd name="adj" fmla="val 24348"/>
            </a:avLst>
          </a:prstGeom>
          <a:solidFill>
            <a:srgbClr val="333333"/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" tIns="18288" rIns="18288" bIns="1828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ct val="0"/>
              </a:spcBef>
              <a:buNone/>
            </a:pPr>
            <a:r>
              <a:rPr lang="en-US" sz="1200" b="1">
                <a:solidFill>
                  <a:srgbClr val="FFFFFF"/>
                </a:solidFill>
                <a:latin typeface="+mj-lt"/>
              </a:rPr>
              <a:t>Pharmacovigilance</a:t>
            </a:r>
          </a:p>
        </p:txBody>
      </p:sp>
      <p:sp>
        <p:nvSpPr>
          <p:cNvPr id="19" name="btfpValueChainElement5017553">
            <a:extLst>
              <a:ext uri="{FF2B5EF4-FFF2-40B4-BE49-F238E27FC236}">
                <a16:creationId xmlns:a16="http://schemas.microsoft.com/office/drawing/2014/main" id="{8DAA1416-09EA-FE6C-ECC5-B60E911CF9C9}"/>
              </a:ext>
            </a:extLst>
          </p:cNvPr>
          <p:cNvSpPr/>
          <p:nvPr>
            <p:custDataLst>
              <p:tags r:id="rId7"/>
            </p:custDataLst>
          </p:nvPr>
        </p:nvSpPr>
        <p:spPr bwMode="gray">
          <a:xfrm>
            <a:off x="6587743" y="1262132"/>
            <a:ext cx="2625282" cy="301372"/>
          </a:xfrm>
          <a:prstGeom prst="chevron">
            <a:avLst>
              <a:gd name="adj" fmla="val 24348"/>
            </a:avLst>
          </a:prstGeom>
          <a:solidFill>
            <a:srgbClr val="333333"/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" tIns="18288" rIns="18288" bIns="1828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ct val="0"/>
              </a:spcBef>
              <a:buNone/>
            </a:pPr>
            <a:r>
              <a:rPr lang="en-US" sz="1200" b="1">
                <a:solidFill>
                  <a:srgbClr val="FFFFFF"/>
                </a:solidFill>
                <a:latin typeface="+mj-lt"/>
              </a:rPr>
              <a:t>Commercial (S&amp;M)</a:t>
            </a:r>
          </a:p>
        </p:txBody>
      </p:sp>
      <p:sp>
        <p:nvSpPr>
          <p:cNvPr id="20" name="btfpValueChainElement5017553">
            <a:extLst>
              <a:ext uri="{FF2B5EF4-FFF2-40B4-BE49-F238E27FC236}">
                <a16:creationId xmlns:a16="http://schemas.microsoft.com/office/drawing/2014/main" id="{4553A86D-9A1B-9F30-141C-DAF05AF85C0E}"/>
              </a:ext>
            </a:extLst>
          </p:cNvPr>
          <p:cNvSpPr/>
          <p:nvPr>
            <p:custDataLst>
              <p:tags r:id="rId8"/>
            </p:custDataLst>
          </p:nvPr>
        </p:nvSpPr>
        <p:spPr bwMode="gray">
          <a:xfrm>
            <a:off x="9192639" y="1262132"/>
            <a:ext cx="2625282" cy="301372"/>
          </a:xfrm>
          <a:prstGeom prst="chevron">
            <a:avLst>
              <a:gd name="adj" fmla="val 24348"/>
            </a:avLst>
          </a:prstGeom>
          <a:solidFill>
            <a:srgbClr val="333333"/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" tIns="18288" rIns="18288" bIns="1828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ct val="0"/>
              </a:spcBef>
              <a:buNone/>
            </a:pPr>
            <a:r>
              <a:rPr lang="en-US" sz="1200" b="1">
                <a:solidFill>
                  <a:srgbClr val="FFFFFF"/>
                </a:solidFill>
                <a:latin typeface="+mj-lt"/>
              </a:rPr>
              <a:t>Patient Engagement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1A24CEB-1F65-E094-9E62-A6C0386F006E}"/>
              </a:ext>
            </a:extLst>
          </p:cNvPr>
          <p:cNvSpPr/>
          <p:nvPr/>
        </p:nvSpPr>
        <p:spPr bwMode="gray">
          <a:xfrm>
            <a:off x="337211" y="1262132"/>
            <a:ext cx="992718" cy="301372"/>
          </a:xfrm>
          <a:prstGeom prst="rect">
            <a:avLst/>
          </a:prstGeom>
          <a:noFill/>
          <a:ln w="19050">
            <a:solidFill>
              <a:schemeClr val="accent3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n-US" sz="1600" err="1">
              <a:solidFill>
                <a:schemeClr val="tx1"/>
              </a:solidFill>
            </a:endParaRPr>
          </a:p>
        </p:txBody>
      </p:sp>
      <p:pic>
        <p:nvPicPr>
          <p:cNvPr id="3074" name="Picture 2" descr="Logos - Global">
            <a:extLst>
              <a:ext uri="{FF2B5EF4-FFF2-40B4-BE49-F238E27FC236}">
                <a16:creationId xmlns:a16="http://schemas.microsoft.com/office/drawing/2014/main" id="{A8D32DB2-B581-B592-B488-8B4DB6BDD3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58" t="33438" r="11877" b="33267"/>
          <a:stretch/>
        </p:blipFill>
        <p:spPr bwMode="auto">
          <a:xfrm>
            <a:off x="487227" y="1257007"/>
            <a:ext cx="683678" cy="303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4" descr="IQVIA - InsideScientific">
            <a:extLst>
              <a:ext uri="{FF2B5EF4-FFF2-40B4-BE49-F238E27FC236}">
                <a16:creationId xmlns:a16="http://schemas.microsoft.com/office/drawing/2014/main" id="{2F46095E-4C5D-F588-3EB4-0A43413DBA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00" t="25063" r="8141" b="27940"/>
          <a:stretch/>
        </p:blipFill>
        <p:spPr bwMode="auto">
          <a:xfrm>
            <a:off x="1471169" y="5370329"/>
            <a:ext cx="669855" cy="232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36D5FDD7-2E02-D373-7D99-7987BDAA273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051133" y="5438104"/>
            <a:ext cx="743752" cy="334689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F782FA70-0E31-82F3-3E15-66DF5E243DB1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782143" y="5518934"/>
            <a:ext cx="773979" cy="196075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C96F9AA1-41E6-EDCE-760A-D0090F72D8F4}"/>
              </a:ext>
            </a:extLst>
          </p:cNvPr>
          <p:cNvSpPr txBox="1"/>
          <p:nvPr/>
        </p:nvSpPr>
        <p:spPr bwMode="gray">
          <a:xfrm>
            <a:off x="3978155" y="5843147"/>
            <a:ext cx="91090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800" i="1"/>
              <a:t>Pharma-</a:t>
            </a:r>
            <a:r>
              <a:rPr lang="en-US" sz="800" i="1" err="1"/>
              <a:t>covigilance</a:t>
            </a:r>
            <a:r>
              <a:rPr lang="en-US" sz="800" i="1"/>
              <a:t> ops &amp; AE workflow support</a:t>
            </a:r>
          </a:p>
        </p:txBody>
      </p:sp>
      <p:sp>
        <p:nvSpPr>
          <p:cNvPr id="2056" name="TextBox 2055">
            <a:extLst>
              <a:ext uri="{FF2B5EF4-FFF2-40B4-BE49-F238E27FC236}">
                <a16:creationId xmlns:a16="http://schemas.microsoft.com/office/drawing/2014/main" id="{D271F233-33EA-EEB4-2194-EF60D7355846}"/>
              </a:ext>
            </a:extLst>
          </p:cNvPr>
          <p:cNvSpPr txBox="1"/>
          <p:nvPr/>
        </p:nvSpPr>
        <p:spPr bwMode="gray">
          <a:xfrm>
            <a:off x="4859589" y="5943920"/>
            <a:ext cx="89868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800" i="1"/>
              <a:t>Intake infra &amp; call mgmt. support</a:t>
            </a:r>
          </a:p>
        </p:txBody>
      </p:sp>
      <p:sp>
        <p:nvSpPr>
          <p:cNvPr id="2059" name="TextBox 2058">
            <a:extLst>
              <a:ext uri="{FF2B5EF4-FFF2-40B4-BE49-F238E27FC236}">
                <a16:creationId xmlns:a16="http://schemas.microsoft.com/office/drawing/2014/main" id="{9EE3B7E9-3385-68F5-2E7E-AF24A26FBE7A}"/>
              </a:ext>
            </a:extLst>
          </p:cNvPr>
          <p:cNvSpPr txBox="1"/>
          <p:nvPr/>
        </p:nvSpPr>
        <p:spPr bwMode="gray">
          <a:xfrm>
            <a:off x="5729087" y="5943804"/>
            <a:ext cx="8539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800" i="1"/>
              <a:t>Legal and compliance review support</a:t>
            </a:r>
          </a:p>
        </p:txBody>
      </p:sp>
      <p:pic>
        <p:nvPicPr>
          <p:cNvPr id="2060" name="Picture 2059">
            <a:extLst>
              <a:ext uri="{FF2B5EF4-FFF2-40B4-BE49-F238E27FC236}">
                <a16:creationId xmlns:a16="http://schemas.microsoft.com/office/drawing/2014/main" id="{9922DE44-EF58-1D56-41FB-ACE73EC31E2A}"/>
              </a:ext>
            </a:extLst>
          </p:cNvPr>
          <p:cNvPicPr>
            <a:picLocks noChangeAspect="1"/>
          </p:cNvPicPr>
          <p:nvPr/>
        </p:nvPicPr>
        <p:blipFill>
          <a:blip r:embed="rId1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900" t="30307" r="6822" b="28626"/>
          <a:stretch/>
        </p:blipFill>
        <p:spPr>
          <a:xfrm>
            <a:off x="2384917" y="5392079"/>
            <a:ext cx="904153" cy="228595"/>
          </a:xfrm>
          <a:prstGeom prst="rect">
            <a:avLst/>
          </a:prstGeom>
        </p:spPr>
      </p:pic>
      <p:pic>
        <p:nvPicPr>
          <p:cNvPr id="2066" name="Picture 2065">
            <a:extLst>
              <a:ext uri="{FF2B5EF4-FFF2-40B4-BE49-F238E27FC236}">
                <a16:creationId xmlns:a16="http://schemas.microsoft.com/office/drawing/2014/main" id="{30E65EB6-FB5E-A324-0CF5-0BA796A02E2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333453" y="5366746"/>
            <a:ext cx="507993" cy="228597"/>
          </a:xfrm>
          <a:prstGeom prst="rect">
            <a:avLst/>
          </a:prstGeom>
        </p:spPr>
      </p:pic>
      <p:pic>
        <p:nvPicPr>
          <p:cNvPr id="2069" name="Picture 2068">
            <a:extLst>
              <a:ext uri="{FF2B5EF4-FFF2-40B4-BE49-F238E27FC236}">
                <a16:creationId xmlns:a16="http://schemas.microsoft.com/office/drawing/2014/main" id="{046758AD-7FFD-24BD-319A-884A35C80492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346714" y="5895987"/>
            <a:ext cx="562636" cy="155604"/>
          </a:xfrm>
          <a:prstGeom prst="rect">
            <a:avLst/>
          </a:prstGeom>
        </p:spPr>
      </p:pic>
      <p:pic>
        <p:nvPicPr>
          <p:cNvPr id="2072" name="Picture 2071">
            <a:extLst>
              <a:ext uri="{FF2B5EF4-FFF2-40B4-BE49-F238E27FC236}">
                <a16:creationId xmlns:a16="http://schemas.microsoft.com/office/drawing/2014/main" id="{BD1AA422-3A9D-A88F-F280-5763C810FA78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644428" y="5883668"/>
            <a:ext cx="292527" cy="231682"/>
          </a:xfrm>
          <a:prstGeom prst="rect">
            <a:avLst/>
          </a:prstGeom>
        </p:spPr>
      </p:pic>
      <p:sp>
        <p:nvSpPr>
          <p:cNvPr id="2078" name="TextBox 2077">
            <a:extLst>
              <a:ext uri="{FF2B5EF4-FFF2-40B4-BE49-F238E27FC236}">
                <a16:creationId xmlns:a16="http://schemas.microsoft.com/office/drawing/2014/main" id="{3D7272D3-A77E-F599-6223-6B1F06BF353D}"/>
              </a:ext>
            </a:extLst>
          </p:cNvPr>
          <p:cNvSpPr txBox="1"/>
          <p:nvPr/>
        </p:nvSpPr>
        <p:spPr bwMode="gray">
          <a:xfrm>
            <a:off x="1338991" y="5534605"/>
            <a:ext cx="9980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800" i="1"/>
              <a:t>MI ops &amp; medical analytics support</a:t>
            </a:r>
          </a:p>
        </p:txBody>
      </p:sp>
      <p:sp>
        <p:nvSpPr>
          <p:cNvPr id="2086" name="TextBox 2085">
            <a:extLst>
              <a:ext uri="{FF2B5EF4-FFF2-40B4-BE49-F238E27FC236}">
                <a16:creationId xmlns:a16="http://schemas.microsoft.com/office/drawing/2014/main" id="{6DAE7553-9E15-BB8C-AFD2-9175C391E049}"/>
              </a:ext>
            </a:extLst>
          </p:cNvPr>
          <p:cNvSpPr txBox="1"/>
          <p:nvPr/>
        </p:nvSpPr>
        <p:spPr bwMode="gray">
          <a:xfrm>
            <a:off x="2244362" y="5570581"/>
            <a:ext cx="16615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800" i="1"/>
              <a:t>Advisory board logistics &amp; exec. support</a:t>
            </a:r>
          </a:p>
        </p:txBody>
      </p:sp>
      <p:sp>
        <p:nvSpPr>
          <p:cNvPr id="2104" name="TextBox 2103">
            <a:extLst>
              <a:ext uri="{FF2B5EF4-FFF2-40B4-BE49-F238E27FC236}">
                <a16:creationId xmlns:a16="http://schemas.microsoft.com/office/drawing/2014/main" id="{B53620DD-BC23-B17F-EB9D-F2079DBD1D57}"/>
              </a:ext>
            </a:extLst>
          </p:cNvPr>
          <p:cNvSpPr txBox="1"/>
          <p:nvPr/>
        </p:nvSpPr>
        <p:spPr bwMode="gray">
          <a:xfrm>
            <a:off x="1287239" y="6076882"/>
            <a:ext cx="8248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800" i="1" dirty="0"/>
              <a:t>KOL mapping &amp; MSL analytics</a:t>
            </a:r>
          </a:p>
        </p:txBody>
      </p:sp>
      <p:pic>
        <p:nvPicPr>
          <p:cNvPr id="3097" name="Picture 6" descr="Telus - Discover Nelson">
            <a:extLst>
              <a:ext uri="{FF2B5EF4-FFF2-40B4-BE49-F238E27FC236}">
                <a16:creationId xmlns:a16="http://schemas.microsoft.com/office/drawing/2014/main" id="{4B9B2B85-6039-ED4F-D789-77B9218670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 cstate="print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5002" y="5420844"/>
            <a:ext cx="552248" cy="441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6" name="Picture 4" descr="IQVIA - InsideScientific">
            <a:extLst>
              <a:ext uri="{FF2B5EF4-FFF2-40B4-BE49-F238E27FC236}">
                <a16:creationId xmlns:a16="http://schemas.microsoft.com/office/drawing/2014/main" id="{5B2E8975-3B43-0DC9-B7FE-BF1334B612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00" t="25063" r="8141" b="27940"/>
          <a:stretch/>
        </p:blipFill>
        <p:spPr bwMode="auto">
          <a:xfrm>
            <a:off x="6742895" y="5403036"/>
            <a:ext cx="736841" cy="255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7" name="Picture 3106">
            <a:extLst>
              <a:ext uri="{FF2B5EF4-FFF2-40B4-BE49-F238E27FC236}">
                <a16:creationId xmlns:a16="http://schemas.microsoft.com/office/drawing/2014/main" id="{CBB31F60-F26C-F658-7F19-0547B8B2CEDE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535543" y="5431874"/>
            <a:ext cx="680790" cy="188280"/>
          </a:xfrm>
          <a:prstGeom prst="rect">
            <a:avLst/>
          </a:prstGeom>
        </p:spPr>
      </p:pic>
      <p:pic>
        <p:nvPicPr>
          <p:cNvPr id="3108" name="Picture 3107">
            <a:extLst>
              <a:ext uri="{FF2B5EF4-FFF2-40B4-BE49-F238E27FC236}">
                <a16:creationId xmlns:a16="http://schemas.microsoft.com/office/drawing/2014/main" id="{18E60362-942B-2242-1339-646E101339BC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606469" y="5392210"/>
            <a:ext cx="321780" cy="254850"/>
          </a:xfrm>
          <a:prstGeom prst="rect">
            <a:avLst/>
          </a:prstGeom>
        </p:spPr>
      </p:pic>
      <p:pic>
        <p:nvPicPr>
          <p:cNvPr id="3114" name="Picture 3113">
            <a:extLst>
              <a:ext uri="{FF2B5EF4-FFF2-40B4-BE49-F238E27FC236}">
                <a16:creationId xmlns:a16="http://schemas.microsoft.com/office/drawing/2014/main" id="{6824F534-10C0-1E17-965A-F2B22AA259CB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520241" y="5903634"/>
            <a:ext cx="528638" cy="133922"/>
          </a:xfrm>
          <a:prstGeom prst="rect">
            <a:avLst/>
          </a:prstGeom>
        </p:spPr>
      </p:pic>
      <p:pic>
        <p:nvPicPr>
          <p:cNvPr id="3115" name="Picture 3114">
            <a:extLst>
              <a:ext uri="{FF2B5EF4-FFF2-40B4-BE49-F238E27FC236}">
                <a16:creationId xmlns:a16="http://schemas.microsoft.com/office/drawing/2014/main" id="{82F58AF1-0995-85D9-AC29-F12A01D3F306}"/>
              </a:ext>
            </a:extLst>
          </p:cNvPr>
          <p:cNvPicPr>
            <a:picLocks noChangeAspect="1"/>
          </p:cNvPicPr>
          <p:nvPr/>
        </p:nvPicPr>
        <p:blipFill>
          <a:blip r:embed="rId1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900" t="30307" r="6822" b="28626"/>
          <a:stretch/>
        </p:blipFill>
        <p:spPr>
          <a:xfrm>
            <a:off x="6632982" y="5968860"/>
            <a:ext cx="617549" cy="156134"/>
          </a:xfrm>
          <a:prstGeom prst="rect">
            <a:avLst/>
          </a:prstGeom>
        </p:spPr>
      </p:pic>
      <p:pic>
        <p:nvPicPr>
          <p:cNvPr id="3119" name="Picture 3118">
            <a:extLst>
              <a:ext uri="{FF2B5EF4-FFF2-40B4-BE49-F238E27FC236}">
                <a16:creationId xmlns:a16="http://schemas.microsoft.com/office/drawing/2014/main" id="{357C1AA1-0079-B27E-9AAE-9AF8F611A5D6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306238" y="5949565"/>
            <a:ext cx="438514" cy="228905"/>
          </a:xfrm>
          <a:prstGeom prst="rect">
            <a:avLst/>
          </a:prstGeom>
        </p:spPr>
      </p:pic>
      <p:pic>
        <p:nvPicPr>
          <p:cNvPr id="3122" name="Picture 3121">
            <a:extLst>
              <a:ext uri="{FF2B5EF4-FFF2-40B4-BE49-F238E27FC236}">
                <a16:creationId xmlns:a16="http://schemas.microsoft.com/office/drawing/2014/main" id="{5E898AD4-A019-51F0-2FF7-51D9B75FB87E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957183" y="5947759"/>
            <a:ext cx="325951" cy="126306"/>
          </a:xfrm>
          <a:prstGeom prst="rect">
            <a:avLst/>
          </a:prstGeom>
        </p:spPr>
      </p:pic>
      <p:pic>
        <p:nvPicPr>
          <p:cNvPr id="3128" name="Picture 3127">
            <a:extLst>
              <a:ext uri="{FF2B5EF4-FFF2-40B4-BE49-F238E27FC236}">
                <a16:creationId xmlns:a16="http://schemas.microsoft.com/office/drawing/2014/main" id="{E66901B1-DC4F-4AF5-F089-C6763D0EBEBF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407965" y="5461539"/>
            <a:ext cx="845435" cy="115586"/>
          </a:xfrm>
          <a:prstGeom prst="rect">
            <a:avLst/>
          </a:prstGeom>
        </p:spPr>
      </p:pic>
      <p:pic>
        <p:nvPicPr>
          <p:cNvPr id="3131" name="Picture 3130">
            <a:extLst>
              <a:ext uri="{FF2B5EF4-FFF2-40B4-BE49-F238E27FC236}">
                <a16:creationId xmlns:a16="http://schemas.microsoft.com/office/drawing/2014/main" id="{828417C6-DC23-0461-27FF-18473CA35D53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882535" y="5407111"/>
            <a:ext cx="900218" cy="245274"/>
          </a:xfrm>
          <a:prstGeom prst="rect">
            <a:avLst/>
          </a:prstGeom>
        </p:spPr>
      </p:pic>
      <p:sp>
        <p:nvSpPr>
          <p:cNvPr id="3143" name="TextBox 3142">
            <a:extLst>
              <a:ext uri="{FF2B5EF4-FFF2-40B4-BE49-F238E27FC236}">
                <a16:creationId xmlns:a16="http://schemas.microsoft.com/office/drawing/2014/main" id="{FED1774E-B8EC-8AB2-C9C4-295005FCC9AD}"/>
              </a:ext>
            </a:extLst>
          </p:cNvPr>
          <p:cNvSpPr txBox="1"/>
          <p:nvPr/>
        </p:nvSpPr>
        <p:spPr bwMode="gray">
          <a:xfrm>
            <a:off x="6740757" y="5589267"/>
            <a:ext cx="15803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800" i="1"/>
              <a:t>Sales analytics and targeting data enablement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7B37E8C-18B9-4212-A8C4-E2D304682C94}"/>
              </a:ext>
            </a:extLst>
          </p:cNvPr>
          <p:cNvSpPr txBox="1"/>
          <p:nvPr/>
        </p:nvSpPr>
        <p:spPr bwMode="gray">
          <a:xfrm>
            <a:off x="8110840" y="5561804"/>
            <a:ext cx="12303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800" i="1"/>
              <a:t>Commercial ops &amp; targeting enablement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95ABE3E-8CD6-D500-DBC7-BAF4A36DE65C}"/>
              </a:ext>
            </a:extLst>
          </p:cNvPr>
          <p:cNvSpPr txBox="1"/>
          <p:nvPr/>
        </p:nvSpPr>
        <p:spPr bwMode="gray">
          <a:xfrm>
            <a:off x="6625939" y="6192986"/>
            <a:ext cx="125128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800" i="1"/>
              <a:t>Promotional materials development</a:t>
            </a:r>
          </a:p>
        </p:txBody>
      </p:sp>
      <p:sp>
        <p:nvSpPr>
          <p:cNvPr id="3151" name="TextBox 3150">
            <a:extLst>
              <a:ext uri="{FF2B5EF4-FFF2-40B4-BE49-F238E27FC236}">
                <a16:creationId xmlns:a16="http://schemas.microsoft.com/office/drawing/2014/main" id="{94E39266-2D38-CAEE-5C36-013EEDA100C8}"/>
              </a:ext>
            </a:extLst>
          </p:cNvPr>
          <p:cNvSpPr txBox="1"/>
          <p:nvPr/>
        </p:nvSpPr>
        <p:spPr bwMode="gray">
          <a:xfrm>
            <a:off x="8399899" y="6030377"/>
            <a:ext cx="8932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800" i="1"/>
              <a:t>MLR legal &amp; compliance review</a:t>
            </a:r>
          </a:p>
        </p:txBody>
      </p:sp>
      <p:sp>
        <p:nvSpPr>
          <p:cNvPr id="3152" name="TextBox 3151">
            <a:extLst>
              <a:ext uri="{FF2B5EF4-FFF2-40B4-BE49-F238E27FC236}">
                <a16:creationId xmlns:a16="http://schemas.microsoft.com/office/drawing/2014/main" id="{B0B81BF7-462F-E43E-4804-DB6AEDEDA87B}"/>
              </a:ext>
            </a:extLst>
          </p:cNvPr>
          <p:cNvSpPr txBox="1"/>
          <p:nvPr/>
        </p:nvSpPr>
        <p:spPr bwMode="gray">
          <a:xfrm>
            <a:off x="9092893" y="5580015"/>
            <a:ext cx="15670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800" i="1"/>
              <a:t>Co-pay infrastructure &amp; eligibility enablement</a:t>
            </a:r>
          </a:p>
        </p:txBody>
      </p:sp>
      <p:sp>
        <p:nvSpPr>
          <p:cNvPr id="3142" name="TextBox 3141">
            <a:extLst>
              <a:ext uri="{FF2B5EF4-FFF2-40B4-BE49-F238E27FC236}">
                <a16:creationId xmlns:a16="http://schemas.microsoft.com/office/drawing/2014/main" id="{F5DBE9E2-D6FB-5FBB-DD56-B756550ADC3B}"/>
              </a:ext>
            </a:extLst>
          </p:cNvPr>
          <p:cNvSpPr txBox="1"/>
          <p:nvPr/>
        </p:nvSpPr>
        <p:spPr bwMode="gray">
          <a:xfrm>
            <a:off x="3231389" y="6083474"/>
            <a:ext cx="8335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800" i="1"/>
              <a:t>Claims-based RWE analytics</a:t>
            </a:r>
          </a:p>
        </p:txBody>
      </p:sp>
      <p:pic>
        <p:nvPicPr>
          <p:cNvPr id="13314" name="Picture 2" descr="Contact us for Exceptional Service &amp; Custom Solutions - ProPharma">
            <a:extLst>
              <a:ext uri="{FF2B5EF4-FFF2-40B4-BE49-F238E27FC236}">
                <a16:creationId xmlns:a16="http://schemas.microsoft.com/office/drawing/2014/main" id="{1A0657AB-A967-4157-CA20-24026C9FCD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2346" y="5947759"/>
            <a:ext cx="704054" cy="118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48" name="TextBox 3147">
            <a:extLst>
              <a:ext uri="{FF2B5EF4-FFF2-40B4-BE49-F238E27FC236}">
                <a16:creationId xmlns:a16="http://schemas.microsoft.com/office/drawing/2014/main" id="{56B1B1DC-C4DB-C013-77A1-02532444CE67}"/>
              </a:ext>
            </a:extLst>
          </p:cNvPr>
          <p:cNvSpPr txBox="1"/>
          <p:nvPr/>
        </p:nvSpPr>
        <p:spPr bwMode="gray">
          <a:xfrm>
            <a:off x="1892952" y="6089517"/>
            <a:ext cx="8796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800" i="1"/>
              <a:t>Contract MSL capacity support</a:t>
            </a:r>
          </a:p>
        </p:txBody>
      </p:sp>
      <p:pic>
        <p:nvPicPr>
          <p:cNvPr id="3162" name="Picture 3161">
            <a:extLst>
              <a:ext uri="{FF2B5EF4-FFF2-40B4-BE49-F238E27FC236}">
                <a16:creationId xmlns:a16="http://schemas.microsoft.com/office/drawing/2014/main" id="{34D58526-10B8-EC60-B212-0DC5673D5F92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47120" y="5950693"/>
            <a:ext cx="436891" cy="110679"/>
          </a:xfrm>
          <a:prstGeom prst="rect">
            <a:avLst/>
          </a:prstGeom>
        </p:spPr>
      </p:pic>
      <p:sp>
        <p:nvSpPr>
          <p:cNvPr id="3164" name="TextBox 3163">
            <a:extLst>
              <a:ext uri="{FF2B5EF4-FFF2-40B4-BE49-F238E27FC236}">
                <a16:creationId xmlns:a16="http://schemas.microsoft.com/office/drawing/2014/main" id="{1603E277-E729-F0C7-D252-483788C1E379}"/>
              </a:ext>
            </a:extLst>
          </p:cNvPr>
          <p:cNvSpPr txBox="1"/>
          <p:nvPr/>
        </p:nvSpPr>
        <p:spPr bwMode="gray">
          <a:xfrm>
            <a:off x="2616736" y="6080459"/>
            <a:ext cx="8280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800" i="1"/>
              <a:t>MLR &amp; compliance support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9A519E1-4C07-3210-3964-DC0C0ACA5A85}"/>
              </a:ext>
            </a:extLst>
          </p:cNvPr>
          <p:cNvGrpSpPr/>
          <p:nvPr/>
        </p:nvGrpSpPr>
        <p:grpSpPr>
          <a:xfrm>
            <a:off x="8792530" y="948493"/>
            <a:ext cx="2368986" cy="108109"/>
            <a:chOff x="325439" y="898575"/>
            <a:chExt cx="2368986" cy="108109"/>
          </a:xfrm>
        </p:grpSpPr>
        <p:sp>
          <p:nvSpPr>
            <p:cNvPr id="23" name="btfpLegendSquare476376">
              <a:extLst>
                <a:ext uri="{FF2B5EF4-FFF2-40B4-BE49-F238E27FC236}">
                  <a16:creationId xmlns:a16="http://schemas.microsoft.com/office/drawing/2014/main" id="{409777E8-8613-60BD-C05B-34056772105A}"/>
                </a:ext>
              </a:extLst>
            </p:cNvPr>
            <p:cNvSpPr/>
            <p:nvPr/>
          </p:nvSpPr>
          <p:spPr bwMode="gray">
            <a:xfrm>
              <a:off x="325439" y="898575"/>
              <a:ext cx="108109" cy="108109"/>
            </a:xfrm>
            <a:prstGeom prst="rect">
              <a:avLst/>
            </a:prstGeom>
            <a:solidFill>
              <a:srgbClr val="DCE2D6"/>
            </a:solid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180181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>
                <a:buNone/>
              </a:pPr>
              <a:r>
                <a:rPr lang="en-US" sz="800">
                  <a:solidFill>
                    <a:srgbClr val="000000"/>
                  </a:solidFill>
                </a:rPr>
                <a:t>High willingness</a:t>
              </a:r>
            </a:p>
          </p:txBody>
        </p:sp>
        <p:sp>
          <p:nvSpPr>
            <p:cNvPr id="26" name="btfpLegendSquare476376">
              <a:extLst>
                <a:ext uri="{FF2B5EF4-FFF2-40B4-BE49-F238E27FC236}">
                  <a16:creationId xmlns:a16="http://schemas.microsoft.com/office/drawing/2014/main" id="{E8F28C8E-ADF4-A2B6-4076-1EAB00DDF3B4}"/>
                </a:ext>
              </a:extLst>
            </p:cNvPr>
            <p:cNvSpPr/>
            <p:nvPr/>
          </p:nvSpPr>
          <p:spPr bwMode="gray">
            <a:xfrm>
              <a:off x="1338568" y="898575"/>
              <a:ext cx="108109" cy="108109"/>
            </a:xfrm>
            <a:prstGeom prst="rect">
              <a:avLst/>
            </a:prstGeom>
            <a:solidFill>
              <a:srgbClr val="FBF2D2"/>
            </a:solid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180181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>
                <a:buNone/>
              </a:pPr>
              <a:r>
                <a:rPr lang="en-US" sz="800">
                  <a:solidFill>
                    <a:srgbClr val="333333"/>
                  </a:solidFill>
                </a:rPr>
                <a:t>Moderate willingness</a:t>
              </a:r>
            </a:p>
          </p:txBody>
        </p:sp>
        <p:sp>
          <p:nvSpPr>
            <p:cNvPr id="28" name="btfpLegendSquare476376">
              <a:extLst>
                <a:ext uri="{FF2B5EF4-FFF2-40B4-BE49-F238E27FC236}">
                  <a16:creationId xmlns:a16="http://schemas.microsoft.com/office/drawing/2014/main" id="{B5C01C69-3B36-F9F5-CDB4-A2D906B03307}"/>
                </a:ext>
              </a:extLst>
            </p:cNvPr>
            <p:cNvSpPr/>
            <p:nvPr/>
          </p:nvSpPr>
          <p:spPr bwMode="gray">
            <a:xfrm>
              <a:off x="2586316" y="898575"/>
              <a:ext cx="108109" cy="108109"/>
            </a:xfrm>
            <a:prstGeom prst="rect">
              <a:avLst/>
            </a:prstGeom>
            <a:solidFill>
              <a:srgbClr val="FFE5E5"/>
            </a:solid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180181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>
                <a:buNone/>
              </a:pPr>
              <a:r>
                <a:rPr lang="en-US" sz="800">
                  <a:solidFill>
                    <a:srgbClr val="333333"/>
                  </a:solidFill>
                </a:rPr>
                <a:t>Low willingness</a:t>
              </a:r>
            </a:p>
          </p:txBody>
        </p:sp>
      </p:grpSp>
      <p:sp>
        <p:nvSpPr>
          <p:cNvPr id="3192" name="TextBox 3191">
            <a:extLst>
              <a:ext uri="{FF2B5EF4-FFF2-40B4-BE49-F238E27FC236}">
                <a16:creationId xmlns:a16="http://schemas.microsoft.com/office/drawing/2014/main" id="{54DB4FD8-E8EE-9036-5045-CEBBDBB6EAF3}"/>
              </a:ext>
            </a:extLst>
          </p:cNvPr>
          <p:cNvSpPr txBox="1"/>
          <p:nvPr/>
        </p:nvSpPr>
        <p:spPr bwMode="gray">
          <a:xfrm>
            <a:off x="7609477" y="6069369"/>
            <a:ext cx="10409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800" i="1"/>
              <a:t>Rep-facing material development</a:t>
            </a:r>
          </a:p>
        </p:txBody>
      </p:sp>
      <p:sp>
        <p:nvSpPr>
          <p:cNvPr id="2053" name="TextBox 2052">
            <a:extLst>
              <a:ext uri="{FF2B5EF4-FFF2-40B4-BE49-F238E27FC236}">
                <a16:creationId xmlns:a16="http://schemas.microsoft.com/office/drawing/2014/main" id="{8E8B3A15-1B78-2C25-E22E-FFD8E030B297}"/>
              </a:ext>
            </a:extLst>
          </p:cNvPr>
          <p:cNvSpPr txBox="1"/>
          <p:nvPr/>
        </p:nvSpPr>
        <p:spPr bwMode="gray">
          <a:xfrm>
            <a:off x="10699183" y="5615457"/>
            <a:ext cx="117738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800" i="1"/>
              <a:t>Co-pay program admin &amp; adjudication</a:t>
            </a:r>
          </a:p>
        </p:txBody>
      </p:sp>
      <p:pic>
        <p:nvPicPr>
          <p:cNvPr id="2081" name="Picture 6" descr="Telus - Discover Nelson">
            <a:extLst>
              <a:ext uri="{FF2B5EF4-FFF2-40B4-BE49-F238E27FC236}">
                <a16:creationId xmlns:a16="http://schemas.microsoft.com/office/drawing/2014/main" id="{ECBCF5F8-3BF4-5F1C-9F34-B8BE16B0FE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 cstate="print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5126" y="5842102"/>
            <a:ext cx="342904" cy="274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85" name="TextBox 2084">
            <a:extLst>
              <a:ext uri="{FF2B5EF4-FFF2-40B4-BE49-F238E27FC236}">
                <a16:creationId xmlns:a16="http://schemas.microsoft.com/office/drawing/2014/main" id="{404F5F3B-F55D-313F-7BAB-21A33F9AC795}"/>
              </a:ext>
            </a:extLst>
          </p:cNvPr>
          <p:cNvSpPr txBox="1"/>
          <p:nvPr/>
        </p:nvSpPr>
        <p:spPr bwMode="gray">
          <a:xfrm>
            <a:off x="10198486" y="6156906"/>
            <a:ext cx="89868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800" i="1"/>
              <a:t>Call mgmt. support</a:t>
            </a:r>
          </a:p>
        </p:txBody>
      </p:sp>
      <p:sp>
        <p:nvSpPr>
          <p:cNvPr id="13" name="btfpNumberBubble399258">
            <a:extLst>
              <a:ext uri="{FF2B5EF4-FFF2-40B4-BE49-F238E27FC236}">
                <a16:creationId xmlns:a16="http://schemas.microsoft.com/office/drawing/2014/main" id="{51C1BF71-7D1B-8827-9C40-DDBDDBE3CE0B}"/>
              </a:ext>
            </a:extLst>
          </p:cNvPr>
          <p:cNvSpPr/>
          <p:nvPr/>
        </p:nvSpPr>
        <p:spPr bwMode="gray">
          <a:xfrm>
            <a:off x="54684" y="82614"/>
            <a:ext cx="288636" cy="28863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400" b="1">
                <a:solidFill>
                  <a:srgbClr val="CC0000"/>
                </a:solidFill>
              </a:rPr>
              <a:t>3</a:t>
            </a:r>
          </a:p>
        </p:txBody>
      </p:sp>
      <p:grpSp>
        <p:nvGrpSpPr>
          <p:cNvPr id="14" name="btfpRunningAgenda1Level331797">
            <a:extLst>
              <a:ext uri="{FF2B5EF4-FFF2-40B4-BE49-F238E27FC236}">
                <a16:creationId xmlns:a16="http://schemas.microsoft.com/office/drawing/2014/main" id="{2C80DA54-2903-BA8D-1305-7A9538DE1A7D}"/>
              </a:ext>
            </a:extLst>
          </p:cNvPr>
          <p:cNvGrpSpPr/>
          <p:nvPr>
            <p:custDataLst>
              <p:tags r:id="rId9"/>
            </p:custDataLst>
          </p:nvPr>
        </p:nvGrpSpPr>
        <p:grpSpPr>
          <a:xfrm>
            <a:off x="-1" y="944429"/>
            <a:ext cx="2372446" cy="257442"/>
            <a:chOff x="-1" y="876300"/>
            <a:chExt cx="2372446" cy="257442"/>
          </a:xfrm>
        </p:grpSpPr>
        <p:sp>
          <p:nvSpPr>
            <p:cNvPr id="21" name="btfpRunningAgenda1LevelBarLeft331797">
              <a:extLst>
                <a:ext uri="{FF2B5EF4-FFF2-40B4-BE49-F238E27FC236}">
                  <a16:creationId xmlns:a16="http://schemas.microsoft.com/office/drawing/2014/main" id="{F6EF18FD-08A9-FC38-F43F-2FD5E1F5F60A}"/>
                </a:ext>
              </a:extLst>
            </p:cNvPr>
            <p:cNvSpPr/>
            <p:nvPr/>
          </p:nvSpPr>
          <p:spPr bwMode="gray">
            <a:xfrm>
              <a:off x="-1" y="876300"/>
              <a:ext cx="2326179" cy="257442"/>
            </a:xfrm>
            <a:custGeom>
              <a:avLst/>
              <a:gdLst>
                <a:gd name="connsiteX0" fmla="*/ 950801 w 1870925"/>
                <a:gd name="connsiteY0" fmla="*/ 0 h 257442"/>
                <a:gd name="connsiteX1" fmla="*/ 1870925 w 1870925"/>
                <a:gd name="connsiteY1" fmla="*/ 0 h 257442"/>
                <a:gd name="connsiteX2" fmla="*/ 1816204 w 1870925"/>
                <a:gd name="connsiteY2" fmla="*/ 257442 h 257442"/>
                <a:gd name="connsiteX3" fmla="*/ 0 w 1870925"/>
                <a:gd name="connsiteY3" fmla="*/ 257442 h 257442"/>
                <a:gd name="connsiteX0" fmla="*/ 950801 w 1816204"/>
                <a:gd name="connsiteY0" fmla="*/ 0 h 257442"/>
                <a:gd name="connsiteX1" fmla="*/ 896081 w 1816204"/>
                <a:gd name="connsiteY1" fmla="*/ 257442 h 257442"/>
                <a:gd name="connsiteX2" fmla="*/ 1816204 w 1816204"/>
                <a:gd name="connsiteY2" fmla="*/ 257442 h 257442"/>
                <a:gd name="connsiteX3" fmla="*/ 0 w 1816204"/>
                <a:gd name="connsiteY3" fmla="*/ 257442 h 257442"/>
                <a:gd name="connsiteX0" fmla="*/ 950801 w 950801"/>
                <a:gd name="connsiteY0" fmla="*/ 0 h 257442"/>
                <a:gd name="connsiteX1" fmla="*/ 896081 w 950801"/>
                <a:gd name="connsiteY1" fmla="*/ 257442 h 257442"/>
                <a:gd name="connsiteX2" fmla="*/ 1 w 950801"/>
                <a:gd name="connsiteY2" fmla="*/ 257442 h 257442"/>
                <a:gd name="connsiteX3" fmla="*/ 0 w 950801"/>
                <a:gd name="connsiteY3" fmla="*/ 257442 h 257442"/>
                <a:gd name="connsiteX0" fmla="*/ 950800 w 950800"/>
                <a:gd name="connsiteY0" fmla="*/ 0 h 257442"/>
                <a:gd name="connsiteX1" fmla="*/ 896080 w 950800"/>
                <a:gd name="connsiteY1" fmla="*/ 257442 h 257442"/>
                <a:gd name="connsiteX2" fmla="*/ 0 w 950800"/>
                <a:gd name="connsiteY2" fmla="*/ 257442 h 257442"/>
                <a:gd name="connsiteX3" fmla="*/ 1 w 950800"/>
                <a:gd name="connsiteY3" fmla="*/ 0 h 257442"/>
                <a:gd name="connsiteX0" fmla="*/ 1261784 w 1261784"/>
                <a:gd name="connsiteY0" fmla="*/ 0 h 257442"/>
                <a:gd name="connsiteX1" fmla="*/ 896080 w 1261784"/>
                <a:gd name="connsiteY1" fmla="*/ 257442 h 257442"/>
                <a:gd name="connsiteX2" fmla="*/ 0 w 1261784"/>
                <a:gd name="connsiteY2" fmla="*/ 257442 h 257442"/>
                <a:gd name="connsiteX3" fmla="*/ 1 w 1261784"/>
                <a:gd name="connsiteY3" fmla="*/ 0 h 257442"/>
                <a:gd name="connsiteX0" fmla="*/ 1261784 w 1261784"/>
                <a:gd name="connsiteY0" fmla="*/ 0 h 257442"/>
                <a:gd name="connsiteX1" fmla="*/ 1207063 w 1261784"/>
                <a:gd name="connsiteY1" fmla="*/ 257442 h 257442"/>
                <a:gd name="connsiteX2" fmla="*/ 0 w 1261784"/>
                <a:gd name="connsiteY2" fmla="*/ 257442 h 257442"/>
                <a:gd name="connsiteX3" fmla="*/ 1 w 1261784"/>
                <a:gd name="connsiteY3" fmla="*/ 0 h 257442"/>
                <a:gd name="connsiteX0" fmla="*/ 1261784 w 1261784"/>
                <a:gd name="connsiteY0" fmla="*/ 0 h 257442"/>
                <a:gd name="connsiteX1" fmla="*/ 1207063 w 1261784"/>
                <a:gd name="connsiteY1" fmla="*/ 257442 h 257442"/>
                <a:gd name="connsiteX2" fmla="*/ 0 w 1261784"/>
                <a:gd name="connsiteY2" fmla="*/ 257442 h 257442"/>
                <a:gd name="connsiteX3" fmla="*/ 1 w 1261784"/>
                <a:gd name="connsiteY3" fmla="*/ 0 h 257442"/>
                <a:gd name="connsiteX0" fmla="*/ 1261784 w 1261784"/>
                <a:gd name="connsiteY0" fmla="*/ 0 h 257442"/>
                <a:gd name="connsiteX1" fmla="*/ 1207063 w 1261784"/>
                <a:gd name="connsiteY1" fmla="*/ 257442 h 257442"/>
                <a:gd name="connsiteX2" fmla="*/ 0 w 1261784"/>
                <a:gd name="connsiteY2" fmla="*/ 257442 h 257442"/>
                <a:gd name="connsiteX3" fmla="*/ 0 w 1261784"/>
                <a:gd name="connsiteY3" fmla="*/ 0 h 257442"/>
                <a:gd name="connsiteX0" fmla="*/ 1515058 w 1515058"/>
                <a:gd name="connsiteY0" fmla="*/ 0 h 257442"/>
                <a:gd name="connsiteX1" fmla="*/ 1207063 w 1515058"/>
                <a:gd name="connsiteY1" fmla="*/ 257442 h 257442"/>
                <a:gd name="connsiteX2" fmla="*/ 0 w 1515058"/>
                <a:gd name="connsiteY2" fmla="*/ 257442 h 257442"/>
                <a:gd name="connsiteX3" fmla="*/ 0 w 1515058"/>
                <a:gd name="connsiteY3" fmla="*/ 0 h 257442"/>
                <a:gd name="connsiteX0" fmla="*/ 1515058 w 1515058"/>
                <a:gd name="connsiteY0" fmla="*/ 0 h 257442"/>
                <a:gd name="connsiteX1" fmla="*/ 1460337 w 1515058"/>
                <a:gd name="connsiteY1" fmla="*/ 257442 h 257442"/>
                <a:gd name="connsiteX2" fmla="*/ 0 w 1515058"/>
                <a:gd name="connsiteY2" fmla="*/ 257442 h 257442"/>
                <a:gd name="connsiteX3" fmla="*/ 0 w 1515058"/>
                <a:gd name="connsiteY3" fmla="*/ 0 h 257442"/>
                <a:gd name="connsiteX0" fmla="*/ 1515058 w 1515058"/>
                <a:gd name="connsiteY0" fmla="*/ 0 h 257442"/>
                <a:gd name="connsiteX1" fmla="*/ 1460337 w 1515058"/>
                <a:gd name="connsiteY1" fmla="*/ 257442 h 257442"/>
                <a:gd name="connsiteX2" fmla="*/ 0 w 1515058"/>
                <a:gd name="connsiteY2" fmla="*/ 257442 h 257442"/>
                <a:gd name="connsiteX3" fmla="*/ 0 w 1515058"/>
                <a:gd name="connsiteY3" fmla="*/ 0 h 257442"/>
                <a:gd name="connsiteX0" fmla="*/ 1515058 w 1515058"/>
                <a:gd name="connsiteY0" fmla="*/ 0 h 257442"/>
                <a:gd name="connsiteX1" fmla="*/ 1460337 w 1515058"/>
                <a:gd name="connsiteY1" fmla="*/ 257442 h 257442"/>
                <a:gd name="connsiteX2" fmla="*/ 0 w 1515058"/>
                <a:gd name="connsiteY2" fmla="*/ 257442 h 257442"/>
                <a:gd name="connsiteX3" fmla="*/ 0 w 1515058"/>
                <a:gd name="connsiteY3" fmla="*/ 0 h 257442"/>
                <a:gd name="connsiteX0" fmla="*/ 1692991 w 1692991"/>
                <a:gd name="connsiteY0" fmla="*/ 0 h 257442"/>
                <a:gd name="connsiteX1" fmla="*/ 1460337 w 1692991"/>
                <a:gd name="connsiteY1" fmla="*/ 257442 h 257442"/>
                <a:gd name="connsiteX2" fmla="*/ 0 w 1692991"/>
                <a:gd name="connsiteY2" fmla="*/ 257442 h 257442"/>
                <a:gd name="connsiteX3" fmla="*/ 0 w 1692991"/>
                <a:gd name="connsiteY3" fmla="*/ 0 h 257442"/>
                <a:gd name="connsiteX0" fmla="*/ 1692991 w 1692991"/>
                <a:gd name="connsiteY0" fmla="*/ 0 h 257442"/>
                <a:gd name="connsiteX1" fmla="*/ 1638270 w 1692991"/>
                <a:gd name="connsiteY1" fmla="*/ 257442 h 257442"/>
                <a:gd name="connsiteX2" fmla="*/ 0 w 1692991"/>
                <a:gd name="connsiteY2" fmla="*/ 257442 h 257442"/>
                <a:gd name="connsiteX3" fmla="*/ 0 w 1692991"/>
                <a:gd name="connsiteY3" fmla="*/ 0 h 257442"/>
                <a:gd name="connsiteX0" fmla="*/ 1692991 w 1692991"/>
                <a:gd name="connsiteY0" fmla="*/ 0 h 257442"/>
                <a:gd name="connsiteX1" fmla="*/ 1638270 w 1692991"/>
                <a:gd name="connsiteY1" fmla="*/ 257442 h 257442"/>
                <a:gd name="connsiteX2" fmla="*/ 0 w 1692991"/>
                <a:gd name="connsiteY2" fmla="*/ 257442 h 257442"/>
                <a:gd name="connsiteX3" fmla="*/ 0 w 1692991"/>
                <a:gd name="connsiteY3" fmla="*/ 0 h 257442"/>
                <a:gd name="connsiteX0" fmla="*/ 1692991 w 1692991"/>
                <a:gd name="connsiteY0" fmla="*/ 0 h 257442"/>
                <a:gd name="connsiteX1" fmla="*/ 1638270 w 1692991"/>
                <a:gd name="connsiteY1" fmla="*/ 257442 h 257442"/>
                <a:gd name="connsiteX2" fmla="*/ 0 w 1692991"/>
                <a:gd name="connsiteY2" fmla="*/ 257442 h 257442"/>
                <a:gd name="connsiteX3" fmla="*/ 0 w 1692991"/>
                <a:gd name="connsiteY3" fmla="*/ 0 h 257442"/>
                <a:gd name="connsiteX0" fmla="*/ 1861307 w 1861307"/>
                <a:gd name="connsiteY0" fmla="*/ 0 h 257442"/>
                <a:gd name="connsiteX1" fmla="*/ 1638270 w 1861307"/>
                <a:gd name="connsiteY1" fmla="*/ 257442 h 257442"/>
                <a:gd name="connsiteX2" fmla="*/ 0 w 1861307"/>
                <a:gd name="connsiteY2" fmla="*/ 257442 h 257442"/>
                <a:gd name="connsiteX3" fmla="*/ 0 w 1861307"/>
                <a:gd name="connsiteY3" fmla="*/ 0 h 257442"/>
                <a:gd name="connsiteX0" fmla="*/ 1861307 w 1861307"/>
                <a:gd name="connsiteY0" fmla="*/ 0 h 257442"/>
                <a:gd name="connsiteX1" fmla="*/ 1806586 w 1861307"/>
                <a:gd name="connsiteY1" fmla="*/ 257442 h 257442"/>
                <a:gd name="connsiteX2" fmla="*/ 0 w 1861307"/>
                <a:gd name="connsiteY2" fmla="*/ 257442 h 257442"/>
                <a:gd name="connsiteX3" fmla="*/ 0 w 1861307"/>
                <a:gd name="connsiteY3" fmla="*/ 0 h 257442"/>
                <a:gd name="connsiteX0" fmla="*/ 1861307 w 1861307"/>
                <a:gd name="connsiteY0" fmla="*/ 0 h 257442"/>
                <a:gd name="connsiteX1" fmla="*/ 1806586 w 1861307"/>
                <a:gd name="connsiteY1" fmla="*/ 257442 h 257442"/>
                <a:gd name="connsiteX2" fmla="*/ 0 w 1861307"/>
                <a:gd name="connsiteY2" fmla="*/ 257442 h 257442"/>
                <a:gd name="connsiteX3" fmla="*/ 0 w 1861307"/>
                <a:gd name="connsiteY3" fmla="*/ 0 h 257442"/>
                <a:gd name="connsiteX0" fmla="*/ 1861307 w 1861307"/>
                <a:gd name="connsiteY0" fmla="*/ 0 h 257442"/>
                <a:gd name="connsiteX1" fmla="*/ 1806586 w 1861307"/>
                <a:gd name="connsiteY1" fmla="*/ 257442 h 257442"/>
                <a:gd name="connsiteX2" fmla="*/ 0 w 1861307"/>
                <a:gd name="connsiteY2" fmla="*/ 257442 h 257442"/>
                <a:gd name="connsiteX3" fmla="*/ 0 w 1861307"/>
                <a:gd name="connsiteY3" fmla="*/ 0 h 257442"/>
                <a:gd name="connsiteX0" fmla="*/ 2029622 w 2029622"/>
                <a:gd name="connsiteY0" fmla="*/ 0 h 257442"/>
                <a:gd name="connsiteX1" fmla="*/ 1806586 w 2029622"/>
                <a:gd name="connsiteY1" fmla="*/ 257442 h 257442"/>
                <a:gd name="connsiteX2" fmla="*/ 0 w 2029622"/>
                <a:gd name="connsiteY2" fmla="*/ 257442 h 257442"/>
                <a:gd name="connsiteX3" fmla="*/ 0 w 2029622"/>
                <a:gd name="connsiteY3" fmla="*/ 0 h 257442"/>
                <a:gd name="connsiteX0" fmla="*/ 2029622 w 2029622"/>
                <a:gd name="connsiteY0" fmla="*/ 0 h 257442"/>
                <a:gd name="connsiteX1" fmla="*/ 1974900 w 2029622"/>
                <a:gd name="connsiteY1" fmla="*/ 257442 h 257442"/>
                <a:gd name="connsiteX2" fmla="*/ 0 w 2029622"/>
                <a:gd name="connsiteY2" fmla="*/ 257442 h 257442"/>
                <a:gd name="connsiteX3" fmla="*/ 0 w 2029622"/>
                <a:gd name="connsiteY3" fmla="*/ 0 h 257442"/>
                <a:gd name="connsiteX0" fmla="*/ 2029623 w 2029623"/>
                <a:gd name="connsiteY0" fmla="*/ 0 h 257442"/>
                <a:gd name="connsiteX1" fmla="*/ 1974901 w 2029623"/>
                <a:gd name="connsiteY1" fmla="*/ 257442 h 257442"/>
                <a:gd name="connsiteX2" fmla="*/ 0 w 2029623"/>
                <a:gd name="connsiteY2" fmla="*/ 257442 h 257442"/>
                <a:gd name="connsiteX3" fmla="*/ 1 w 2029623"/>
                <a:gd name="connsiteY3" fmla="*/ 0 h 257442"/>
                <a:gd name="connsiteX0" fmla="*/ 2029623 w 2029623"/>
                <a:gd name="connsiteY0" fmla="*/ 0 h 257442"/>
                <a:gd name="connsiteX1" fmla="*/ 1974901 w 2029623"/>
                <a:gd name="connsiteY1" fmla="*/ 257442 h 257442"/>
                <a:gd name="connsiteX2" fmla="*/ 0 w 2029623"/>
                <a:gd name="connsiteY2" fmla="*/ 257442 h 257442"/>
                <a:gd name="connsiteX3" fmla="*/ 1 w 2029623"/>
                <a:gd name="connsiteY3" fmla="*/ 0 h 257442"/>
                <a:gd name="connsiteX0" fmla="*/ 2189923 w 2189923"/>
                <a:gd name="connsiteY0" fmla="*/ 0 h 257442"/>
                <a:gd name="connsiteX1" fmla="*/ 1974901 w 2189923"/>
                <a:gd name="connsiteY1" fmla="*/ 257442 h 257442"/>
                <a:gd name="connsiteX2" fmla="*/ 0 w 2189923"/>
                <a:gd name="connsiteY2" fmla="*/ 257442 h 257442"/>
                <a:gd name="connsiteX3" fmla="*/ 1 w 2189923"/>
                <a:gd name="connsiteY3" fmla="*/ 0 h 257442"/>
                <a:gd name="connsiteX0" fmla="*/ 2189923 w 2189923"/>
                <a:gd name="connsiteY0" fmla="*/ 0 h 257442"/>
                <a:gd name="connsiteX1" fmla="*/ 2135202 w 2189923"/>
                <a:gd name="connsiteY1" fmla="*/ 257442 h 257442"/>
                <a:gd name="connsiteX2" fmla="*/ 0 w 2189923"/>
                <a:gd name="connsiteY2" fmla="*/ 257442 h 257442"/>
                <a:gd name="connsiteX3" fmla="*/ 1 w 2189923"/>
                <a:gd name="connsiteY3" fmla="*/ 0 h 257442"/>
                <a:gd name="connsiteX0" fmla="*/ 2189922 w 2189922"/>
                <a:gd name="connsiteY0" fmla="*/ 0 h 257442"/>
                <a:gd name="connsiteX1" fmla="*/ 2135201 w 2189922"/>
                <a:gd name="connsiteY1" fmla="*/ 257442 h 257442"/>
                <a:gd name="connsiteX2" fmla="*/ 0 w 2189922"/>
                <a:gd name="connsiteY2" fmla="*/ 257442 h 257442"/>
                <a:gd name="connsiteX3" fmla="*/ 0 w 2189922"/>
                <a:gd name="connsiteY3" fmla="*/ 0 h 257442"/>
                <a:gd name="connsiteX0" fmla="*/ 2189923 w 2189923"/>
                <a:gd name="connsiteY0" fmla="*/ 0 h 257442"/>
                <a:gd name="connsiteX1" fmla="*/ 2135202 w 2189923"/>
                <a:gd name="connsiteY1" fmla="*/ 257442 h 257442"/>
                <a:gd name="connsiteX2" fmla="*/ 1 w 2189923"/>
                <a:gd name="connsiteY2" fmla="*/ 257442 h 257442"/>
                <a:gd name="connsiteX3" fmla="*/ 0 w 2189923"/>
                <a:gd name="connsiteY3" fmla="*/ 0 h 257442"/>
                <a:gd name="connsiteX0" fmla="*/ 2350223 w 2350223"/>
                <a:gd name="connsiteY0" fmla="*/ 0 h 257442"/>
                <a:gd name="connsiteX1" fmla="*/ 2135202 w 2350223"/>
                <a:gd name="connsiteY1" fmla="*/ 257442 h 257442"/>
                <a:gd name="connsiteX2" fmla="*/ 1 w 2350223"/>
                <a:gd name="connsiteY2" fmla="*/ 257442 h 257442"/>
                <a:gd name="connsiteX3" fmla="*/ 0 w 2350223"/>
                <a:gd name="connsiteY3" fmla="*/ 0 h 257442"/>
                <a:gd name="connsiteX0" fmla="*/ 2350223 w 2350223"/>
                <a:gd name="connsiteY0" fmla="*/ 0 h 257442"/>
                <a:gd name="connsiteX1" fmla="*/ 2295502 w 2350223"/>
                <a:gd name="connsiteY1" fmla="*/ 257442 h 257442"/>
                <a:gd name="connsiteX2" fmla="*/ 1 w 2350223"/>
                <a:gd name="connsiteY2" fmla="*/ 257442 h 257442"/>
                <a:gd name="connsiteX3" fmla="*/ 0 w 2350223"/>
                <a:gd name="connsiteY3" fmla="*/ 0 h 257442"/>
                <a:gd name="connsiteX0" fmla="*/ 2350223 w 2350223"/>
                <a:gd name="connsiteY0" fmla="*/ 0 h 257442"/>
                <a:gd name="connsiteX1" fmla="*/ 2295502 w 2350223"/>
                <a:gd name="connsiteY1" fmla="*/ 257442 h 257442"/>
                <a:gd name="connsiteX2" fmla="*/ 1 w 2350223"/>
                <a:gd name="connsiteY2" fmla="*/ 257442 h 257442"/>
                <a:gd name="connsiteX3" fmla="*/ 0 w 2350223"/>
                <a:gd name="connsiteY3" fmla="*/ 0 h 257442"/>
                <a:gd name="connsiteX0" fmla="*/ 2350222 w 2350222"/>
                <a:gd name="connsiteY0" fmla="*/ 0 h 257442"/>
                <a:gd name="connsiteX1" fmla="*/ 2295501 w 2350222"/>
                <a:gd name="connsiteY1" fmla="*/ 257442 h 257442"/>
                <a:gd name="connsiteX2" fmla="*/ 0 w 2350222"/>
                <a:gd name="connsiteY2" fmla="*/ 257442 h 257442"/>
                <a:gd name="connsiteX3" fmla="*/ 0 w 2350222"/>
                <a:gd name="connsiteY3" fmla="*/ 0 h 257442"/>
                <a:gd name="connsiteX0" fmla="*/ 2518537 w 2518537"/>
                <a:gd name="connsiteY0" fmla="*/ 0 h 257442"/>
                <a:gd name="connsiteX1" fmla="*/ 2295501 w 2518537"/>
                <a:gd name="connsiteY1" fmla="*/ 257442 h 257442"/>
                <a:gd name="connsiteX2" fmla="*/ 0 w 2518537"/>
                <a:gd name="connsiteY2" fmla="*/ 257442 h 257442"/>
                <a:gd name="connsiteX3" fmla="*/ 0 w 2518537"/>
                <a:gd name="connsiteY3" fmla="*/ 0 h 257442"/>
                <a:gd name="connsiteX0" fmla="*/ 2518537 w 2518537"/>
                <a:gd name="connsiteY0" fmla="*/ 0 h 257442"/>
                <a:gd name="connsiteX1" fmla="*/ 2463816 w 2518537"/>
                <a:gd name="connsiteY1" fmla="*/ 257442 h 257442"/>
                <a:gd name="connsiteX2" fmla="*/ 0 w 2518537"/>
                <a:gd name="connsiteY2" fmla="*/ 257442 h 257442"/>
                <a:gd name="connsiteX3" fmla="*/ 0 w 2518537"/>
                <a:gd name="connsiteY3" fmla="*/ 0 h 257442"/>
                <a:gd name="connsiteX0" fmla="*/ 2518538 w 2518538"/>
                <a:gd name="connsiteY0" fmla="*/ 0 h 257442"/>
                <a:gd name="connsiteX1" fmla="*/ 2463817 w 2518538"/>
                <a:gd name="connsiteY1" fmla="*/ 257442 h 257442"/>
                <a:gd name="connsiteX2" fmla="*/ 0 w 2518538"/>
                <a:gd name="connsiteY2" fmla="*/ 257442 h 257442"/>
                <a:gd name="connsiteX3" fmla="*/ 1 w 2518538"/>
                <a:gd name="connsiteY3" fmla="*/ 0 h 257442"/>
                <a:gd name="connsiteX0" fmla="*/ 2518538 w 2518538"/>
                <a:gd name="connsiteY0" fmla="*/ 0 h 257442"/>
                <a:gd name="connsiteX1" fmla="*/ 2463817 w 2518538"/>
                <a:gd name="connsiteY1" fmla="*/ 257442 h 257442"/>
                <a:gd name="connsiteX2" fmla="*/ 0 w 2518538"/>
                <a:gd name="connsiteY2" fmla="*/ 257442 h 257442"/>
                <a:gd name="connsiteX3" fmla="*/ 0 w 2518538"/>
                <a:gd name="connsiteY3" fmla="*/ 0 h 257442"/>
                <a:gd name="connsiteX0" fmla="*/ 2686853 w 2686853"/>
                <a:gd name="connsiteY0" fmla="*/ 0 h 257442"/>
                <a:gd name="connsiteX1" fmla="*/ 2463817 w 2686853"/>
                <a:gd name="connsiteY1" fmla="*/ 257442 h 257442"/>
                <a:gd name="connsiteX2" fmla="*/ 0 w 2686853"/>
                <a:gd name="connsiteY2" fmla="*/ 257442 h 257442"/>
                <a:gd name="connsiteX3" fmla="*/ 0 w 2686853"/>
                <a:gd name="connsiteY3" fmla="*/ 0 h 257442"/>
                <a:gd name="connsiteX0" fmla="*/ 2686853 w 2686853"/>
                <a:gd name="connsiteY0" fmla="*/ 0 h 257442"/>
                <a:gd name="connsiteX1" fmla="*/ 2632132 w 2686853"/>
                <a:gd name="connsiteY1" fmla="*/ 257442 h 257442"/>
                <a:gd name="connsiteX2" fmla="*/ 0 w 2686853"/>
                <a:gd name="connsiteY2" fmla="*/ 257442 h 257442"/>
                <a:gd name="connsiteX3" fmla="*/ 0 w 2686853"/>
                <a:gd name="connsiteY3" fmla="*/ 0 h 257442"/>
                <a:gd name="connsiteX0" fmla="*/ 2686853 w 2686853"/>
                <a:gd name="connsiteY0" fmla="*/ 0 h 257442"/>
                <a:gd name="connsiteX1" fmla="*/ 2632132 w 2686853"/>
                <a:gd name="connsiteY1" fmla="*/ 257442 h 257442"/>
                <a:gd name="connsiteX2" fmla="*/ 0 w 2686853"/>
                <a:gd name="connsiteY2" fmla="*/ 257442 h 257442"/>
                <a:gd name="connsiteX3" fmla="*/ 0 w 2686853"/>
                <a:gd name="connsiteY3" fmla="*/ 0 h 257442"/>
                <a:gd name="connsiteX0" fmla="*/ 2686853 w 2686853"/>
                <a:gd name="connsiteY0" fmla="*/ 0 h 257442"/>
                <a:gd name="connsiteX1" fmla="*/ 2632132 w 2686853"/>
                <a:gd name="connsiteY1" fmla="*/ 257442 h 257442"/>
                <a:gd name="connsiteX2" fmla="*/ 0 w 2686853"/>
                <a:gd name="connsiteY2" fmla="*/ 257442 h 257442"/>
                <a:gd name="connsiteX3" fmla="*/ 0 w 2686853"/>
                <a:gd name="connsiteY3" fmla="*/ 0 h 257442"/>
                <a:gd name="connsiteX0" fmla="*/ 2518538 w 2632132"/>
                <a:gd name="connsiteY0" fmla="*/ 0 h 257442"/>
                <a:gd name="connsiteX1" fmla="*/ 2632132 w 2632132"/>
                <a:gd name="connsiteY1" fmla="*/ 257442 h 257442"/>
                <a:gd name="connsiteX2" fmla="*/ 0 w 2632132"/>
                <a:gd name="connsiteY2" fmla="*/ 257442 h 257442"/>
                <a:gd name="connsiteX3" fmla="*/ 0 w 2632132"/>
                <a:gd name="connsiteY3" fmla="*/ 0 h 257442"/>
                <a:gd name="connsiteX0" fmla="*/ 2518538 w 2518538"/>
                <a:gd name="connsiteY0" fmla="*/ 0 h 257442"/>
                <a:gd name="connsiteX1" fmla="*/ 2463817 w 2518538"/>
                <a:gd name="connsiteY1" fmla="*/ 257442 h 257442"/>
                <a:gd name="connsiteX2" fmla="*/ 0 w 2518538"/>
                <a:gd name="connsiteY2" fmla="*/ 257442 h 257442"/>
                <a:gd name="connsiteX3" fmla="*/ 0 w 2518538"/>
                <a:gd name="connsiteY3" fmla="*/ 0 h 257442"/>
                <a:gd name="connsiteX0" fmla="*/ 2518538 w 2518538"/>
                <a:gd name="connsiteY0" fmla="*/ 0 h 257442"/>
                <a:gd name="connsiteX1" fmla="*/ 2463817 w 2518538"/>
                <a:gd name="connsiteY1" fmla="*/ 257442 h 257442"/>
                <a:gd name="connsiteX2" fmla="*/ 0 w 2518538"/>
                <a:gd name="connsiteY2" fmla="*/ 257442 h 257442"/>
                <a:gd name="connsiteX3" fmla="*/ 0 w 2518538"/>
                <a:gd name="connsiteY3" fmla="*/ 0 h 257442"/>
                <a:gd name="connsiteX0" fmla="*/ 2518538 w 2518538"/>
                <a:gd name="connsiteY0" fmla="*/ 0 h 257442"/>
                <a:gd name="connsiteX1" fmla="*/ 2463817 w 2518538"/>
                <a:gd name="connsiteY1" fmla="*/ 257442 h 257442"/>
                <a:gd name="connsiteX2" fmla="*/ 0 w 2518538"/>
                <a:gd name="connsiteY2" fmla="*/ 257442 h 257442"/>
                <a:gd name="connsiteX3" fmla="*/ 0 w 2518538"/>
                <a:gd name="connsiteY3" fmla="*/ 0 h 257442"/>
                <a:gd name="connsiteX0" fmla="*/ 2787843 w 2787843"/>
                <a:gd name="connsiteY0" fmla="*/ 0 h 257442"/>
                <a:gd name="connsiteX1" fmla="*/ 2463817 w 2787843"/>
                <a:gd name="connsiteY1" fmla="*/ 257442 h 257442"/>
                <a:gd name="connsiteX2" fmla="*/ 0 w 2787843"/>
                <a:gd name="connsiteY2" fmla="*/ 257442 h 257442"/>
                <a:gd name="connsiteX3" fmla="*/ 0 w 2787843"/>
                <a:gd name="connsiteY3" fmla="*/ 0 h 257442"/>
                <a:gd name="connsiteX0" fmla="*/ 2787843 w 2787843"/>
                <a:gd name="connsiteY0" fmla="*/ 0 h 257442"/>
                <a:gd name="connsiteX1" fmla="*/ 2733122 w 2787843"/>
                <a:gd name="connsiteY1" fmla="*/ 257442 h 257442"/>
                <a:gd name="connsiteX2" fmla="*/ 0 w 2787843"/>
                <a:gd name="connsiteY2" fmla="*/ 257442 h 257442"/>
                <a:gd name="connsiteX3" fmla="*/ 0 w 2787843"/>
                <a:gd name="connsiteY3" fmla="*/ 0 h 257442"/>
                <a:gd name="connsiteX0" fmla="*/ 2787843 w 2787843"/>
                <a:gd name="connsiteY0" fmla="*/ 0 h 257442"/>
                <a:gd name="connsiteX1" fmla="*/ 2733122 w 2787843"/>
                <a:gd name="connsiteY1" fmla="*/ 257442 h 257442"/>
                <a:gd name="connsiteX2" fmla="*/ 0 w 2787843"/>
                <a:gd name="connsiteY2" fmla="*/ 257442 h 257442"/>
                <a:gd name="connsiteX3" fmla="*/ 0 w 2787843"/>
                <a:gd name="connsiteY3" fmla="*/ 0 h 257442"/>
                <a:gd name="connsiteX0" fmla="*/ 2787843 w 2787843"/>
                <a:gd name="connsiteY0" fmla="*/ 0 h 257442"/>
                <a:gd name="connsiteX1" fmla="*/ 2733122 w 2787843"/>
                <a:gd name="connsiteY1" fmla="*/ 257442 h 257442"/>
                <a:gd name="connsiteX2" fmla="*/ 0 w 2787843"/>
                <a:gd name="connsiteY2" fmla="*/ 257442 h 257442"/>
                <a:gd name="connsiteX3" fmla="*/ 0 w 2787843"/>
                <a:gd name="connsiteY3" fmla="*/ 0 h 257442"/>
                <a:gd name="connsiteX0" fmla="*/ 2965775 w 2965775"/>
                <a:gd name="connsiteY0" fmla="*/ 0 h 257442"/>
                <a:gd name="connsiteX1" fmla="*/ 2733122 w 2965775"/>
                <a:gd name="connsiteY1" fmla="*/ 257442 h 257442"/>
                <a:gd name="connsiteX2" fmla="*/ 0 w 2965775"/>
                <a:gd name="connsiteY2" fmla="*/ 257442 h 257442"/>
                <a:gd name="connsiteX3" fmla="*/ 0 w 2965775"/>
                <a:gd name="connsiteY3" fmla="*/ 0 h 257442"/>
                <a:gd name="connsiteX0" fmla="*/ 2965775 w 2965775"/>
                <a:gd name="connsiteY0" fmla="*/ 0 h 257442"/>
                <a:gd name="connsiteX1" fmla="*/ 2911054 w 2965775"/>
                <a:gd name="connsiteY1" fmla="*/ 257442 h 257442"/>
                <a:gd name="connsiteX2" fmla="*/ 0 w 2965775"/>
                <a:gd name="connsiteY2" fmla="*/ 257442 h 257442"/>
                <a:gd name="connsiteX3" fmla="*/ 0 w 2965775"/>
                <a:gd name="connsiteY3" fmla="*/ 0 h 257442"/>
                <a:gd name="connsiteX0" fmla="*/ 2965775 w 2965775"/>
                <a:gd name="connsiteY0" fmla="*/ 0 h 257442"/>
                <a:gd name="connsiteX1" fmla="*/ 2911054 w 2965775"/>
                <a:gd name="connsiteY1" fmla="*/ 257442 h 257442"/>
                <a:gd name="connsiteX2" fmla="*/ 0 w 2965775"/>
                <a:gd name="connsiteY2" fmla="*/ 257442 h 257442"/>
                <a:gd name="connsiteX3" fmla="*/ 0 w 2965775"/>
                <a:gd name="connsiteY3" fmla="*/ 0 h 257442"/>
                <a:gd name="connsiteX0" fmla="*/ 2965775 w 2965775"/>
                <a:gd name="connsiteY0" fmla="*/ 0 h 257442"/>
                <a:gd name="connsiteX1" fmla="*/ 2911054 w 2965775"/>
                <a:gd name="connsiteY1" fmla="*/ 257442 h 257442"/>
                <a:gd name="connsiteX2" fmla="*/ 0 w 2965775"/>
                <a:gd name="connsiteY2" fmla="*/ 257442 h 257442"/>
                <a:gd name="connsiteX3" fmla="*/ 0 w 2965775"/>
                <a:gd name="connsiteY3" fmla="*/ 0 h 257442"/>
                <a:gd name="connsiteX0" fmla="*/ 2797461 w 2911054"/>
                <a:gd name="connsiteY0" fmla="*/ 0 h 257442"/>
                <a:gd name="connsiteX1" fmla="*/ 2911054 w 2911054"/>
                <a:gd name="connsiteY1" fmla="*/ 257442 h 257442"/>
                <a:gd name="connsiteX2" fmla="*/ 0 w 2911054"/>
                <a:gd name="connsiteY2" fmla="*/ 257442 h 257442"/>
                <a:gd name="connsiteX3" fmla="*/ 0 w 2911054"/>
                <a:gd name="connsiteY3" fmla="*/ 0 h 257442"/>
                <a:gd name="connsiteX0" fmla="*/ 2797461 w 2797461"/>
                <a:gd name="connsiteY0" fmla="*/ 0 h 257442"/>
                <a:gd name="connsiteX1" fmla="*/ 2742740 w 2797461"/>
                <a:gd name="connsiteY1" fmla="*/ 257442 h 257442"/>
                <a:gd name="connsiteX2" fmla="*/ 0 w 2797461"/>
                <a:gd name="connsiteY2" fmla="*/ 257442 h 257442"/>
                <a:gd name="connsiteX3" fmla="*/ 0 w 2797461"/>
                <a:gd name="connsiteY3" fmla="*/ 0 h 257442"/>
                <a:gd name="connsiteX0" fmla="*/ 2797461 w 2797461"/>
                <a:gd name="connsiteY0" fmla="*/ 0 h 257442"/>
                <a:gd name="connsiteX1" fmla="*/ 2742740 w 2797461"/>
                <a:gd name="connsiteY1" fmla="*/ 257442 h 257442"/>
                <a:gd name="connsiteX2" fmla="*/ 1 w 2797461"/>
                <a:gd name="connsiteY2" fmla="*/ 257442 h 257442"/>
                <a:gd name="connsiteX3" fmla="*/ 0 w 2797461"/>
                <a:gd name="connsiteY3" fmla="*/ 0 h 257442"/>
                <a:gd name="connsiteX0" fmla="*/ 2797460 w 2797460"/>
                <a:gd name="connsiteY0" fmla="*/ 0 h 257442"/>
                <a:gd name="connsiteX1" fmla="*/ 2742739 w 2797460"/>
                <a:gd name="connsiteY1" fmla="*/ 257442 h 257442"/>
                <a:gd name="connsiteX2" fmla="*/ 0 w 2797460"/>
                <a:gd name="connsiteY2" fmla="*/ 257442 h 257442"/>
                <a:gd name="connsiteX3" fmla="*/ 0 w 2797460"/>
                <a:gd name="connsiteY3" fmla="*/ 0 h 257442"/>
                <a:gd name="connsiteX0" fmla="*/ 2957760 w 2957760"/>
                <a:gd name="connsiteY0" fmla="*/ 0 h 257442"/>
                <a:gd name="connsiteX1" fmla="*/ 2742739 w 2957760"/>
                <a:gd name="connsiteY1" fmla="*/ 257442 h 257442"/>
                <a:gd name="connsiteX2" fmla="*/ 0 w 2957760"/>
                <a:gd name="connsiteY2" fmla="*/ 257442 h 257442"/>
                <a:gd name="connsiteX3" fmla="*/ 0 w 2957760"/>
                <a:gd name="connsiteY3" fmla="*/ 0 h 257442"/>
                <a:gd name="connsiteX0" fmla="*/ 2957760 w 2957760"/>
                <a:gd name="connsiteY0" fmla="*/ 0 h 257442"/>
                <a:gd name="connsiteX1" fmla="*/ 2903039 w 2957760"/>
                <a:gd name="connsiteY1" fmla="*/ 257442 h 257442"/>
                <a:gd name="connsiteX2" fmla="*/ 0 w 2957760"/>
                <a:gd name="connsiteY2" fmla="*/ 257442 h 257442"/>
                <a:gd name="connsiteX3" fmla="*/ 0 w 2957760"/>
                <a:gd name="connsiteY3" fmla="*/ 0 h 257442"/>
                <a:gd name="connsiteX0" fmla="*/ 2957761 w 2957761"/>
                <a:gd name="connsiteY0" fmla="*/ 0 h 257442"/>
                <a:gd name="connsiteX1" fmla="*/ 2903040 w 2957761"/>
                <a:gd name="connsiteY1" fmla="*/ 257442 h 257442"/>
                <a:gd name="connsiteX2" fmla="*/ 0 w 2957761"/>
                <a:gd name="connsiteY2" fmla="*/ 257442 h 257442"/>
                <a:gd name="connsiteX3" fmla="*/ 1 w 2957761"/>
                <a:gd name="connsiteY3" fmla="*/ 0 h 257442"/>
                <a:gd name="connsiteX0" fmla="*/ 2957761 w 2957761"/>
                <a:gd name="connsiteY0" fmla="*/ 0 h 257442"/>
                <a:gd name="connsiteX1" fmla="*/ 2903040 w 2957761"/>
                <a:gd name="connsiteY1" fmla="*/ 257442 h 257442"/>
                <a:gd name="connsiteX2" fmla="*/ 0 w 2957761"/>
                <a:gd name="connsiteY2" fmla="*/ 257442 h 257442"/>
                <a:gd name="connsiteX3" fmla="*/ 1 w 2957761"/>
                <a:gd name="connsiteY3" fmla="*/ 0 h 257442"/>
                <a:gd name="connsiteX0" fmla="*/ 3143710 w 3143710"/>
                <a:gd name="connsiteY0" fmla="*/ 0 h 257442"/>
                <a:gd name="connsiteX1" fmla="*/ 2903040 w 3143710"/>
                <a:gd name="connsiteY1" fmla="*/ 257442 h 257442"/>
                <a:gd name="connsiteX2" fmla="*/ 0 w 3143710"/>
                <a:gd name="connsiteY2" fmla="*/ 257442 h 257442"/>
                <a:gd name="connsiteX3" fmla="*/ 1 w 3143710"/>
                <a:gd name="connsiteY3" fmla="*/ 0 h 257442"/>
                <a:gd name="connsiteX0" fmla="*/ 3143710 w 3143710"/>
                <a:gd name="connsiteY0" fmla="*/ 0 h 257442"/>
                <a:gd name="connsiteX1" fmla="*/ 3088988 w 3143710"/>
                <a:gd name="connsiteY1" fmla="*/ 257442 h 257442"/>
                <a:gd name="connsiteX2" fmla="*/ 0 w 3143710"/>
                <a:gd name="connsiteY2" fmla="*/ 257442 h 257442"/>
                <a:gd name="connsiteX3" fmla="*/ 1 w 3143710"/>
                <a:gd name="connsiteY3" fmla="*/ 0 h 257442"/>
                <a:gd name="connsiteX0" fmla="*/ 3143710 w 3143710"/>
                <a:gd name="connsiteY0" fmla="*/ 0 h 257442"/>
                <a:gd name="connsiteX1" fmla="*/ 3088988 w 3143710"/>
                <a:gd name="connsiteY1" fmla="*/ 257442 h 257442"/>
                <a:gd name="connsiteX2" fmla="*/ 0 w 3143710"/>
                <a:gd name="connsiteY2" fmla="*/ 257442 h 257442"/>
                <a:gd name="connsiteX3" fmla="*/ 1 w 3143710"/>
                <a:gd name="connsiteY3" fmla="*/ 0 h 257442"/>
                <a:gd name="connsiteX0" fmla="*/ 3143710 w 3143710"/>
                <a:gd name="connsiteY0" fmla="*/ 0 h 257442"/>
                <a:gd name="connsiteX1" fmla="*/ 3088988 w 3143710"/>
                <a:gd name="connsiteY1" fmla="*/ 257442 h 257442"/>
                <a:gd name="connsiteX2" fmla="*/ 0 w 3143710"/>
                <a:gd name="connsiteY2" fmla="*/ 257442 h 257442"/>
                <a:gd name="connsiteX3" fmla="*/ 0 w 3143710"/>
                <a:gd name="connsiteY3" fmla="*/ 0 h 257442"/>
                <a:gd name="connsiteX0" fmla="*/ 2787843 w 3088988"/>
                <a:gd name="connsiteY0" fmla="*/ 0 h 257442"/>
                <a:gd name="connsiteX1" fmla="*/ 3088988 w 3088988"/>
                <a:gd name="connsiteY1" fmla="*/ 257442 h 257442"/>
                <a:gd name="connsiteX2" fmla="*/ 0 w 3088988"/>
                <a:gd name="connsiteY2" fmla="*/ 257442 h 257442"/>
                <a:gd name="connsiteX3" fmla="*/ 0 w 3088988"/>
                <a:gd name="connsiteY3" fmla="*/ 0 h 257442"/>
                <a:gd name="connsiteX0" fmla="*/ 2787843 w 2787843"/>
                <a:gd name="connsiteY0" fmla="*/ 0 h 257442"/>
                <a:gd name="connsiteX1" fmla="*/ 2733122 w 2787843"/>
                <a:gd name="connsiteY1" fmla="*/ 257442 h 257442"/>
                <a:gd name="connsiteX2" fmla="*/ 0 w 2787843"/>
                <a:gd name="connsiteY2" fmla="*/ 257442 h 257442"/>
                <a:gd name="connsiteX3" fmla="*/ 0 w 2787843"/>
                <a:gd name="connsiteY3" fmla="*/ 0 h 257442"/>
                <a:gd name="connsiteX0" fmla="*/ 2787843 w 2787843"/>
                <a:gd name="connsiteY0" fmla="*/ 0 h 257442"/>
                <a:gd name="connsiteX1" fmla="*/ 2733122 w 2787843"/>
                <a:gd name="connsiteY1" fmla="*/ 257442 h 257442"/>
                <a:gd name="connsiteX2" fmla="*/ 1 w 2787843"/>
                <a:gd name="connsiteY2" fmla="*/ 257442 h 257442"/>
                <a:gd name="connsiteX3" fmla="*/ 0 w 2787843"/>
                <a:gd name="connsiteY3" fmla="*/ 0 h 257442"/>
                <a:gd name="connsiteX0" fmla="*/ 2787842 w 2787842"/>
                <a:gd name="connsiteY0" fmla="*/ 0 h 257442"/>
                <a:gd name="connsiteX1" fmla="*/ 2733121 w 2787842"/>
                <a:gd name="connsiteY1" fmla="*/ 257442 h 257442"/>
                <a:gd name="connsiteX2" fmla="*/ 0 w 2787842"/>
                <a:gd name="connsiteY2" fmla="*/ 257442 h 257442"/>
                <a:gd name="connsiteX3" fmla="*/ 0 w 2787842"/>
                <a:gd name="connsiteY3" fmla="*/ 0 h 257442"/>
                <a:gd name="connsiteX0" fmla="*/ 2965774 w 2965774"/>
                <a:gd name="connsiteY0" fmla="*/ 0 h 257442"/>
                <a:gd name="connsiteX1" fmla="*/ 2733121 w 2965774"/>
                <a:gd name="connsiteY1" fmla="*/ 257442 h 257442"/>
                <a:gd name="connsiteX2" fmla="*/ 0 w 2965774"/>
                <a:gd name="connsiteY2" fmla="*/ 257442 h 257442"/>
                <a:gd name="connsiteX3" fmla="*/ 0 w 2965774"/>
                <a:gd name="connsiteY3" fmla="*/ 0 h 257442"/>
                <a:gd name="connsiteX0" fmla="*/ 2965774 w 2965774"/>
                <a:gd name="connsiteY0" fmla="*/ 0 h 257442"/>
                <a:gd name="connsiteX1" fmla="*/ 2911053 w 2965774"/>
                <a:gd name="connsiteY1" fmla="*/ 257442 h 257442"/>
                <a:gd name="connsiteX2" fmla="*/ 0 w 2965774"/>
                <a:gd name="connsiteY2" fmla="*/ 257442 h 257442"/>
                <a:gd name="connsiteX3" fmla="*/ 0 w 2965774"/>
                <a:gd name="connsiteY3" fmla="*/ 0 h 257442"/>
                <a:gd name="connsiteX0" fmla="*/ 2965775 w 2965775"/>
                <a:gd name="connsiteY0" fmla="*/ 0 h 257442"/>
                <a:gd name="connsiteX1" fmla="*/ 2911054 w 2965775"/>
                <a:gd name="connsiteY1" fmla="*/ 257442 h 257442"/>
                <a:gd name="connsiteX2" fmla="*/ 0 w 2965775"/>
                <a:gd name="connsiteY2" fmla="*/ 257442 h 257442"/>
                <a:gd name="connsiteX3" fmla="*/ 1 w 2965775"/>
                <a:gd name="connsiteY3" fmla="*/ 0 h 257442"/>
                <a:gd name="connsiteX0" fmla="*/ 2965775 w 2965775"/>
                <a:gd name="connsiteY0" fmla="*/ 0 h 257442"/>
                <a:gd name="connsiteX1" fmla="*/ 2911054 w 2965775"/>
                <a:gd name="connsiteY1" fmla="*/ 257442 h 257442"/>
                <a:gd name="connsiteX2" fmla="*/ 0 w 2965775"/>
                <a:gd name="connsiteY2" fmla="*/ 257442 h 257442"/>
                <a:gd name="connsiteX3" fmla="*/ 1 w 2965775"/>
                <a:gd name="connsiteY3" fmla="*/ 0 h 257442"/>
                <a:gd name="connsiteX0" fmla="*/ 950802 w 2911054"/>
                <a:gd name="connsiteY0" fmla="*/ 0 h 257442"/>
                <a:gd name="connsiteX1" fmla="*/ 2911054 w 2911054"/>
                <a:gd name="connsiteY1" fmla="*/ 257442 h 257442"/>
                <a:gd name="connsiteX2" fmla="*/ 0 w 2911054"/>
                <a:gd name="connsiteY2" fmla="*/ 257442 h 257442"/>
                <a:gd name="connsiteX3" fmla="*/ 1 w 2911054"/>
                <a:gd name="connsiteY3" fmla="*/ 0 h 257442"/>
                <a:gd name="connsiteX0" fmla="*/ 950802 w 950802"/>
                <a:gd name="connsiteY0" fmla="*/ 0 h 257442"/>
                <a:gd name="connsiteX1" fmla="*/ 896081 w 950802"/>
                <a:gd name="connsiteY1" fmla="*/ 257442 h 257442"/>
                <a:gd name="connsiteX2" fmla="*/ 0 w 950802"/>
                <a:gd name="connsiteY2" fmla="*/ 257442 h 257442"/>
                <a:gd name="connsiteX3" fmla="*/ 1 w 950802"/>
                <a:gd name="connsiteY3" fmla="*/ 0 h 257442"/>
                <a:gd name="connsiteX0" fmla="*/ 950801 w 950801"/>
                <a:gd name="connsiteY0" fmla="*/ 0 h 257442"/>
                <a:gd name="connsiteX1" fmla="*/ 896080 w 950801"/>
                <a:gd name="connsiteY1" fmla="*/ 257442 h 257442"/>
                <a:gd name="connsiteX2" fmla="*/ 0 w 950801"/>
                <a:gd name="connsiteY2" fmla="*/ 257442 h 257442"/>
                <a:gd name="connsiteX3" fmla="*/ 0 w 950801"/>
                <a:gd name="connsiteY3" fmla="*/ 0 h 257442"/>
                <a:gd name="connsiteX0" fmla="*/ 950801 w 950801"/>
                <a:gd name="connsiteY0" fmla="*/ 0 h 257442"/>
                <a:gd name="connsiteX1" fmla="*/ 896080 w 950801"/>
                <a:gd name="connsiteY1" fmla="*/ 257442 h 257442"/>
                <a:gd name="connsiteX2" fmla="*/ 0 w 950801"/>
                <a:gd name="connsiteY2" fmla="*/ 257442 h 257442"/>
                <a:gd name="connsiteX3" fmla="*/ 0 w 950801"/>
                <a:gd name="connsiteY3" fmla="*/ 0 h 257442"/>
                <a:gd name="connsiteX0" fmla="*/ 782550 w 896080"/>
                <a:gd name="connsiteY0" fmla="*/ 0 h 257442"/>
                <a:gd name="connsiteX1" fmla="*/ 896080 w 896080"/>
                <a:gd name="connsiteY1" fmla="*/ 257442 h 257442"/>
                <a:gd name="connsiteX2" fmla="*/ 0 w 896080"/>
                <a:gd name="connsiteY2" fmla="*/ 257442 h 257442"/>
                <a:gd name="connsiteX3" fmla="*/ 0 w 896080"/>
                <a:gd name="connsiteY3" fmla="*/ 0 h 257442"/>
                <a:gd name="connsiteX0" fmla="*/ 782550 w 782550"/>
                <a:gd name="connsiteY0" fmla="*/ 0 h 257442"/>
                <a:gd name="connsiteX1" fmla="*/ 727829 w 782550"/>
                <a:gd name="connsiteY1" fmla="*/ 257442 h 257442"/>
                <a:gd name="connsiteX2" fmla="*/ 0 w 782550"/>
                <a:gd name="connsiteY2" fmla="*/ 257442 h 257442"/>
                <a:gd name="connsiteX3" fmla="*/ 0 w 782550"/>
                <a:gd name="connsiteY3" fmla="*/ 0 h 257442"/>
                <a:gd name="connsiteX0" fmla="*/ 782550 w 782550"/>
                <a:gd name="connsiteY0" fmla="*/ 0 h 257442"/>
                <a:gd name="connsiteX1" fmla="*/ 727829 w 782550"/>
                <a:gd name="connsiteY1" fmla="*/ 257442 h 257442"/>
                <a:gd name="connsiteX2" fmla="*/ 0 w 782550"/>
                <a:gd name="connsiteY2" fmla="*/ 257442 h 257442"/>
                <a:gd name="connsiteX3" fmla="*/ 0 w 782550"/>
                <a:gd name="connsiteY3" fmla="*/ 0 h 257442"/>
                <a:gd name="connsiteX0" fmla="*/ 782550 w 782550"/>
                <a:gd name="connsiteY0" fmla="*/ 0 h 257442"/>
                <a:gd name="connsiteX1" fmla="*/ 727829 w 782550"/>
                <a:gd name="connsiteY1" fmla="*/ 257442 h 257442"/>
                <a:gd name="connsiteX2" fmla="*/ 0 w 782550"/>
                <a:gd name="connsiteY2" fmla="*/ 257442 h 257442"/>
                <a:gd name="connsiteX3" fmla="*/ 0 w 782550"/>
                <a:gd name="connsiteY3" fmla="*/ 0 h 257442"/>
                <a:gd name="connsiteX0" fmla="*/ 950801 w 950801"/>
                <a:gd name="connsiteY0" fmla="*/ 0 h 257442"/>
                <a:gd name="connsiteX1" fmla="*/ 727829 w 950801"/>
                <a:gd name="connsiteY1" fmla="*/ 257442 h 257442"/>
                <a:gd name="connsiteX2" fmla="*/ 0 w 950801"/>
                <a:gd name="connsiteY2" fmla="*/ 257442 h 257442"/>
                <a:gd name="connsiteX3" fmla="*/ 0 w 950801"/>
                <a:gd name="connsiteY3" fmla="*/ 0 h 257442"/>
                <a:gd name="connsiteX0" fmla="*/ 950801 w 950801"/>
                <a:gd name="connsiteY0" fmla="*/ 0 h 257442"/>
                <a:gd name="connsiteX1" fmla="*/ 896080 w 950801"/>
                <a:gd name="connsiteY1" fmla="*/ 257442 h 257442"/>
                <a:gd name="connsiteX2" fmla="*/ 0 w 950801"/>
                <a:gd name="connsiteY2" fmla="*/ 257442 h 257442"/>
                <a:gd name="connsiteX3" fmla="*/ 0 w 950801"/>
                <a:gd name="connsiteY3" fmla="*/ 0 h 257442"/>
                <a:gd name="connsiteX0" fmla="*/ 950801 w 950801"/>
                <a:gd name="connsiteY0" fmla="*/ 0 h 257442"/>
                <a:gd name="connsiteX1" fmla="*/ 896080 w 950801"/>
                <a:gd name="connsiteY1" fmla="*/ 257442 h 257442"/>
                <a:gd name="connsiteX2" fmla="*/ 0 w 950801"/>
                <a:gd name="connsiteY2" fmla="*/ 257442 h 257442"/>
                <a:gd name="connsiteX3" fmla="*/ 0 w 950801"/>
                <a:gd name="connsiteY3" fmla="*/ 0 h 257442"/>
                <a:gd name="connsiteX0" fmla="*/ 950801 w 950801"/>
                <a:gd name="connsiteY0" fmla="*/ 0 h 257442"/>
                <a:gd name="connsiteX1" fmla="*/ 896080 w 950801"/>
                <a:gd name="connsiteY1" fmla="*/ 257442 h 257442"/>
                <a:gd name="connsiteX2" fmla="*/ 0 w 950801"/>
                <a:gd name="connsiteY2" fmla="*/ 257442 h 257442"/>
                <a:gd name="connsiteX3" fmla="*/ 0 w 950801"/>
                <a:gd name="connsiteY3" fmla="*/ 0 h 257442"/>
                <a:gd name="connsiteX0" fmla="*/ 1229724 w 1229724"/>
                <a:gd name="connsiteY0" fmla="*/ 0 h 257442"/>
                <a:gd name="connsiteX1" fmla="*/ 896080 w 1229724"/>
                <a:gd name="connsiteY1" fmla="*/ 257442 h 257442"/>
                <a:gd name="connsiteX2" fmla="*/ 0 w 1229724"/>
                <a:gd name="connsiteY2" fmla="*/ 257442 h 257442"/>
                <a:gd name="connsiteX3" fmla="*/ 0 w 1229724"/>
                <a:gd name="connsiteY3" fmla="*/ 0 h 257442"/>
                <a:gd name="connsiteX0" fmla="*/ 1229724 w 1229724"/>
                <a:gd name="connsiteY0" fmla="*/ 0 h 257442"/>
                <a:gd name="connsiteX1" fmla="*/ 1175002 w 1229724"/>
                <a:gd name="connsiteY1" fmla="*/ 257442 h 257442"/>
                <a:gd name="connsiteX2" fmla="*/ 0 w 1229724"/>
                <a:gd name="connsiteY2" fmla="*/ 257442 h 257442"/>
                <a:gd name="connsiteX3" fmla="*/ 0 w 1229724"/>
                <a:gd name="connsiteY3" fmla="*/ 0 h 257442"/>
                <a:gd name="connsiteX0" fmla="*/ 1229725 w 1229725"/>
                <a:gd name="connsiteY0" fmla="*/ 0 h 257442"/>
                <a:gd name="connsiteX1" fmla="*/ 1175003 w 1229725"/>
                <a:gd name="connsiteY1" fmla="*/ 257442 h 257442"/>
                <a:gd name="connsiteX2" fmla="*/ 0 w 1229725"/>
                <a:gd name="connsiteY2" fmla="*/ 257442 h 257442"/>
                <a:gd name="connsiteX3" fmla="*/ 1 w 1229725"/>
                <a:gd name="connsiteY3" fmla="*/ 0 h 257442"/>
                <a:gd name="connsiteX0" fmla="*/ 1229725 w 1229725"/>
                <a:gd name="connsiteY0" fmla="*/ 0 h 257442"/>
                <a:gd name="connsiteX1" fmla="*/ 1175003 w 1229725"/>
                <a:gd name="connsiteY1" fmla="*/ 257442 h 257442"/>
                <a:gd name="connsiteX2" fmla="*/ 0 w 1229725"/>
                <a:gd name="connsiteY2" fmla="*/ 257442 h 257442"/>
                <a:gd name="connsiteX3" fmla="*/ 1 w 1229725"/>
                <a:gd name="connsiteY3" fmla="*/ 0 h 257442"/>
                <a:gd name="connsiteX0" fmla="*/ 1542310 w 1542310"/>
                <a:gd name="connsiteY0" fmla="*/ 0 h 257442"/>
                <a:gd name="connsiteX1" fmla="*/ 1175003 w 1542310"/>
                <a:gd name="connsiteY1" fmla="*/ 257442 h 257442"/>
                <a:gd name="connsiteX2" fmla="*/ 0 w 1542310"/>
                <a:gd name="connsiteY2" fmla="*/ 257442 h 257442"/>
                <a:gd name="connsiteX3" fmla="*/ 1 w 1542310"/>
                <a:gd name="connsiteY3" fmla="*/ 0 h 257442"/>
                <a:gd name="connsiteX0" fmla="*/ 1542310 w 1542310"/>
                <a:gd name="connsiteY0" fmla="*/ 0 h 257442"/>
                <a:gd name="connsiteX1" fmla="*/ 1487588 w 1542310"/>
                <a:gd name="connsiteY1" fmla="*/ 257442 h 257442"/>
                <a:gd name="connsiteX2" fmla="*/ 0 w 1542310"/>
                <a:gd name="connsiteY2" fmla="*/ 257442 h 257442"/>
                <a:gd name="connsiteX3" fmla="*/ 1 w 1542310"/>
                <a:gd name="connsiteY3" fmla="*/ 0 h 257442"/>
                <a:gd name="connsiteX0" fmla="*/ 1542310 w 1542310"/>
                <a:gd name="connsiteY0" fmla="*/ 0 h 257442"/>
                <a:gd name="connsiteX1" fmla="*/ 1487588 w 1542310"/>
                <a:gd name="connsiteY1" fmla="*/ 257442 h 257442"/>
                <a:gd name="connsiteX2" fmla="*/ 0 w 1542310"/>
                <a:gd name="connsiteY2" fmla="*/ 257442 h 257442"/>
                <a:gd name="connsiteX3" fmla="*/ 1 w 1542310"/>
                <a:gd name="connsiteY3" fmla="*/ 0 h 257442"/>
                <a:gd name="connsiteX0" fmla="*/ 1542310 w 1542310"/>
                <a:gd name="connsiteY0" fmla="*/ 0 h 257442"/>
                <a:gd name="connsiteX1" fmla="*/ 1487588 w 1542310"/>
                <a:gd name="connsiteY1" fmla="*/ 257442 h 257442"/>
                <a:gd name="connsiteX2" fmla="*/ 0 w 1542310"/>
                <a:gd name="connsiteY2" fmla="*/ 257442 h 257442"/>
                <a:gd name="connsiteX3" fmla="*/ 0 w 1542310"/>
                <a:gd name="connsiteY3" fmla="*/ 0 h 257442"/>
                <a:gd name="connsiteX0" fmla="*/ 1710625 w 1710625"/>
                <a:gd name="connsiteY0" fmla="*/ 0 h 257442"/>
                <a:gd name="connsiteX1" fmla="*/ 1487588 w 1710625"/>
                <a:gd name="connsiteY1" fmla="*/ 257442 h 257442"/>
                <a:gd name="connsiteX2" fmla="*/ 0 w 1710625"/>
                <a:gd name="connsiteY2" fmla="*/ 257442 h 257442"/>
                <a:gd name="connsiteX3" fmla="*/ 0 w 1710625"/>
                <a:gd name="connsiteY3" fmla="*/ 0 h 257442"/>
                <a:gd name="connsiteX0" fmla="*/ 1710625 w 1710625"/>
                <a:gd name="connsiteY0" fmla="*/ 0 h 257442"/>
                <a:gd name="connsiteX1" fmla="*/ 1655904 w 1710625"/>
                <a:gd name="connsiteY1" fmla="*/ 257442 h 257442"/>
                <a:gd name="connsiteX2" fmla="*/ 0 w 1710625"/>
                <a:gd name="connsiteY2" fmla="*/ 257442 h 257442"/>
                <a:gd name="connsiteX3" fmla="*/ 0 w 1710625"/>
                <a:gd name="connsiteY3" fmla="*/ 0 h 257442"/>
                <a:gd name="connsiteX0" fmla="*/ 1710625 w 1710625"/>
                <a:gd name="connsiteY0" fmla="*/ 0 h 257442"/>
                <a:gd name="connsiteX1" fmla="*/ 1655904 w 1710625"/>
                <a:gd name="connsiteY1" fmla="*/ 257442 h 257442"/>
                <a:gd name="connsiteX2" fmla="*/ 0 w 1710625"/>
                <a:gd name="connsiteY2" fmla="*/ 257442 h 257442"/>
                <a:gd name="connsiteX3" fmla="*/ 0 w 1710625"/>
                <a:gd name="connsiteY3" fmla="*/ 0 h 257442"/>
                <a:gd name="connsiteX0" fmla="*/ 1710625 w 1710625"/>
                <a:gd name="connsiteY0" fmla="*/ 0 h 257442"/>
                <a:gd name="connsiteX1" fmla="*/ 1655904 w 1710625"/>
                <a:gd name="connsiteY1" fmla="*/ 257442 h 257442"/>
                <a:gd name="connsiteX2" fmla="*/ 0 w 1710625"/>
                <a:gd name="connsiteY2" fmla="*/ 257442 h 257442"/>
                <a:gd name="connsiteX3" fmla="*/ 0 w 1710625"/>
                <a:gd name="connsiteY3" fmla="*/ 0 h 257442"/>
                <a:gd name="connsiteX0" fmla="*/ 1878939 w 1878939"/>
                <a:gd name="connsiteY0" fmla="*/ 0 h 257442"/>
                <a:gd name="connsiteX1" fmla="*/ 1655904 w 1878939"/>
                <a:gd name="connsiteY1" fmla="*/ 257442 h 257442"/>
                <a:gd name="connsiteX2" fmla="*/ 0 w 1878939"/>
                <a:gd name="connsiteY2" fmla="*/ 257442 h 257442"/>
                <a:gd name="connsiteX3" fmla="*/ 0 w 1878939"/>
                <a:gd name="connsiteY3" fmla="*/ 0 h 257442"/>
                <a:gd name="connsiteX0" fmla="*/ 1878939 w 1878939"/>
                <a:gd name="connsiteY0" fmla="*/ 0 h 257442"/>
                <a:gd name="connsiteX1" fmla="*/ 1824218 w 1878939"/>
                <a:gd name="connsiteY1" fmla="*/ 257442 h 257442"/>
                <a:gd name="connsiteX2" fmla="*/ 0 w 1878939"/>
                <a:gd name="connsiteY2" fmla="*/ 257442 h 257442"/>
                <a:gd name="connsiteX3" fmla="*/ 0 w 1878939"/>
                <a:gd name="connsiteY3" fmla="*/ 0 h 257442"/>
                <a:gd name="connsiteX0" fmla="*/ 1878939 w 1878939"/>
                <a:gd name="connsiteY0" fmla="*/ 0 h 257442"/>
                <a:gd name="connsiteX1" fmla="*/ 1824218 w 1878939"/>
                <a:gd name="connsiteY1" fmla="*/ 257442 h 257442"/>
                <a:gd name="connsiteX2" fmla="*/ 0 w 1878939"/>
                <a:gd name="connsiteY2" fmla="*/ 257442 h 257442"/>
                <a:gd name="connsiteX3" fmla="*/ 0 w 1878939"/>
                <a:gd name="connsiteY3" fmla="*/ 0 h 257442"/>
                <a:gd name="connsiteX0" fmla="*/ 1878939 w 1878939"/>
                <a:gd name="connsiteY0" fmla="*/ 0 h 257442"/>
                <a:gd name="connsiteX1" fmla="*/ 1824218 w 1878939"/>
                <a:gd name="connsiteY1" fmla="*/ 257442 h 257442"/>
                <a:gd name="connsiteX2" fmla="*/ 0 w 1878939"/>
                <a:gd name="connsiteY2" fmla="*/ 257442 h 257442"/>
                <a:gd name="connsiteX3" fmla="*/ 0 w 1878939"/>
                <a:gd name="connsiteY3" fmla="*/ 0 h 257442"/>
                <a:gd name="connsiteX0" fmla="*/ 2148244 w 2148244"/>
                <a:gd name="connsiteY0" fmla="*/ 0 h 257442"/>
                <a:gd name="connsiteX1" fmla="*/ 1824218 w 2148244"/>
                <a:gd name="connsiteY1" fmla="*/ 257442 h 257442"/>
                <a:gd name="connsiteX2" fmla="*/ 0 w 2148244"/>
                <a:gd name="connsiteY2" fmla="*/ 257442 h 257442"/>
                <a:gd name="connsiteX3" fmla="*/ 0 w 2148244"/>
                <a:gd name="connsiteY3" fmla="*/ 0 h 257442"/>
                <a:gd name="connsiteX0" fmla="*/ 2148244 w 2148244"/>
                <a:gd name="connsiteY0" fmla="*/ 0 h 257442"/>
                <a:gd name="connsiteX1" fmla="*/ 2093522 w 2148244"/>
                <a:gd name="connsiteY1" fmla="*/ 257442 h 257442"/>
                <a:gd name="connsiteX2" fmla="*/ 0 w 2148244"/>
                <a:gd name="connsiteY2" fmla="*/ 257442 h 257442"/>
                <a:gd name="connsiteX3" fmla="*/ 0 w 2148244"/>
                <a:gd name="connsiteY3" fmla="*/ 0 h 257442"/>
                <a:gd name="connsiteX0" fmla="*/ 2148245 w 2148245"/>
                <a:gd name="connsiteY0" fmla="*/ 0 h 257442"/>
                <a:gd name="connsiteX1" fmla="*/ 2093523 w 2148245"/>
                <a:gd name="connsiteY1" fmla="*/ 257442 h 257442"/>
                <a:gd name="connsiteX2" fmla="*/ 0 w 2148245"/>
                <a:gd name="connsiteY2" fmla="*/ 257442 h 257442"/>
                <a:gd name="connsiteX3" fmla="*/ 1 w 2148245"/>
                <a:gd name="connsiteY3" fmla="*/ 0 h 257442"/>
                <a:gd name="connsiteX0" fmla="*/ 2148245 w 2148245"/>
                <a:gd name="connsiteY0" fmla="*/ 0 h 257442"/>
                <a:gd name="connsiteX1" fmla="*/ 2093523 w 2148245"/>
                <a:gd name="connsiteY1" fmla="*/ 257442 h 257442"/>
                <a:gd name="connsiteX2" fmla="*/ 0 w 2148245"/>
                <a:gd name="connsiteY2" fmla="*/ 257442 h 257442"/>
                <a:gd name="connsiteX3" fmla="*/ 1 w 2148245"/>
                <a:gd name="connsiteY3" fmla="*/ 0 h 257442"/>
                <a:gd name="connsiteX0" fmla="*/ 2326179 w 2326179"/>
                <a:gd name="connsiteY0" fmla="*/ 0 h 257442"/>
                <a:gd name="connsiteX1" fmla="*/ 2093523 w 2326179"/>
                <a:gd name="connsiteY1" fmla="*/ 257442 h 257442"/>
                <a:gd name="connsiteX2" fmla="*/ 0 w 2326179"/>
                <a:gd name="connsiteY2" fmla="*/ 257442 h 257442"/>
                <a:gd name="connsiteX3" fmla="*/ 1 w 2326179"/>
                <a:gd name="connsiteY3" fmla="*/ 0 h 257442"/>
                <a:gd name="connsiteX0" fmla="*/ 2326179 w 2326179"/>
                <a:gd name="connsiteY0" fmla="*/ 0 h 257442"/>
                <a:gd name="connsiteX1" fmla="*/ 2271458 w 2326179"/>
                <a:gd name="connsiteY1" fmla="*/ 257442 h 257442"/>
                <a:gd name="connsiteX2" fmla="*/ 0 w 2326179"/>
                <a:gd name="connsiteY2" fmla="*/ 257442 h 257442"/>
                <a:gd name="connsiteX3" fmla="*/ 1 w 2326179"/>
                <a:gd name="connsiteY3" fmla="*/ 0 h 257442"/>
                <a:gd name="connsiteX0" fmla="*/ 2326178 w 2326178"/>
                <a:gd name="connsiteY0" fmla="*/ 0 h 257442"/>
                <a:gd name="connsiteX1" fmla="*/ 2271457 w 2326178"/>
                <a:gd name="connsiteY1" fmla="*/ 257442 h 257442"/>
                <a:gd name="connsiteX2" fmla="*/ 0 w 2326178"/>
                <a:gd name="connsiteY2" fmla="*/ 257442 h 257442"/>
                <a:gd name="connsiteX3" fmla="*/ 0 w 2326178"/>
                <a:gd name="connsiteY3" fmla="*/ 0 h 257442"/>
                <a:gd name="connsiteX0" fmla="*/ 2326179 w 2326179"/>
                <a:gd name="connsiteY0" fmla="*/ 0 h 257442"/>
                <a:gd name="connsiteX1" fmla="*/ 2271458 w 2326179"/>
                <a:gd name="connsiteY1" fmla="*/ 257442 h 257442"/>
                <a:gd name="connsiteX2" fmla="*/ 1 w 2326179"/>
                <a:gd name="connsiteY2" fmla="*/ 257442 h 257442"/>
                <a:gd name="connsiteX3" fmla="*/ 0 w 2326179"/>
                <a:gd name="connsiteY3" fmla="*/ 0 h 2574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26179" h="257442">
                  <a:moveTo>
                    <a:pt x="2326179" y="0"/>
                  </a:moveTo>
                  <a:lnTo>
                    <a:pt x="2271458" y="257442"/>
                  </a:lnTo>
                  <a:lnTo>
                    <a:pt x="1" y="2574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C5C5C"/>
            </a:solidFill>
            <a:ln w="9525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22" name="btfpRunningAgenda1LevelTextLeft331797">
              <a:extLst>
                <a:ext uri="{FF2B5EF4-FFF2-40B4-BE49-F238E27FC236}">
                  <a16:creationId xmlns:a16="http://schemas.microsoft.com/office/drawing/2014/main" id="{25949CD4-4CC7-7854-318C-71D89A94D813}"/>
                </a:ext>
              </a:extLst>
            </p:cNvPr>
            <p:cNvSpPr txBox="1"/>
            <p:nvPr/>
          </p:nvSpPr>
          <p:spPr bwMode="gray">
            <a:xfrm>
              <a:off x="0" y="876300"/>
              <a:ext cx="2372445" cy="257442"/>
            </a:xfrm>
            <a:prstGeom prst="rect">
              <a:avLst/>
            </a:prstGeom>
            <a:noFill/>
          </p:spPr>
          <p:txBody>
            <a:bodyPr vert="horz" wrap="none" lIns="360363" tIns="36036" rIns="360363" bIns="36036" rtlCol="0" anchor="t">
              <a:spAutoFit/>
            </a:bodyPr>
            <a:lstStyle/>
            <a:p>
              <a:pPr marL="0" indent="0">
                <a:spcBef>
                  <a:spcPts val="0"/>
                </a:spcBef>
                <a:buNone/>
              </a:pPr>
              <a:r>
                <a:rPr lang="en-US" sz="1200" b="1" cap="all" spc="450" dirty="0">
                  <a:solidFill>
                    <a:srgbClr val="FFFFFF"/>
                  </a:solidFill>
                </a:rPr>
                <a:t>BIOTECH CO.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1769470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5C591-FFA6-FA44-303B-3E08C0C71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hink-cell data - do not delete" hidden="1">
            <a:extLst>
              <a:ext uri="{FF2B5EF4-FFF2-40B4-BE49-F238E27FC236}">
                <a16:creationId xmlns:a16="http://schemas.microsoft.com/office/drawing/2014/main" id="{86DEEF91-B2CD-D8AE-C3AD-9B569D490D0F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8495004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360" imgH="360" progId="TCLayout.ActiveDocument.1">
                  <p:embed/>
                </p:oleObj>
              </mc:Choice>
              <mc:Fallback>
                <p:oleObj name="think-cell Slide" r:id="rId11" imgW="360" imgH="360" progId="TCLayout.ActiveDocument.1">
                  <p:embed/>
                  <p:pic>
                    <p:nvPicPr>
                      <p:cNvPr id="1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6DEEF91-B2CD-D8AE-C3AD-9B569D490D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7" name="btfpPhotoGeneric261510">
            <a:extLst>
              <a:ext uri="{FF2B5EF4-FFF2-40B4-BE49-F238E27FC236}">
                <a16:creationId xmlns:a16="http://schemas.microsoft.com/office/drawing/2014/main" id="{B81339AB-E584-FBE6-C338-212841382F9F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" t="46792" r="7" b="46792"/>
          <a:stretch>
            <a:fillRect/>
          </a:stretch>
        </p:blipFill>
        <p:spPr>
          <a:xfrm>
            <a:off x="166338" y="1242119"/>
            <a:ext cx="11531642" cy="489687"/>
          </a:xfrm>
          <a:prstGeom prst="rect">
            <a:avLst/>
          </a:prstGeom>
        </p:spPr>
      </p:pic>
      <p:graphicFrame>
        <p:nvGraphicFramePr>
          <p:cNvPr id="15" name="btfpTable642749">
            <a:extLst>
              <a:ext uri="{FF2B5EF4-FFF2-40B4-BE49-F238E27FC236}">
                <a16:creationId xmlns:a16="http://schemas.microsoft.com/office/drawing/2014/main" id="{C23AD116-BAB2-2BD3-66E7-2CA1EC1D351A}"/>
              </a:ext>
            </a:extLst>
          </p:cNvPr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2067229613"/>
              </p:ext>
            </p:extLst>
          </p:nvPr>
        </p:nvGraphicFramePr>
        <p:xfrm>
          <a:off x="165099" y="1254573"/>
          <a:ext cx="11531604" cy="5402568"/>
        </p:xfrm>
        <a:graphic>
          <a:graphicData uri="http://schemas.openxmlformats.org/drawingml/2006/table">
            <a:tbl>
              <a:tblPr firstRow="1" firstCol="1">
                <a:tableStyleId>{9D7B26C5-4107-4FEC-AEDC-1716B250A1EF}</a:tableStyleId>
              </a:tblPr>
              <a:tblGrid>
                <a:gridCol w="1077547">
                  <a:extLst>
                    <a:ext uri="{9D8B030D-6E8A-4147-A177-3AD203B41FA5}">
                      <a16:colId xmlns:a16="http://schemas.microsoft.com/office/drawing/2014/main" val="3439300168"/>
                    </a:ext>
                  </a:extLst>
                </a:gridCol>
                <a:gridCol w="3456575">
                  <a:extLst>
                    <a:ext uri="{9D8B030D-6E8A-4147-A177-3AD203B41FA5}">
                      <a16:colId xmlns:a16="http://schemas.microsoft.com/office/drawing/2014/main" val="3415317160"/>
                    </a:ext>
                  </a:extLst>
                </a:gridCol>
                <a:gridCol w="1924216">
                  <a:extLst>
                    <a:ext uri="{9D8B030D-6E8A-4147-A177-3AD203B41FA5}">
                      <a16:colId xmlns:a16="http://schemas.microsoft.com/office/drawing/2014/main" val="1337811024"/>
                    </a:ext>
                  </a:extLst>
                </a:gridCol>
                <a:gridCol w="2744299">
                  <a:extLst>
                    <a:ext uri="{9D8B030D-6E8A-4147-A177-3AD203B41FA5}">
                      <a16:colId xmlns:a16="http://schemas.microsoft.com/office/drawing/2014/main" val="1273837817"/>
                    </a:ext>
                  </a:extLst>
                </a:gridCol>
                <a:gridCol w="2328967">
                  <a:extLst>
                    <a:ext uri="{9D8B030D-6E8A-4147-A177-3AD203B41FA5}">
                      <a16:colId xmlns:a16="http://schemas.microsoft.com/office/drawing/2014/main" val="3436980134"/>
                    </a:ext>
                  </a:extLst>
                </a:gridCol>
              </a:tblGrid>
              <a:tr h="441379">
                <a:tc>
                  <a:txBody>
                    <a:bodyPr/>
                    <a:lstStyle/>
                    <a:p>
                      <a:pPr marL="0" lvl="0" indent="0" algn="l" defTabSz="711200" rtl="0" eaLnBrk="1" latinLnBrk="0" hangingPunct="1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US" sz="1000" b="1" i="0" u="none" baseline="0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Service line</a:t>
                      </a:r>
                    </a:p>
                  </a:txBody>
                  <a:tcPr anchor="b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defTabSz="711200" rtl="0" eaLnBrk="1" latinLnBrk="0" hangingPunct="1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US" sz="1000" b="1" i="0" u="none" baseline="0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Current vendor landscape</a:t>
                      </a:r>
                    </a:p>
                  </a:txBody>
                  <a:tcPr anchor="b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defTabSz="711200" rtl="0" eaLnBrk="1" latinLnBrk="0" hangingPunct="1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US" sz="1000" b="1" i="0" u="none" baseline="0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Primary drivers of dissatisfaction</a:t>
                      </a:r>
                    </a:p>
                  </a:txBody>
                  <a:tcPr anchor="b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defTabSz="711200" rtl="0" eaLnBrk="1" latinLnBrk="0" hangingPunct="1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US" sz="1000" b="1" i="0" u="none" baseline="0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Triggers for switching vendors </a:t>
                      </a:r>
                      <a:r>
                        <a:rPr lang="en-US" sz="1000" b="0" i="1" u="none" baseline="0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(Potential entry wedge for new vendors)</a:t>
                      </a:r>
                    </a:p>
                  </a:txBody>
                  <a:tcPr anchor="b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defTabSz="711200" rtl="0" eaLnBrk="1" latinLnBrk="0" hangingPunct="1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US" sz="1000" b="1" i="0" u="none" baseline="0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Potential scope expansion </a:t>
                      </a:r>
                      <a:r>
                        <a:rPr lang="en-US" sz="1000" b="0" i="1" u="none" baseline="0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(Emerging areas with potential o/s)</a:t>
                      </a:r>
                    </a:p>
                  </a:txBody>
                  <a:tcPr anchor="b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6073152"/>
                  </a:ext>
                </a:extLst>
              </a:tr>
              <a:tr h="2790483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</a:rPr>
                        <a:t>Medical Affairs</a:t>
                      </a:r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7800" indent="-1778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800" b="1"/>
                        <a:t>IQVIA:</a:t>
                      </a:r>
                      <a:r>
                        <a:rPr lang="en-US" sz="800"/>
                        <a:t> MI ops &amp; medical content/ comms. support incl. scientific materials creation &amp; physician-level claims and analytics to prioritize &amp; select KOLs for medical advisory boards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800" b="1"/>
                        <a:t>Syneos Health &amp; EVERSANA:</a:t>
                      </a:r>
                      <a:r>
                        <a:rPr lang="en-US" sz="800"/>
                        <a:t> KOL engagement support (E2E logistics &amp; execution for medical advisory boards; Syneos for oncology, EVERSANA for others)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800" b="1"/>
                        <a:t>ZS Associates:</a:t>
                      </a:r>
                      <a:r>
                        <a:rPr lang="en-US" sz="800"/>
                        <a:t> KOL mapping &amp; field medical enablement analytics (incl. physician segmentation/ targeting outputs)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800" b="1"/>
                        <a:t>Komodo Health:</a:t>
                      </a:r>
                      <a:r>
                        <a:rPr lang="en-US" sz="800"/>
                        <a:t> RWE/ claims-data enablement for MA analytics (claims-based data that support KOL mapping, insight generation)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800" b="1"/>
                        <a:t>ProPharma:</a:t>
                      </a:r>
                      <a:r>
                        <a:rPr lang="en-US" sz="800"/>
                        <a:t> MSL enablement via contract field-medical resourcing (incl. provision of contract MSL capacity to support MSL coverage/ execution where internal teams remain accountable)</a:t>
                      </a:r>
                    </a:p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800" b="1"/>
                        <a:t>Ropes &amp; Gray (external counsel):</a:t>
                      </a:r>
                      <a:r>
                        <a:rPr lang="en-US" sz="800"/>
                        <a:t> Medical-legal review support aligned to MA approval needs (incl. legal/ compliance review of externally facing medical materials/ tools that require high scrutiny)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</a:pPr>
                      <a:r>
                        <a:rPr lang="en-US" sz="800" b="1" u="sng"/>
                        <a:t>IQVIA</a:t>
                      </a:r>
                      <a:r>
                        <a:rPr lang="en-US" sz="800" b="1" u="none"/>
                        <a:t>: </a:t>
                      </a:r>
                      <a:r>
                        <a:rPr lang="en-US" sz="800"/>
                        <a:t>Slow iteration cycles on analytics, lack of visible cost dec. despite AI workflows and high cost vs. perceived efficiency gains</a:t>
                      </a:r>
                    </a:p>
                    <a:p>
                      <a:pPr>
                        <a:spcBef>
                          <a:spcPts val="600"/>
                        </a:spcBef>
                      </a:pPr>
                      <a:r>
                        <a:rPr lang="en-US" sz="800" b="1" u="sng"/>
                        <a:t>ZS Associates</a:t>
                      </a:r>
                      <a:r>
                        <a:rPr lang="en-US" sz="800" b="1"/>
                        <a:t>: </a:t>
                      </a:r>
                      <a:r>
                        <a:rPr lang="en-US" sz="800"/>
                        <a:t>Slow data iterations leading to delayed decision cycles; rigid delivery model</a:t>
                      </a:r>
                    </a:p>
                    <a:p>
                      <a:pPr marL="0" lvl="0" indent="0">
                        <a:spcBef>
                          <a:spcPts val="600"/>
                        </a:spcBef>
                        <a:buNone/>
                      </a:pPr>
                      <a:r>
                        <a:rPr lang="en-US" sz="800" b="1"/>
                        <a:t>Selective SoW re-allocation from IQVIA and ZS to Komodo</a:t>
                      </a:r>
                      <a:r>
                        <a:rPr lang="en-US" sz="800"/>
                        <a:t>, given faster turnaround &amp; better access to datasets</a:t>
                      </a:r>
                    </a:p>
                    <a:p>
                      <a:pPr lvl="0">
                        <a:spcBef>
                          <a:spcPts val="600"/>
                        </a:spcBef>
                      </a:pPr>
                      <a:r>
                        <a:rPr lang="en-US" sz="800" b="1" u="sng"/>
                        <a:t>ProPharma</a:t>
                      </a:r>
                      <a:r>
                        <a:rPr lang="en-US" sz="800" b="1"/>
                        <a:t>:</a:t>
                      </a:r>
                      <a:r>
                        <a:rPr lang="en-US" sz="800"/>
                        <a:t> Quality of contract MSL deployment varied by individual, with occasional gaps in depth of therapeutic expertise across field medical resources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800" b="1" dirty="0"/>
                        <a:t>Low implementation speed: </a:t>
                      </a:r>
                      <a:r>
                        <a:rPr lang="en-US" sz="800" dirty="0"/>
                        <a:t>Inability to stand up compliant MLR workflows and dashboards within timelines, coupled with prolonged review cycles, excessive iterations that delay asset approvals- impacting launch agility (even 20-30% time reduction is materially valued)</a:t>
                      </a:r>
                    </a:p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800" b="1" dirty="0"/>
                        <a:t>Lack of executive reporting tools: </a:t>
                      </a:r>
                      <a:r>
                        <a:rPr lang="en-US" sz="800" dirty="0"/>
                        <a:t>Lack of structured insight capture, executive-ready dashboards, and cross-functional reporting; leadership demands clear “insight-to-action” performance transparency</a:t>
                      </a:r>
                    </a:p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800" b="1" dirty="0"/>
                        <a:t>Operational instability:</a:t>
                      </a:r>
                      <a:r>
                        <a:rPr lang="en-US" sz="800" dirty="0"/>
                        <a:t> Inability to support lean teams facing scale pressure</a:t>
                      </a:r>
                    </a:p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800" b="1" dirty="0"/>
                        <a:t>Insufficient scientific credibility in execution: </a:t>
                      </a:r>
                      <a:r>
                        <a:rPr lang="en-US" sz="800" dirty="0"/>
                        <a:t>Gaps in medical oversight, regulatory fluency, or pharma-specific governance -  esp. when delivery depth doesn’t match RFP-stage positioning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</a:pPr>
                      <a:r>
                        <a:rPr lang="en-US" sz="800" b="1" dirty="0"/>
                        <a:t>AI-driven medical content creation/ analytics: </a:t>
                      </a:r>
                      <a:r>
                        <a:rPr lang="en-US" sz="800" b="0" dirty="0"/>
                        <a:t>AI/ GenAI to enhance medical content creation &amp; RWE/ HEOR analytics</a:t>
                      </a:r>
                      <a:endParaRPr lang="en-US" sz="800" b="1" dirty="0"/>
                    </a:p>
                    <a:p>
                      <a:pPr>
                        <a:spcBef>
                          <a:spcPts val="600"/>
                        </a:spcBef>
                      </a:pPr>
                      <a:r>
                        <a:rPr lang="en-US" sz="800" b="1" dirty="0"/>
                        <a:t>Differentiated capability-led entry: </a:t>
                      </a:r>
                      <a:r>
                        <a:rPr lang="en-US" sz="800" b="0" dirty="0"/>
                        <a:t>S</a:t>
                      </a:r>
                      <a:r>
                        <a:rPr lang="en-US" sz="800" dirty="0"/>
                        <a:t>uperior physician-level data granularity or materially faster analytical turnaround - as seen in Komodo’s incremental SoW expansion driven by prescription-level data access &amp; faster refresh cycles</a:t>
                      </a:r>
                    </a:p>
                    <a:p>
                      <a:pPr>
                        <a:spcBef>
                          <a:spcPts val="600"/>
                        </a:spcBef>
                      </a:pPr>
                      <a:r>
                        <a:rPr lang="en-US" sz="800" b="1" dirty="0"/>
                        <a:t>Pockets of strategic work on back of strong domain expertise:</a:t>
                      </a:r>
                      <a:r>
                        <a:rPr lang="en-US" sz="800" dirty="0"/>
                        <a:t> Opportunity to externalize KOL strategy, evidence planning, scientific narrative development (with a narrow scope – e.g., for one asset with significant inhouse involvement) – today largely internal or fragmented, to specialized MA partners with deep expertise in focus domain/ TA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730996"/>
                  </a:ext>
                </a:extLst>
              </a:tr>
              <a:tr h="2170706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</a:rPr>
                        <a:t>Pharmaco-vigilance</a:t>
                      </a:r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800" b="1"/>
                        <a:t>Syneos Health:</a:t>
                      </a:r>
                      <a:r>
                        <a:rPr lang="en-US" sz="800"/>
                        <a:t> Ops support, incl. guiding AE protocol setup and supporting AE intake workflows</a:t>
                      </a:r>
                    </a:p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800" b="1"/>
                        <a:t>TELUS (Canada):</a:t>
                      </a:r>
                      <a:r>
                        <a:rPr lang="en-US" sz="800"/>
                        <a:t> PV intake infra provider, setting up and running calls (call routing, recording for compliance &amp; backend call-center IT systems) </a:t>
                      </a:r>
                    </a:p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800" b="1"/>
                        <a:t>Ropes &amp; Gray (Legal Counsel):</a:t>
                      </a:r>
                      <a:r>
                        <a:rPr lang="en-US" sz="800"/>
                        <a:t> Pharmacovigilance legal and compliance support, constructing and reviewing patient-facing safety scripts, intake language to ensure FDA aligned comm. standards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7800" indent="-177800">
                        <a:spcBef>
                          <a:spcPts val="600"/>
                        </a:spcBef>
                      </a:pPr>
                      <a:r>
                        <a:rPr lang="en-US" sz="800" i="1" u="none" dirty="0"/>
                        <a:t>No major dissatisfaction cited with the current vendors- except some minor setup friction during initial implementation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</a:pPr>
                      <a:r>
                        <a:rPr lang="en-US" sz="800" b="1" dirty="0"/>
                        <a:t>Case Processing Delays:</a:t>
                      </a:r>
                      <a:r>
                        <a:rPr lang="en-US" sz="800" dirty="0"/>
                        <a:t> Persistent ICSR</a:t>
                      </a:r>
                      <a:r>
                        <a:rPr lang="en-US" sz="800" baseline="30000" dirty="0"/>
                        <a:t>1</a:t>
                      </a:r>
                      <a:r>
                        <a:rPr lang="en-US" sz="800" dirty="0"/>
                        <a:t> intake backlogs driven by manual-heavy workflows, lack of automation (e.g., NLP/OCR, auto-triage, duplicate detection), increasing compliance risk &amp; cost burden</a:t>
                      </a:r>
                    </a:p>
                    <a:p>
                      <a:pPr>
                        <a:spcBef>
                          <a:spcPts val="300"/>
                        </a:spcBef>
                      </a:pPr>
                      <a:r>
                        <a:rPr lang="en-US" sz="800" b="1" dirty="0"/>
                        <a:t>Inspection Readiness Gaps:</a:t>
                      </a:r>
                      <a:r>
                        <a:rPr lang="en-US" sz="800" dirty="0"/>
                        <a:t> Audit trail gaps and inconsistent doc. due to weak workflow controls, reporting infra, creating regulatory vulnerability</a:t>
                      </a:r>
                    </a:p>
                    <a:p>
                      <a:pPr>
                        <a:spcBef>
                          <a:spcPts val="300"/>
                        </a:spcBef>
                      </a:pPr>
                      <a:r>
                        <a:rPr lang="en-US" sz="800" b="1" dirty="0"/>
                        <a:t>Data Integrity Risks:</a:t>
                      </a:r>
                      <a:r>
                        <a:rPr lang="en-US" sz="800" dirty="0"/>
                        <a:t> Inaccurate coding, narrative errors, poor database governance undermine signal reliability and regulatory credibility</a:t>
                      </a:r>
                    </a:p>
                    <a:p>
                      <a:pPr>
                        <a:spcBef>
                          <a:spcPts val="300"/>
                        </a:spcBef>
                      </a:pPr>
                      <a:r>
                        <a:rPr lang="en-US" sz="800" b="1" dirty="0"/>
                        <a:t>Lack of Medical Oversight:</a:t>
                      </a:r>
                      <a:r>
                        <a:rPr lang="en-US" sz="800" dirty="0"/>
                        <a:t> Misalignment between advertised MD/ PharmD governance and day-to-day medical signal ownership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300"/>
                        </a:spcBef>
                        <a:buNone/>
                      </a:pPr>
                      <a:r>
                        <a:rPr lang="en-US" sz="800" b="1" dirty="0"/>
                        <a:t>Limited expansion appetite; scope increases only where operational efficiency improves without elevating compliance risk</a:t>
                      </a:r>
                    </a:p>
                    <a:p>
                      <a:pPr marL="177800" indent="-177800">
                        <a:spcBef>
                          <a:spcPts val="300"/>
                        </a:spcBef>
                      </a:pPr>
                      <a:r>
                        <a:rPr lang="en-US" sz="800" b="1" dirty="0"/>
                        <a:t>Automation-led intake outsourcing:</a:t>
                      </a:r>
                      <a:r>
                        <a:rPr lang="en-US" sz="800" dirty="0"/>
                        <a:t> Work packages that embed automation (e.g., NLP-enabled intake, auto-triage, duplicate detection etc.) into existing AE workflows -  delivering FTE savings</a:t>
                      </a:r>
                    </a:p>
                    <a:p>
                      <a:pPr marL="177800" indent="-177800">
                        <a:spcBef>
                          <a:spcPts val="300"/>
                        </a:spcBef>
                      </a:pPr>
                      <a:r>
                        <a:rPr lang="en-US" sz="800" b="1" dirty="0"/>
                        <a:t>Surge-driven scope expansion:</a:t>
                      </a:r>
                      <a:r>
                        <a:rPr lang="en-US" sz="800" dirty="0"/>
                        <a:t> Increase in o/s during launch spikes and call volume volatility - shifting incremental intake and case processing volumes to vendors rather than scaling fixed internal headcount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1789851"/>
                  </a:ext>
                </a:extLst>
              </a:tr>
            </a:tbl>
          </a:graphicData>
        </a:graphic>
      </p:graphicFrame>
      <p:sp>
        <p:nvSpPr>
          <p:cNvPr id="31" name="btfpNotesBox429293">
            <a:extLst>
              <a:ext uri="{FF2B5EF4-FFF2-40B4-BE49-F238E27FC236}">
                <a16:creationId xmlns:a16="http://schemas.microsoft.com/office/drawing/2014/main" id="{37D6A41E-8B23-FEBB-F1E0-CBCF34DC7BFC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gray">
          <a:xfrm>
            <a:off x="330200" y="6681106"/>
            <a:ext cx="9657858" cy="123111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 anchor="b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800">
                <a:solidFill>
                  <a:srgbClr val="000000"/>
                </a:solidFill>
              </a:rPr>
              <a:t>Source: Market participant interviews, Bain analysis </a:t>
            </a:r>
          </a:p>
        </p:txBody>
      </p:sp>
      <p:grpSp>
        <p:nvGrpSpPr>
          <p:cNvPr id="12" name="btfpColumnIndicatorGroup2">
            <a:extLst>
              <a:ext uri="{FF2B5EF4-FFF2-40B4-BE49-F238E27FC236}">
                <a16:creationId xmlns:a16="http://schemas.microsoft.com/office/drawing/2014/main" id="{6D8BAFBF-E591-EEAA-6407-A2F0DEFB8F89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10" name="btfpColumnGapBlocker597887">
              <a:extLst>
                <a:ext uri="{FF2B5EF4-FFF2-40B4-BE49-F238E27FC236}">
                  <a16:creationId xmlns:a16="http://schemas.microsoft.com/office/drawing/2014/main" id="{9F070560-6890-D5B8-2707-5ACCF5B74A49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8" name="btfpColumnGapBlocker710399">
              <a:extLst>
                <a:ext uri="{FF2B5EF4-FFF2-40B4-BE49-F238E27FC236}">
                  <a16:creationId xmlns:a16="http://schemas.microsoft.com/office/drawing/2014/main" id="{C5F9F4C3-5A4F-CFCE-8673-75FAB2BD921E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6" name="btfpColumnIndicator128682">
              <a:extLst>
                <a:ext uri="{FF2B5EF4-FFF2-40B4-BE49-F238E27FC236}">
                  <a16:creationId xmlns:a16="http://schemas.microsoft.com/office/drawing/2014/main" id="{8C83C082-6D69-E234-A5B2-B54F84944CF8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btfpColumnIndicator962947">
              <a:extLst>
                <a:ext uri="{FF2B5EF4-FFF2-40B4-BE49-F238E27FC236}">
                  <a16:creationId xmlns:a16="http://schemas.microsoft.com/office/drawing/2014/main" id="{CF23C478-CFC4-0C54-352C-56D81644759B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btfpColumnIndicatorGroup1">
            <a:extLst>
              <a:ext uri="{FF2B5EF4-FFF2-40B4-BE49-F238E27FC236}">
                <a16:creationId xmlns:a16="http://schemas.microsoft.com/office/drawing/2014/main" id="{FA3367A3-618B-39FD-DC44-590B67D9DFB4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9" name="btfpColumnGapBlocker192180">
              <a:extLst>
                <a:ext uri="{FF2B5EF4-FFF2-40B4-BE49-F238E27FC236}">
                  <a16:creationId xmlns:a16="http://schemas.microsoft.com/office/drawing/2014/main" id="{A85F554A-EBC4-5C74-C662-D86322E7ECA4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7" name="btfpColumnGapBlocker142960">
              <a:extLst>
                <a:ext uri="{FF2B5EF4-FFF2-40B4-BE49-F238E27FC236}">
                  <a16:creationId xmlns:a16="http://schemas.microsoft.com/office/drawing/2014/main" id="{EAF28A80-6C37-1225-022C-426B370B26BB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5" name="btfpColumnIndicator689214">
              <a:extLst>
                <a:ext uri="{FF2B5EF4-FFF2-40B4-BE49-F238E27FC236}">
                  <a16:creationId xmlns:a16="http://schemas.microsoft.com/office/drawing/2014/main" id="{3288FBB9-1641-878E-C3C0-41C027AE7F94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btfpColumnIndicator604722">
              <a:extLst>
                <a:ext uri="{FF2B5EF4-FFF2-40B4-BE49-F238E27FC236}">
                  <a16:creationId xmlns:a16="http://schemas.microsoft.com/office/drawing/2014/main" id="{C4E8E912-819F-EBCD-2B25-71BEF2363AC8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5FC8E13-5980-C2E3-8B48-A6FBF24C4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b="1" dirty="0"/>
              <a:t>Potential value prop - Ipsen (1/3): </a:t>
            </a:r>
            <a:r>
              <a:rPr lang="en-US"/>
              <a:t>Scope to win by leveraging AI/ automation, reducing turnaround times, specialized expertise, and flex staffing model</a:t>
            </a:r>
          </a:p>
        </p:txBody>
      </p:sp>
      <p:grpSp>
        <p:nvGrpSpPr>
          <p:cNvPr id="75" name="btfpIcon746608">
            <a:extLst>
              <a:ext uri="{FF2B5EF4-FFF2-40B4-BE49-F238E27FC236}">
                <a16:creationId xmlns:a16="http://schemas.microsoft.com/office/drawing/2014/main" id="{CBF66845-4015-5EBD-D9AF-CAA6C7F0A611}"/>
              </a:ext>
            </a:extLst>
          </p:cNvPr>
          <p:cNvGrpSpPr>
            <a:grpSpLocks noChangeAspect="1"/>
          </p:cNvGrpSpPr>
          <p:nvPr>
            <p:custDataLst>
              <p:tags r:id="rId6"/>
            </p:custDataLst>
          </p:nvPr>
        </p:nvGrpSpPr>
        <p:grpSpPr>
          <a:xfrm>
            <a:off x="351303" y="2181602"/>
            <a:ext cx="738397" cy="738397"/>
            <a:chOff x="351303" y="2387536"/>
            <a:chExt cx="738397" cy="738397"/>
          </a:xfrm>
        </p:grpSpPr>
        <p:sp>
          <p:nvSpPr>
            <p:cNvPr id="74" name="btfpIconCircle746608">
              <a:extLst>
                <a:ext uri="{FF2B5EF4-FFF2-40B4-BE49-F238E27FC236}">
                  <a16:creationId xmlns:a16="http://schemas.microsoft.com/office/drawing/2014/main" id="{FFB3B61F-2986-91CB-B910-2F3B31B4C49A}"/>
                </a:ext>
              </a:extLst>
            </p:cNvPr>
            <p:cNvSpPr>
              <a:spLocks/>
            </p:cNvSpPr>
            <p:nvPr/>
          </p:nvSpPr>
          <p:spPr bwMode="gray">
            <a:xfrm>
              <a:off x="351303" y="2387536"/>
              <a:ext cx="738397" cy="738397"/>
            </a:xfrm>
            <a:prstGeom prst="ellipse">
              <a:avLst/>
            </a:prstGeom>
            <a:solidFill>
              <a:srgbClr val="5C5C5C"/>
            </a:solidFill>
            <a:ln w="9525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pic>
          <p:nvPicPr>
            <p:cNvPr id="73" name="btfpIconLines746608">
              <a:extLst>
                <a:ext uri="{FF2B5EF4-FFF2-40B4-BE49-F238E27FC236}">
                  <a16:creationId xmlns:a16="http://schemas.microsoft.com/office/drawing/2014/main" id="{FDEDBA18-74F6-D012-385D-614CA50EB48B}"/>
                </a:ext>
              </a:extLst>
            </p:cNvPr>
            <p:cNvPicPr>
              <a:picLocks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351303" y="2387536"/>
              <a:ext cx="738397" cy="738397"/>
            </a:xfrm>
            <a:prstGeom prst="rect">
              <a:avLst/>
            </a:prstGeom>
          </p:spPr>
        </p:pic>
      </p:grpSp>
      <p:sp>
        <p:nvSpPr>
          <p:cNvPr id="24" name="btfpNumberBubble399258">
            <a:extLst>
              <a:ext uri="{FF2B5EF4-FFF2-40B4-BE49-F238E27FC236}">
                <a16:creationId xmlns:a16="http://schemas.microsoft.com/office/drawing/2014/main" id="{07C7A1F4-64D1-0E1A-4725-18A65A8EFFC7}"/>
              </a:ext>
            </a:extLst>
          </p:cNvPr>
          <p:cNvSpPr/>
          <p:nvPr/>
        </p:nvSpPr>
        <p:spPr bwMode="gray">
          <a:xfrm>
            <a:off x="54684" y="82614"/>
            <a:ext cx="288636" cy="28863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400" b="1">
                <a:solidFill>
                  <a:srgbClr val="CC0000"/>
                </a:solidFill>
              </a:rPr>
              <a:t>4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5083C2-E82E-9079-B8CE-7EE44463A795}"/>
              </a:ext>
            </a:extLst>
          </p:cNvPr>
          <p:cNvSpPr/>
          <p:nvPr/>
        </p:nvSpPr>
        <p:spPr bwMode="gray">
          <a:xfrm>
            <a:off x="1299882" y="4143383"/>
            <a:ext cx="10375057" cy="320492"/>
          </a:xfrm>
          <a:prstGeom prst="rect">
            <a:avLst/>
          </a:prstGeom>
          <a:pattFill prst="ltUpDiag">
            <a:fgClr>
              <a:schemeClr val="tx2"/>
            </a:fgClr>
            <a:bgClr>
              <a:srgbClr val="FFFFFF"/>
            </a:bgClr>
          </a:patt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r>
              <a:rPr lang="en-US" sz="1000" b="1" u="sng">
                <a:solidFill>
                  <a:srgbClr val="CC0000"/>
                </a:solidFill>
              </a:rPr>
              <a:t>Potential value proposition</a:t>
            </a:r>
            <a:r>
              <a:rPr lang="en-US" sz="1000" b="1">
                <a:solidFill>
                  <a:srgbClr val="CC0000"/>
                </a:solidFill>
              </a:rPr>
              <a:t>: </a:t>
            </a:r>
            <a:r>
              <a:rPr lang="en-US" sz="1000" b="1" i="1">
                <a:solidFill>
                  <a:srgbClr val="CC0000"/>
                </a:solidFill>
              </a:rPr>
              <a:t>Establish an integrated Medical Affairs intelligence and execution capability that embeds AI-driven content creation, fast turnaround times, and specialized scientific execution to enhance physician-level insight depth</a:t>
            </a:r>
            <a:endParaRPr lang="en-US" sz="1000" b="1" i="1">
              <a:solidFill>
                <a:srgbClr val="CC0000"/>
              </a:solidFill>
              <a:highlight>
                <a:srgbClr val="FFFF00"/>
              </a:highlight>
            </a:endParaRPr>
          </a:p>
        </p:txBody>
      </p:sp>
      <p:grpSp>
        <p:nvGrpSpPr>
          <p:cNvPr id="16" name="btfpRunningAgenda1Level331797">
            <a:extLst>
              <a:ext uri="{FF2B5EF4-FFF2-40B4-BE49-F238E27FC236}">
                <a16:creationId xmlns:a16="http://schemas.microsoft.com/office/drawing/2014/main" id="{00BBFB52-F279-5418-DA38-D909EBBFD82C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-1" y="944429"/>
            <a:ext cx="2372446" cy="257442"/>
            <a:chOff x="-1" y="876300"/>
            <a:chExt cx="2372446" cy="257442"/>
          </a:xfrm>
        </p:grpSpPr>
        <p:sp>
          <p:nvSpPr>
            <p:cNvPr id="17" name="btfpRunningAgenda1LevelBarLeft331797">
              <a:extLst>
                <a:ext uri="{FF2B5EF4-FFF2-40B4-BE49-F238E27FC236}">
                  <a16:creationId xmlns:a16="http://schemas.microsoft.com/office/drawing/2014/main" id="{992C17FE-5D66-83FD-A2E8-C8E8F9DA10D1}"/>
                </a:ext>
              </a:extLst>
            </p:cNvPr>
            <p:cNvSpPr/>
            <p:nvPr/>
          </p:nvSpPr>
          <p:spPr bwMode="gray">
            <a:xfrm>
              <a:off x="-1" y="876300"/>
              <a:ext cx="2326179" cy="257442"/>
            </a:xfrm>
            <a:custGeom>
              <a:avLst/>
              <a:gdLst>
                <a:gd name="connsiteX0" fmla="*/ 950801 w 1870925"/>
                <a:gd name="connsiteY0" fmla="*/ 0 h 257442"/>
                <a:gd name="connsiteX1" fmla="*/ 1870925 w 1870925"/>
                <a:gd name="connsiteY1" fmla="*/ 0 h 257442"/>
                <a:gd name="connsiteX2" fmla="*/ 1816204 w 1870925"/>
                <a:gd name="connsiteY2" fmla="*/ 257442 h 257442"/>
                <a:gd name="connsiteX3" fmla="*/ 0 w 1870925"/>
                <a:gd name="connsiteY3" fmla="*/ 257442 h 257442"/>
                <a:gd name="connsiteX0" fmla="*/ 950801 w 1816204"/>
                <a:gd name="connsiteY0" fmla="*/ 0 h 257442"/>
                <a:gd name="connsiteX1" fmla="*/ 896081 w 1816204"/>
                <a:gd name="connsiteY1" fmla="*/ 257442 h 257442"/>
                <a:gd name="connsiteX2" fmla="*/ 1816204 w 1816204"/>
                <a:gd name="connsiteY2" fmla="*/ 257442 h 257442"/>
                <a:gd name="connsiteX3" fmla="*/ 0 w 1816204"/>
                <a:gd name="connsiteY3" fmla="*/ 257442 h 257442"/>
                <a:gd name="connsiteX0" fmla="*/ 950801 w 950801"/>
                <a:gd name="connsiteY0" fmla="*/ 0 h 257442"/>
                <a:gd name="connsiteX1" fmla="*/ 896081 w 950801"/>
                <a:gd name="connsiteY1" fmla="*/ 257442 h 257442"/>
                <a:gd name="connsiteX2" fmla="*/ 1 w 950801"/>
                <a:gd name="connsiteY2" fmla="*/ 257442 h 257442"/>
                <a:gd name="connsiteX3" fmla="*/ 0 w 950801"/>
                <a:gd name="connsiteY3" fmla="*/ 257442 h 257442"/>
                <a:gd name="connsiteX0" fmla="*/ 950800 w 950800"/>
                <a:gd name="connsiteY0" fmla="*/ 0 h 257442"/>
                <a:gd name="connsiteX1" fmla="*/ 896080 w 950800"/>
                <a:gd name="connsiteY1" fmla="*/ 257442 h 257442"/>
                <a:gd name="connsiteX2" fmla="*/ 0 w 950800"/>
                <a:gd name="connsiteY2" fmla="*/ 257442 h 257442"/>
                <a:gd name="connsiteX3" fmla="*/ 1 w 950800"/>
                <a:gd name="connsiteY3" fmla="*/ 0 h 257442"/>
                <a:gd name="connsiteX0" fmla="*/ 1261784 w 1261784"/>
                <a:gd name="connsiteY0" fmla="*/ 0 h 257442"/>
                <a:gd name="connsiteX1" fmla="*/ 896080 w 1261784"/>
                <a:gd name="connsiteY1" fmla="*/ 257442 h 257442"/>
                <a:gd name="connsiteX2" fmla="*/ 0 w 1261784"/>
                <a:gd name="connsiteY2" fmla="*/ 257442 h 257442"/>
                <a:gd name="connsiteX3" fmla="*/ 1 w 1261784"/>
                <a:gd name="connsiteY3" fmla="*/ 0 h 257442"/>
                <a:gd name="connsiteX0" fmla="*/ 1261784 w 1261784"/>
                <a:gd name="connsiteY0" fmla="*/ 0 h 257442"/>
                <a:gd name="connsiteX1" fmla="*/ 1207063 w 1261784"/>
                <a:gd name="connsiteY1" fmla="*/ 257442 h 257442"/>
                <a:gd name="connsiteX2" fmla="*/ 0 w 1261784"/>
                <a:gd name="connsiteY2" fmla="*/ 257442 h 257442"/>
                <a:gd name="connsiteX3" fmla="*/ 1 w 1261784"/>
                <a:gd name="connsiteY3" fmla="*/ 0 h 257442"/>
                <a:gd name="connsiteX0" fmla="*/ 1261784 w 1261784"/>
                <a:gd name="connsiteY0" fmla="*/ 0 h 257442"/>
                <a:gd name="connsiteX1" fmla="*/ 1207063 w 1261784"/>
                <a:gd name="connsiteY1" fmla="*/ 257442 h 257442"/>
                <a:gd name="connsiteX2" fmla="*/ 0 w 1261784"/>
                <a:gd name="connsiteY2" fmla="*/ 257442 h 257442"/>
                <a:gd name="connsiteX3" fmla="*/ 1 w 1261784"/>
                <a:gd name="connsiteY3" fmla="*/ 0 h 257442"/>
                <a:gd name="connsiteX0" fmla="*/ 1261784 w 1261784"/>
                <a:gd name="connsiteY0" fmla="*/ 0 h 257442"/>
                <a:gd name="connsiteX1" fmla="*/ 1207063 w 1261784"/>
                <a:gd name="connsiteY1" fmla="*/ 257442 h 257442"/>
                <a:gd name="connsiteX2" fmla="*/ 0 w 1261784"/>
                <a:gd name="connsiteY2" fmla="*/ 257442 h 257442"/>
                <a:gd name="connsiteX3" fmla="*/ 0 w 1261784"/>
                <a:gd name="connsiteY3" fmla="*/ 0 h 257442"/>
                <a:gd name="connsiteX0" fmla="*/ 1515058 w 1515058"/>
                <a:gd name="connsiteY0" fmla="*/ 0 h 257442"/>
                <a:gd name="connsiteX1" fmla="*/ 1207063 w 1515058"/>
                <a:gd name="connsiteY1" fmla="*/ 257442 h 257442"/>
                <a:gd name="connsiteX2" fmla="*/ 0 w 1515058"/>
                <a:gd name="connsiteY2" fmla="*/ 257442 h 257442"/>
                <a:gd name="connsiteX3" fmla="*/ 0 w 1515058"/>
                <a:gd name="connsiteY3" fmla="*/ 0 h 257442"/>
                <a:gd name="connsiteX0" fmla="*/ 1515058 w 1515058"/>
                <a:gd name="connsiteY0" fmla="*/ 0 h 257442"/>
                <a:gd name="connsiteX1" fmla="*/ 1460337 w 1515058"/>
                <a:gd name="connsiteY1" fmla="*/ 257442 h 257442"/>
                <a:gd name="connsiteX2" fmla="*/ 0 w 1515058"/>
                <a:gd name="connsiteY2" fmla="*/ 257442 h 257442"/>
                <a:gd name="connsiteX3" fmla="*/ 0 w 1515058"/>
                <a:gd name="connsiteY3" fmla="*/ 0 h 257442"/>
                <a:gd name="connsiteX0" fmla="*/ 1515058 w 1515058"/>
                <a:gd name="connsiteY0" fmla="*/ 0 h 257442"/>
                <a:gd name="connsiteX1" fmla="*/ 1460337 w 1515058"/>
                <a:gd name="connsiteY1" fmla="*/ 257442 h 257442"/>
                <a:gd name="connsiteX2" fmla="*/ 0 w 1515058"/>
                <a:gd name="connsiteY2" fmla="*/ 257442 h 257442"/>
                <a:gd name="connsiteX3" fmla="*/ 0 w 1515058"/>
                <a:gd name="connsiteY3" fmla="*/ 0 h 257442"/>
                <a:gd name="connsiteX0" fmla="*/ 1515058 w 1515058"/>
                <a:gd name="connsiteY0" fmla="*/ 0 h 257442"/>
                <a:gd name="connsiteX1" fmla="*/ 1460337 w 1515058"/>
                <a:gd name="connsiteY1" fmla="*/ 257442 h 257442"/>
                <a:gd name="connsiteX2" fmla="*/ 0 w 1515058"/>
                <a:gd name="connsiteY2" fmla="*/ 257442 h 257442"/>
                <a:gd name="connsiteX3" fmla="*/ 0 w 1515058"/>
                <a:gd name="connsiteY3" fmla="*/ 0 h 257442"/>
                <a:gd name="connsiteX0" fmla="*/ 1692991 w 1692991"/>
                <a:gd name="connsiteY0" fmla="*/ 0 h 257442"/>
                <a:gd name="connsiteX1" fmla="*/ 1460337 w 1692991"/>
                <a:gd name="connsiteY1" fmla="*/ 257442 h 257442"/>
                <a:gd name="connsiteX2" fmla="*/ 0 w 1692991"/>
                <a:gd name="connsiteY2" fmla="*/ 257442 h 257442"/>
                <a:gd name="connsiteX3" fmla="*/ 0 w 1692991"/>
                <a:gd name="connsiteY3" fmla="*/ 0 h 257442"/>
                <a:gd name="connsiteX0" fmla="*/ 1692991 w 1692991"/>
                <a:gd name="connsiteY0" fmla="*/ 0 h 257442"/>
                <a:gd name="connsiteX1" fmla="*/ 1638270 w 1692991"/>
                <a:gd name="connsiteY1" fmla="*/ 257442 h 257442"/>
                <a:gd name="connsiteX2" fmla="*/ 0 w 1692991"/>
                <a:gd name="connsiteY2" fmla="*/ 257442 h 257442"/>
                <a:gd name="connsiteX3" fmla="*/ 0 w 1692991"/>
                <a:gd name="connsiteY3" fmla="*/ 0 h 257442"/>
                <a:gd name="connsiteX0" fmla="*/ 1692991 w 1692991"/>
                <a:gd name="connsiteY0" fmla="*/ 0 h 257442"/>
                <a:gd name="connsiteX1" fmla="*/ 1638270 w 1692991"/>
                <a:gd name="connsiteY1" fmla="*/ 257442 h 257442"/>
                <a:gd name="connsiteX2" fmla="*/ 0 w 1692991"/>
                <a:gd name="connsiteY2" fmla="*/ 257442 h 257442"/>
                <a:gd name="connsiteX3" fmla="*/ 0 w 1692991"/>
                <a:gd name="connsiteY3" fmla="*/ 0 h 257442"/>
                <a:gd name="connsiteX0" fmla="*/ 1692991 w 1692991"/>
                <a:gd name="connsiteY0" fmla="*/ 0 h 257442"/>
                <a:gd name="connsiteX1" fmla="*/ 1638270 w 1692991"/>
                <a:gd name="connsiteY1" fmla="*/ 257442 h 257442"/>
                <a:gd name="connsiteX2" fmla="*/ 0 w 1692991"/>
                <a:gd name="connsiteY2" fmla="*/ 257442 h 257442"/>
                <a:gd name="connsiteX3" fmla="*/ 0 w 1692991"/>
                <a:gd name="connsiteY3" fmla="*/ 0 h 257442"/>
                <a:gd name="connsiteX0" fmla="*/ 1861307 w 1861307"/>
                <a:gd name="connsiteY0" fmla="*/ 0 h 257442"/>
                <a:gd name="connsiteX1" fmla="*/ 1638270 w 1861307"/>
                <a:gd name="connsiteY1" fmla="*/ 257442 h 257442"/>
                <a:gd name="connsiteX2" fmla="*/ 0 w 1861307"/>
                <a:gd name="connsiteY2" fmla="*/ 257442 h 257442"/>
                <a:gd name="connsiteX3" fmla="*/ 0 w 1861307"/>
                <a:gd name="connsiteY3" fmla="*/ 0 h 257442"/>
                <a:gd name="connsiteX0" fmla="*/ 1861307 w 1861307"/>
                <a:gd name="connsiteY0" fmla="*/ 0 h 257442"/>
                <a:gd name="connsiteX1" fmla="*/ 1806586 w 1861307"/>
                <a:gd name="connsiteY1" fmla="*/ 257442 h 257442"/>
                <a:gd name="connsiteX2" fmla="*/ 0 w 1861307"/>
                <a:gd name="connsiteY2" fmla="*/ 257442 h 257442"/>
                <a:gd name="connsiteX3" fmla="*/ 0 w 1861307"/>
                <a:gd name="connsiteY3" fmla="*/ 0 h 257442"/>
                <a:gd name="connsiteX0" fmla="*/ 1861307 w 1861307"/>
                <a:gd name="connsiteY0" fmla="*/ 0 h 257442"/>
                <a:gd name="connsiteX1" fmla="*/ 1806586 w 1861307"/>
                <a:gd name="connsiteY1" fmla="*/ 257442 h 257442"/>
                <a:gd name="connsiteX2" fmla="*/ 0 w 1861307"/>
                <a:gd name="connsiteY2" fmla="*/ 257442 h 257442"/>
                <a:gd name="connsiteX3" fmla="*/ 0 w 1861307"/>
                <a:gd name="connsiteY3" fmla="*/ 0 h 257442"/>
                <a:gd name="connsiteX0" fmla="*/ 1861307 w 1861307"/>
                <a:gd name="connsiteY0" fmla="*/ 0 h 257442"/>
                <a:gd name="connsiteX1" fmla="*/ 1806586 w 1861307"/>
                <a:gd name="connsiteY1" fmla="*/ 257442 h 257442"/>
                <a:gd name="connsiteX2" fmla="*/ 0 w 1861307"/>
                <a:gd name="connsiteY2" fmla="*/ 257442 h 257442"/>
                <a:gd name="connsiteX3" fmla="*/ 0 w 1861307"/>
                <a:gd name="connsiteY3" fmla="*/ 0 h 257442"/>
                <a:gd name="connsiteX0" fmla="*/ 2029622 w 2029622"/>
                <a:gd name="connsiteY0" fmla="*/ 0 h 257442"/>
                <a:gd name="connsiteX1" fmla="*/ 1806586 w 2029622"/>
                <a:gd name="connsiteY1" fmla="*/ 257442 h 257442"/>
                <a:gd name="connsiteX2" fmla="*/ 0 w 2029622"/>
                <a:gd name="connsiteY2" fmla="*/ 257442 h 257442"/>
                <a:gd name="connsiteX3" fmla="*/ 0 w 2029622"/>
                <a:gd name="connsiteY3" fmla="*/ 0 h 257442"/>
                <a:gd name="connsiteX0" fmla="*/ 2029622 w 2029622"/>
                <a:gd name="connsiteY0" fmla="*/ 0 h 257442"/>
                <a:gd name="connsiteX1" fmla="*/ 1974900 w 2029622"/>
                <a:gd name="connsiteY1" fmla="*/ 257442 h 257442"/>
                <a:gd name="connsiteX2" fmla="*/ 0 w 2029622"/>
                <a:gd name="connsiteY2" fmla="*/ 257442 h 257442"/>
                <a:gd name="connsiteX3" fmla="*/ 0 w 2029622"/>
                <a:gd name="connsiteY3" fmla="*/ 0 h 257442"/>
                <a:gd name="connsiteX0" fmla="*/ 2029623 w 2029623"/>
                <a:gd name="connsiteY0" fmla="*/ 0 h 257442"/>
                <a:gd name="connsiteX1" fmla="*/ 1974901 w 2029623"/>
                <a:gd name="connsiteY1" fmla="*/ 257442 h 257442"/>
                <a:gd name="connsiteX2" fmla="*/ 0 w 2029623"/>
                <a:gd name="connsiteY2" fmla="*/ 257442 h 257442"/>
                <a:gd name="connsiteX3" fmla="*/ 1 w 2029623"/>
                <a:gd name="connsiteY3" fmla="*/ 0 h 257442"/>
                <a:gd name="connsiteX0" fmla="*/ 2029623 w 2029623"/>
                <a:gd name="connsiteY0" fmla="*/ 0 h 257442"/>
                <a:gd name="connsiteX1" fmla="*/ 1974901 w 2029623"/>
                <a:gd name="connsiteY1" fmla="*/ 257442 h 257442"/>
                <a:gd name="connsiteX2" fmla="*/ 0 w 2029623"/>
                <a:gd name="connsiteY2" fmla="*/ 257442 h 257442"/>
                <a:gd name="connsiteX3" fmla="*/ 1 w 2029623"/>
                <a:gd name="connsiteY3" fmla="*/ 0 h 257442"/>
                <a:gd name="connsiteX0" fmla="*/ 2189923 w 2189923"/>
                <a:gd name="connsiteY0" fmla="*/ 0 h 257442"/>
                <a:gd name="connsiteX1" fmla="*/ 1974901 w 2189923"/>
                <a:gd name="connsiteY1" fmla="*/ 257442 h 257442"/>
                <a:gd name="connsiteX2" fmla="*/ 0 w 2189923"/>
                <a:gd name="connsiteY2" fmla="*/ 257442 h 257442"/>
                <a:gd name="connsiteX3" fmla="*/ 1 w 2189923"/>
                <a:gd name="connsiteY3" fmla="*/ 0 h 257442"/>
                <a:gd name="connsiteX0" fmla="*/ 2189923 w 2189923"/>
                <a:gd name="connsiteY0" fmla="*/ 0 h 257442"/>
                <a:gd name="connsiteX1" fmla="*/ 2135202 w 2189923"/>
                <a:gd name="connsiteY1" fmla="*/ 257442 h 257442"/>
                <a:gd name="connsiteX2" fmla="*/ 0 w 2189923"/>
                <a:gd name="connsiteY2" fmla="*/ 257442 h 257442"/>
                <a:gd name="connsiteX3" fmla="*/ 1 w 2189923"/>
                <a:gd name="connsiteY3" fmla="*/ 0 h 257442"/>
                <a:gd name="connsiteX0" fmla="*/ 2189922 w 2189922"/>
                <a:gd name="connsiteY0" fmla="*/ 0 h 257442"/>
                <a:gd name="connsiteX1" fmla="*/ 2135201 w 2189922"/>
                <a:gd name="connsiteY1" fmla="*/ 257442 h 257442"/>
                <a:gd name="connsiteX2" fmla="*/ 0 w 2189922"/>
                <a:gd name="connsiteY2" fmla="*/ 257442 h 257442"/>
                <a:gd name="connsiteX3" fmla="*/ 0 w 2189922"/>
                <a:gd name="connsiteY3" fmla="*/ 0 h 257442"/>
                <a:gd name="connsiteX0" fmla="*/ 2189923 w 2189923"/>
                <a:gd name="connsiteY0" fmla="*/ 0 h 257442"/>
                <a:gd name="connsiteX1" fmla="*/ 2135202 w 2189923"/>
                <a:gd name="connsiteY1" fmla="*/ 257442 h 257442"/>
                <a:gd name="connsiteX2" fmla="*/ 1 w 2189923"/>
                <a:gd name="connsiteY2" fmla="*/ 257442 h 257442"/>
                <a:gd name="connsiteX3" fmla="*/ 0 w 2189923"/>
                <a:gd name="connsiteY3" fmla="*/ 0 h 257442"/>
                <a:gd name="connsiteX0" fmla="*/ 2350223 w 2350223"/>
                <a:gd name="connsiteY0" fmla="*/ 0 h 257442"/>
                <a:gd name="connsiteX1" fmla="*/ 2135202 w 2350223"/>
                <a:gd name="connsiteY1" fmla="*/ 257442 h 257442"/>
                <a:gd name="connsiteX2" fmla="*/ 1 w 2350223"/>
                <a:gd name="connsiteY2" fmla="*/ 257442 h 257442"/>
                <a:gd name="connsiteX3" fmla="*/ 0 w 2350223"/>
                <a:gd name="connsiteY3" fmla="*/ 0 h 257442"/>
                <a:gd name="connsiteX0" fmla="*/ 2350223 w 2350223"/>
                <a:gd name="connsiteY0" fmla="*/ 0 h 257442"/>
                <a:gd name="connsiteX1" fmla="*/ 2295502 w 2350223"/>
                <a:gd name="connsiteY1" fmla="*/ 257442 h 257442"/>
                <a:gd name="connsiteX2" fmla="*/ 1 w 2350223"/>
                <a:gd name="connsiteY2" fmla="*/ 257442 h 257442"/>
                <a:gd name="connsiteX3" fmla="*/ 0 w 2350223"/>
                <a:gd name="connsiteY3" fmla="*/ 0 h 257442"/>
                <a:gd name="connsiteX0" fmla="*/ 2350223 w 2350223"/>
                <a:gd name="connsiteY0" fmla="*/ 0 h 257442"/>
                <a:gd name="connsiteX1" fmla="*/ 2295502 w 2350223"/>
                <a:gd name="connsiteY1" fmla="*/ 257442 h 257442"/>
                <a:gd name="connsiteX2" fmla="*/ 1 w 2350223"/>
                <a:gd name="connsiteY2" fmla="*/ 257442 h 257442"/>
                <a:gd name="connsiteX3" fmla="*/ 0 w 2350223"/>
                <a:gd name="connsiteY3" fmla="*/ 0 h 257442"/>
                <a:gd name="connsiteX0" fmla="*/ 2350222 w 2350222"/>
                <a:gd name="connsiteY0" fmla="*/ 0 h 257442"/>
                <a:gd name="connsiteX1" fmla="*/ 2295501 w 2350222"/>
                <a:gd name="connsiteY1" fmla="*/ 257442 h 257442"/>
                <a:gd name="connsiteX2" fmla="*/ 0 w 2350222"/>
                <a:gd name="connsiteY2" fmla="*/ 257442 h 257442"/>
                <a:gd name="connsiteX3" fmla="*/ 0 w 2350222"/>
                <a:gd name="connsiteY3" fmla="*/ 0 h 257442"/>
                <a:gd name="connsiteX0" fmla="*/ 2518537 w 2518537"/>
                <a:gd name="connsiteY0" fmla="*/ 0 h 257442"/>
                <a:gd name="connsiteX1" fmla="*/ 2295501 w 2518537"/>
                <a:gd name="connsiteY1" fmla="*/ 257442 h 257442"/>
                <a:gd name="connsiteX2" fmla="*/ 0 w 2518537"/>
                <a:gd name="connsiteY2" fmla="*/ 257442 h 257442"/>
                <a:gd name="connsiteX3" fmla="*/ 0 w 2518537"/>
                <a:gd name="connsiteY3" fmla="*/ 0 h 257442"/>
                <a:gd name="connsiteX0" fmla="*/ 2518537 w 2518537"/>
                <a:gd name="connsiteY0" fmla="*/ 0 h 257442"/>
                <a:gd name="connsiteX1" fmla="*/ 2463816 w 2518537"/>
                <a:gd name="connsiteY1" fmla="*/ 257442 h 257442"/>
                <a:gd name="connsiteX2" fmla="*/ 0 w 2518537"/>
                <a:gd name="connsiteY2" fmla="*/ 257442 h 257442"/>
                <a:gd name="connsiteX3" fmla="*/ 0 w 2518537"/>
                <a:gd name="connsiteY3" fmla="*/ 0 h 257442"/>
                <a:gd name="connsiteX0" fmla="*/ 2518538 w 2518538"/>
                <a:gd name="connsiteY0" fmla="*/ 0 h 257442"/>
                <a:gd name="connsiteX1" fmla="*/ 2463817 w 2518538"/>
                <a:gd name="connsiteY1" fmla="*/ 257442 h 257442"/>
                <a:gd name="connsiteX2" fmla="*/ 0 w 2518538"/>
                <a:gd name="connsiteY2" fmla="*/ 257442 h 257442"/>
                <a:gd name="connsiteX3" fmla="*/ 1 w 2518538"/>
                <a:gd name="connsiteY3" fmla="*/ 0 h 257442"/>
                <a:gd name="connsiteX0" fmla="*/ 2518538 w 2518538"/>
                <a:gd name="connsiteY0" fmla="*/ 0 h 257442"/>
                <a:gd name="connsiteX1" fmla="*/ 2463817 w 2518538"/>
                <a:gd name="connsiteY1" fmla="*/ 257442 h 257442"/>
                <a:gd name="connsiteX2" fmla="*/ 0 w 2518538"/>
                <a:gd name="connsiteY2" fmla="*/ 257442 h 257442"/>
                <a:gd name="connsiteX3" fmla="*/ 0 w 2518538"/>
                <a:gd name="connsiteY3" fmla="*/ 0 h 257442"/>
                <a:gd name="connsiteX0" fmla="*/ 2686853 w 2686853"/>
                <a:gd name="connsiteY0" fmla="*/ 0 h 257442"/>
                <a:gd name="connsiteX1" fmla="*/ 2463817 w 2686853"/>
                <a:gd name="connsiteY1" fmla="*/ 257442 h 257442"/>
                <a:gd name="connsiteX2" fmla="*/ 0 w 2686853"/>
                <a:gd name="connsiteY2" fmla="*/ 257442 h 257442"/>
                <a:gd name="connsiteX3" fmla="*/ 0 w 2686853"/>
                <a:gd name="connsiteY3" fmla="*/ 0 h 257442"/>
                <a:gd name="connsiteX0" fmla="*/ 2686853 w 2686853"/>
                <a:gd name="connsiteY0" fmla="*/ 0 h 257442"/>
                <a:gd name="connsiteX1" fmla="*/ 2632132 w 2686853"/>
                <a:gd name="connsiteY1" fmla="*/ 257442 h 257442"/>
                <a:gd name="connsiteX2" fmla="*/ 0 w 2686853"/>
                <a:gd name="connsiteY2" fmla="*/ 257442 h 257442"/>
                <a:gd name="connsiteX3" fmla="*/ 0 w 2686853"/>
                <a:gd name="connsiteY3" fmla="*/ 0 h 257442"/>
                <a:gd name="connsiteX0" fmla="*/ 2686853 w 2686853"/>
                <a:gd name="connsiteY0" fmla="*/ 0 h 257442"/>
                <a:gd name="connsiteX1" fmla="*/ 2632132 w 2686853"/>
                <a:gd name="connsiteY1" fmla="*/ 257442 h 257442"/>
                <a:gd name="connsiteX2" fmla="*/ 0 w 2686853"/>
                <a:gd name="connsiteY2" fmla="*/ 257442 h 257442"/>
                <a:gd name="connsiteX3" fmla="*/ 0 w 2686853"/>
                <a:gd name="connsiteY3" fmla="*/ 0 h 257442"/>
                <a:gd name="connsiteX0" fmla="*/ 2686853 w 2686853"/>
                <a:gd name="connsiteY0" fmla="*/ 0 h 257442"/>
                <a:gd name="connsiteX1" fmla="*/ 2632132 w 2686853"/>
                <a:gd name="connsiteY1" fmla="*/ 257442 h 257442"/>
                <a:gd name="connsiteX2" fmla="*/ 0 w 2686853"/>
                <a:gd name="connsiteY2" fmla="*/ 257442 h 257442"/>
                <a:gd name="connsiteX3" fmla="*/ 0 w 2686853"/>
                <a:gd name="connsiteY3" fmla="*/ 0 h 257442"/>
                <a:gd name="connsiteX0" fmla="*/ 2518538 w 2632132"/>
                <a:gd name="connsiteY0" fmla="*/ 0 h 257442"/>
                <a:gd name="connsiteX1" fmla="*/ 2632132 w 2632132"/>
                <a:gd name="connsiteY1" fmla="*/ 257442 h 257442"/>
                <a:gd name="connsiteX2" fmla="*/ 0 w 2632132"/>
                <a:gd name="connsiteY2" fmla="*/ 257442 h 257442"/>
                <a:gd name="connsiteX3" fmla="*/ 0 w 2632132"/>
                <a:gd name="connsiteY3" fmla="*/ 0 h 257442"/>
                <a:gd name="connsiteX0" fmla="*/ 2518538 w 2518538"/>
                <a:gd name="connsiteY0" fmla="*/ 0 h 257442"/>
                <a:gd name="connsiteX1" fmla="*/ 2463817 w 2518538"/>
                <a:gd name="connsiteY1" fmla="*/ 257442 h 257442"/>
                <a:gd name="connsiteX2" fmla="*/ 0 w 2518538"/>
                <a:gd name="connsiteY2" fmla="*/ 257442 h 257442"/>
                <a:gd name="connsiteX3" fmla="*/ 0 w 2518538"/>
                <a:gd name="connsiteY3" fmla="*/ 0 h 257442"/>
                <a:gd name="connsiteX0" fmla="*/ 2518538 w 2518538"/>
                <a:gd name="connsiteY0" fmla="*/ 0 h 257442"/>
                <a:gd name="connsiteX1" fmla="*/ 2463817 w 2518538"/>
                <a:gd name="connsiteY1" fmla="*/ 257442 h 257442"/>
                <a:gd name="connsiteX2" fmla="*/ 0 w 2518538"/>
                <a:gd name="connsiteY2" fmla="*/ 257442 h 257442"/>
                <a:gd name="connsiteX3" fmla="*/ 0 w 2518538"/>
                <a:gd name="connsiteY3" fmla="*/ 0 h 257442"/>
                <a:gd name="connsiteX0" fmla="*/ 2518538 w 2518538"/>
                <a:gd name="connsiteY0" fmla="*/ 0 h 257442"/>
                <a:gd name="connsiteX1" fmla="*/ 2463817 w 2518538"/>
                <a:gd name="connsiteY1" fmla="*/ 257442 h 257442"/>
                <a:gd name="connsiteX2" fmla="*/ 0 w 2518538"/>
                <a:gd name="connsiteY2" fmla="*/ 257442 h 257442"/>
                <a:gd name="connsiteX3" fmla="*/ 0 w 2518538"/>
                <a:gd name="connsiteY3" fmla="*/ 0 h 257442"/>
                <a:gd name="connsiteX0" fmla="*/ 2787843 w 2787843"/>
                <a:gd name="connsiteY0" fmla="*/ 0 h 257442"/>
                <a:gd name="connsiteX1" fmla="*/ 2463817 w 2787843"/>
                <a:gd name="connsiteY1" fmla="*/ 257442 h 257442"/>
                <a:gd name="connsiteX2" fmla="*/ 0 w 2787843"/>
                <a:gd name="connsiteY2" fmla="*/ 257442 h 257442"/>
                <a:gd name="connsiteX3" fmla="*/ 0 w 2787843"/>
                <a:gd name="connsiteY3" fmla="*/ 0 h 257442"/>
                <a:gd name="connsiteX0" fmla="*/ 2787843 w 2787843"/>
                <a:gd name="connsiteY0" fmla="*/ 0 h 257442"/>
                <a:gd name="connsiteX1" fmla="*/ 2733122 w 2787843"/>
                <a:gd name="connsiteY1" fmla="*/ 257442 h 257442"/>
                <a:gd name="connsiteX2" fmla="*/ 0 w 2787843"/>
                <a:gd name="connsiteY2" fmla="*/ 257442 h 257442"/>
                <a:gd name="connsiteX3" fmla="*/ 0 w 2787843"/>
                <a:gd name="connsiteY3" fmla="*/ 0 h 257442"/>
                <a:gd name="connsiteX0" fmla="*/ 2787843 w 2787843"/>
                <a:gd name="connsiteY0" fmla="*/ 0 h 257442"/>
                <a:gd name="connsiteX1" fmla="*/ 2733122 w 2787843"/>
                <a:gd name="connsiteY1" fmla="*/ 257442 h 257442"/>
                <a:gd name="connsiteX2" fmla="*/ 0 w 2787843"/>
                <a:gd name="connsiteY2" fmla="*/ 257442 h 257442"/>
                <a:gd name="connsiteX3" fmla="*/ 0 w 2787843"/>
                <a:gd name="connsiteY3" fmla="*/ 0 h 257442"/>
                <a:gd name="connsiteX0" fmla="*/ 2787843 w 2787843"/>
                <a:gd name="connsiteY0" fmla="*/ 0 h 257442"/>
                <a:gd name="connsiteX1" fmla="*/ 2733122 w 2787843"/>
                <a:gd name="connsiteY1" fmla="*/ 257442 h 257442"/>
                <a:gd name="connsiteX2" fmla="*/ 0 w 2787843"/>
                <a:gd name="connsiteY2" fmla="*/ 257442 h 257442"/>
                <a:gd name="connsiteX3" fmla="*/ 0 w 2787843"/>
                <a:gd name="connsiteY3" fmla="*/ 0 h 257442"/>
                <a:gd name="connsiteX0" fmla="*/ 2965775 w 2965775"/>
                <a:gd name="connsiteY0" fmla="*/ 0 h 257442"/>
                <a:gd name="connsiteX1" fmla="*/ 2733122 w 2965775"/>
                <a:gd name="connsiteY1" fmla="*/ 257442 h 257442"/>
                <a:gd name="connsiteX2" fmla="*/ 0 w 2965775"/>
                <a:gd name="connsiteY2" fmla="*/ 257442 h 257442"/>
                <a:gd name="connsiteX3" fmla="*/ 0 w 2965775"/>
                <a:gd name="connsiteY3" fmla="*/ 0 h 257442"/>
                <a:gd name="connsiteX0" fmla="*/ 2965775 w 2965775"/>
                <a:gd name="connsiteY0" fmla="*/ 0 h 257442"/>
                <a:gd name="connsiteX1" fmla="*/ 2911054 w 2965775"/>
                <a:gd name="connsiteY1" fmla="*/ 257442 h 257442"/>
                <a:gd name="connsiteX2" fmla="*/ 0 w 2965775"/>
                <a:gd name="connsiteY2" fmla="*/ 257442 h 257442"/>
                <a:gd name="connsiteX3" fmla="*/ 0 w 2965775"/>
                <a:gd name="connsiteY3" fmla="*/ 0 h 257442"/>
                <a:gd name="connsiteX0" fmla="*/ 2965775 w 2965775"/>
                <a:gd name="connsiteY0" fmla="*/ 0 h 257442"/>
                <a:gd name="connsiteX1" fmla="*/ 2911054 w 2965775"/>
                <a:gd name="connsiteY1" fmla="*/ 257442 h 257442"/>
                <a:gd name="connsiteX2" fmla="*/ 0 w 2965775"/>
                <a:gd name="connsiteY2" fmla="*/ 257442 h 257442"/>
                <a:gd name="connsiteX3" fmla="*/ 0 w 2965775"/>
                <a:gd name="connsiteY3" fmla="*/ 0 h 257442"/>
                <a:gd name="connsiteX0" fmla="*/ 2965775 w 2965775"/>
                <a:gd name="connsiteY0" fmla="*/ 0 h 257442"/>
                <a:gd name="connsiteX1" fmla="*/ 2911054 w 2965775"/>
                <a:gd name="connsiteY1" fmla="*/ 257442 h 257442"/>
                <a:gd name="connsiteX2" fmla="*/ 0 w 2965775"/>
                <a:gd name="connsiteY2" fmla="*/ 257442 h 257442"/>
                <a:gd name="connsiteX3" fmla="*/ 0 w 2965775"/>
                <a:gd name="connsiteY3" fmla="*/ 0 h 257442"/>
                <a:gd name="connsiteX0" fmla="*/ 2797461 w 2911054"/>
                <a:gd name="connsiteY0" fmla="*/ 0 h 257442"/>
                <a:gd name="connsiteX1" fmla="*/ 2911054 w 2911054"/>
                <a:gd name="connsiteY1" fmla="*/ 257442 h 257442"/>
                <a:gd name="connsiteX2" fmla="*/ 0 w 2911054"/>
                <a:gd name="connsiteY2" fmla="*/ 257442 h 257442"/>
                <a:gd name="connsiteX3" fmla="*/ 0 w 2911054"/>
                <a:gd name="connsiteY3" fmla="*/ 0 h 257442"/>
                <a:gd name="connsiteX0" fmla="*/ 2797461 w 2797461"/>
                <a:gd name="connsiteY0" fmla="*/ 0 h 257442"/>
                <a:gd name="connsiteX1" fmla="*/ 2742740 w 2797461"/>
                <a:gd name="connsiteY1" fmla="*/ 257442 h 257442"/>
                <a:gd name="connsiteX2" fmla="*/ 0 w 2797461"/>
                <a:gd name="connsiteY2" fmla="*/ 257442 h 257442"/>
                <a:gd name="connsiteX3" fmla="*/ 0 w 2797461"/>
                <a:gd name="connsiteY3" fmla="*/ 0 h 257442"/>
                <a:gd name="connsiteX0" fmla="*/ 2797461 w 2797461"/>
                <a:gd name="connsiteY0" fmla="*/ 0 h 257442"/>
                <a:gd name="connsiteX1" fmla="*/ 2742740 w 2797461"/>
                <a:gd name="connsiteY1" fmla="*/ 257442 h 257442"/>
                <a:gd name="connsiteX2" fmla="*/ 1 w 2797461"/>
                <a:gd name="connsiteY2" fmla="*/ 257442 h 257442"/>
                <a:gd name="connsiteX3" fmla="*/ 0 w 2797461"/>
                <a:gd name="connsiteY3" fmla="*/ 0 h 257442"/>
                <a:gd name="connsiteX0" fmla="*/ 2797460 w 2797460"/>
                <a:gd name="connsiteY0" fmla="*/ 0 h 257442"/>
                <a:gd name="connsiteX1" fmla="*/ 2742739 w 2797460"/>
                <a:gd name="connsiteY1" fmla="*/ 257442 h 257442"/>
                <a:gd name="connsiteX2" fmla="*/ 0 w 2797460"/>
                <a:gd name="connsiteY2" fmla="*/ 257442 h 257442"/>
                <a:gd name="connsiteX3" fmla="*/ 0 w 2797460"/>
                <a:gd name="connsiteY3" fmla="*/ 0 h 257442"/>
                <a:gd name="connsiteX0" fmla="*/ 2957760 w 2957760"/>
                <a:gd name="connsiteY0" fmla="*/ 0 h 257442"/>
                <a:gd name="connsiteX1" fmla="*/ 2742739 w 2957760"/>
                <a:gd name="connsiteY1" fmla="*/ 257442 h 257442"/>
                <a:gd name="connsiteX2" fmla="*/ 0 w 2957760"/>
                <a:gd name="connsiteY2" fmla="*/ 257442 h 257442"/>
                <a:gd name="connsiteX3" fmla="*/ 0 w 2957760"/>
                <a:gd name="connsiteY3" fmla="*/ 0 h 257442"/>
                <a:gd name="connsiteX0" fmla="*/ 2957760 w 2957760"/>
                <a:gd name="connsiteY0" fmla="*/ 0 h 257442"/>
                <a:gd name="connsiteX1" fmla="*/ 2903039 w 2957760"/>
                <a:gd name="connsiteY1" fmla="*/ 257442 h 257442"/>
                <a:gd name="connsiteX2" fmla="*/ 0 w 2957760"/>
                <a:gd name="connsiteY2" fmla="*/ 257442 h 257442"/>
                <a:gd name="connsiteX3" fmla="*/ 0 w 2957760"/>
                <a:gd name="connsiteY3" fmla="*/ 0 h 257442"/>
                <a:gd name="connsiteX0" fmla="*/ 2957761 w 2957761"/>
                <a:gd name="connsiteY0" fmla="*/ 0 h 257442"/>
                <a:gd name="connsiteX1" fmla="*/ 2903040 w 2957761"/>
                <a:gd name="connsiteY1" fmla="*/ 257442 h 257442"/>
                <a:gd name="connsiteX2" fmla="*/ 0 w 2957761"/>
                <a:gd name="connsiteY2" fmla="*/ 257442 h 257442"/>
                <a:gd name="connsiteX3" fmla="*/ 1 w 2957761"/>
                <a:gd name="connsiteY3" fmla="*/ 0 h 257442"/>
                <a:gd name="connsiteX0" fmla="*/ 2957761 w 2957761"/>
                <a:gd name="connsiteY0" fmla="*/ 0 h 257442"/>
                <a:gd name="connsiteX1" fmla="*/ 2903040 w 2957761"/>
                <a:gd name="connsiteY1" fmla="*/ 257442 h 257442"/>
                <a:gd name="connsiteX2" fmla="*/ 0 w 2957761"/>
                <a:gd name="connsiteY2" fmla="*/ 257442 h 257442"/>
                <a:gd name="connsiteX3" fmla="*/ 1 w 2957761"/>
                <a:gd name="connsiteY3" fmla="*/ 0 h 257442"/>
                <a:gd name="connsiteX0" fmla="*/ 3143710 w 3143710"/>
                <a:gd name="connsiteY0" fmla="*/ 0 h 257442"/>
                <a:gd name="connsiteX1" fmla="*/ 2903040 w 3143710"/>
                <a:gd name="connsiteY1" fmla="*/ 257442 h 257442"/>
                <a:gd name="connsiteX2" fmla="*/ 0 w 3143710"/>
                <a:gd name="connsiteY2" fmla="*/ 257442 h 257442"/>
                <a:gd name="connsiteX3" fmla="*/ 1 w 3143710"/>
                <a:gd name="connsiteY3" fmla="*/ 0 h 257442"/>
                <a:gd name="connsiteX0" fmla="*/ 3143710 w 3143710"/>
                <a:gd name="connsiteY0" fmla="*/ 0 h 257442"/>
                <a:gd name="connsiteX1" fmla="*/ 3088988 w 3143710"/>
                <a:gd name="connsiteY1" fmla="*/ 257442 h 257442"/>
                <a:gd name="connsiteX2" fmla="*/ 0 w 3143710"/>
                <a:gd name="connsiteY2" fmla="*/ 257442 h 257442"/>
                <a:gd name="connsiteX3" fmla="*/ 1 w 3143710"/>
                <a:gd name="connsiteY3" fmla="*/ 0 h 257442"/>
                <a:gd name="connsiteX0" fmla="*/ 3143710 w 3143710"/>
                <a:gd name="connsiteY0" fmla="*/ 0 h 257442"/>
                <a:gd name="connsiteX1" fmla="*/ 3088988 w 3143710"/>
                <a:gd name="connsiteY1" fmla="*/ 257442 h 257442"/>
                <a:gd name="connsiteX2" fmla="*/ 0 w 3143710"/>
                <a:gd name="connsiteY2" fmla="*/ 257442 h 257442"/>
                <a:gd name="connsiteX3" fmla="*/ 1 w 3143710"/>
                <a:gd name="connsiteY3" fmla="*/ 0 h 257442"/>
                <a:gd name="connsiteX0" fmla="*/ 3143710 w 3143710"/>
                <a:gd name="connsiteY0" fmla="*/ 0 h 257442"/>
                <a:gd name="connsiteX1" fmla="*/ 3088988 w 3143710"/>
                <a:gd name="connsiteY1" fmla="*/ 257442 h 257442"/>
                <a:gd name="connsiteX2" fmla="*/ 0 w 3143710"/>
                <a:gd name="connsiteY2" fmla="*/ 257442 h 257442"/>
                <a:gd name="connsiteX3" fmla="*/ 0 w 3143710"/>
                <a:gd name="connsiteY3" fmla="*/ 0 h 257442"/>
                <a:gd name="connsiteX0" fmla="*/ 2787843 w 3088988"/>
                <a:gd name="connsiteY0" fmla="*/ 0 h 257442"/>
                <a:gd name="connsiteX1" fmla="*/ 3088988 w 3088988"/>
                <a:gd name="connsiteY1" fmla="*/ 257442 h 257442"/>
                <a:gd name="connsiteX2" fmla="*/ 0 w 3088988"/>
                <a:gd name="connsiteY2" fmla="*/ 257442 h 257442"/>
                <a:gd name="connsiteX3" fmla="*/ 0 w 3088988"/>
                <a:gd name="connsiteY3" fmla="*/ 0 h 257442"/>
                <a:gd name="connsiteX0" fmla="*/ 2787843 w 2787843"/>
                <a:gd name="connsiteY0" fmla="*/ 0 h 257442"/>
                <a:gd name="connsiteX1" fmla="*/ 2733122 w 2787843"/>
                <a:gd name="connsiteY1" fmla="*/ 257442 h 257442"/>
                <a:gd name="connsiteX2" fmla="*/ 0 w 2787843"/>
                <a:gd name="connsiteY2" fmla="*/ 257442 h 257442"/>
                <a:gd name="connsiteX3" fmla="*/ 0 w 2787843"/>
                <a:gd name="connsiteY3" fmla="*/ 0 h 257442"/>
                <a:gd name="connsiteX0" fmla="*/ 2787843 w 2787843"/>
                <a:gd name="connsiteY0" fmla="*/ 0 h 257442"/>
                <a:gd name="connsiteX1" fmla="*/ 2733122 w 2787843"/>
                <a:gd name="connsiteY1" fmla="*/ 257442 h 257442"/>
                <a:gd name="connsiteX2" fmla="*/ 1 w 2787843"/>
                <a:gd name="connsiteY2" fmla="*/ 257442 h 257442"/>
                <a:gd name="connsiteX3" fmla="*/ 0 w 2787843"/>
                <a:gd name="connsiteY3" fmla="*/ 0 h 257442"/>
                <a:gd name="connsiteX0" fmla="*/ 2787842 w 2787842"/>
                <a:gd name="connsiteY0" fmla="*/ 0 h 257442"/>
                <a:gd name="connsiteX1" fmla="*/ 2733121 w 2787842"/>
                <a:gd name="connsiteY1" fmla="*/ 257442 h 257442"/>
                <a:gd name="connsiteX2" fmla="*/ 0 w 2787842"/>
                <a:gd name="connsiteY2" fmla="*/ 257442 h 257442"/>
                <a:gd name="connsiteX3" fmla="*/ 0 w 2787842"/>
                <a:gd name="connsiteY3" fmla="*/ 0 h 257442"/>
                <a:gd name="connsiteX0" fmla="*/ 2965774 w 2965774"/>
                <a:gd name="connsiteY0" fmla="*/ 0 h 257442"/>
                <a:gd name="connsiteX1" fmla="*/ 2733121 w 2965774"/>
                <a:gd name="connsiteY1" fmla="*/ 257442 h 257442"/>
                <a:gd name="connsiteX2" fmla="*/ 0 w 2965774"/>
                <a:gd name="connsiteY2" fmla="*/ 257442 h 257442"/>
                <a:gd name="connsiteX3" fmla="*/ 0 w 2965774"/>
                <a:gd name="connsiteY3" fmla="*/ 0 h 257442"/>
                <a:gd name="connsiteX0" fmla="*/ 2965774 w 2965774"/>
                <a:gd name="connsiteY0" fmla="*/ 0 h 257442"/>
                <a:gd name="connsiteX1" fmla="*/ 2911053 w 2965774"/>
                <a:gd name="connsiteY1" fmla="*/ 257442 h 257442"/>
                <a:gd name="connsiteX2" fmla="*/ 0 w 2965774"/>
                <a:gd name="connsiteY2" fmla="*/ 257442 h 257442"/>
                <a:gd name="connsiteX3" fmla="*/ 0 w 2965774"/>
                <a:gd name="connsiteY3" fmla="*/ 0 h 257442"/>
                <a:gd name="connsiteX0" fmla="*/ 2965775 w 2965775"/>
                <a:gd name="connsiteY0" fmla="*/ 0 h 257442"/>
                <a:gd name="connsiteX1" fmla="*/ 2911054 w 2965775"/>
                <a:gd name="connsiteY1" fmla="*/ 257442 h 257442"/>
                <a:gd name="connsiteX2" fmla="*/ 0 w 2965775"/>
                <a:gd name="connsiteY2" fmla="*/ 257442 h 257442"/>
                <a:gd name="connsiteX3" fmla="*/ 1 w 2965775"/>
                <a:gd name="connsiteY3" fmla="*/ 0 h 257442"/>
                <a:gd name="connsiteX0" fmla="*/ 2965775 w 2965775"/>
                <a:gd name="connsiteY0" fmla="*/ 0 h 257442"/>
                <a:gd name="connsiteX1" fmla="*/ 2911054 w 2965775"/>
                <a:gd name="connsiteY1" fmla="*/ 257442 h 257442"/>
                <a:gd name="connsiteX2" fmla="*/ 0 w 2965775"/>
                <a:gd name="connsiteY2" fmla="*/ 257442 h 257442"/>
                <a:gd name="connsiteX3" fmla="*/ 1 w 2965775"/>
                <a:gd name="connsiteY3" fmla="*/ 0 h 257442"/>
                <a:gd name="connsiteX0" fmla="*/ 950802 w 2911054"/>
                <a:gd name="connsiteY0" fmla="*/ 0 h 257442"/>
                <a:gd name="connsiteX1" fmla="*/ 2911054 w 2911054"/>
                <a:gd name="connsiteY1" fmla="*/ 257442 h 257442"/>
                <a:gd name="connsiteX2" fmla="*/ 0 w 2911054"/>
                <a:gd name="connsiteY2" fmla="*/ 257442 h 257442"/>
                <a:gd name="connsiteX3" fmla="*/ 1 w 2911054"/>
                <a:gd name="connsiteY3" fmla="*/ 0 h 257442"/>
                <a:gd name="connsiteX0" fmla="*/ 950802 w 950802"/>
                <a:gd name="connsiteY0" fmla="*/ 0 h 257442"/>
                <a:gd name="connsiteX1" fmla="*/ 896081 w 950802"/>
                <a:gd name="connsiteY1" fmla="*/ 257442 h 257442"/>
                <a:gd name="connsiteX2" fmla="*/ 0 w 950802"/>
                <a:gd name="connsiteY2" fmla="*/ 257442 h 257442"/>
                <a:gd name="connsiteX3" fmla="*/ 1 w 950802"/>
                <a:gd name="connsiteY3" fmla="*/ 0 h 257442"/>
                <a:gd name="connsiteX0" fmla="*/ 950801 w 950801"/>
                <a:gd name="connsiteY0" fmla="*/ 0 h 257442"/>
                <a:gd name="connsiteX1" fmla="*/ 896080 w 950801"/>
                <a:gd name="connsiteY1" fmla="*/ 257442 h 257442"/>
                <a:gd name="connsiteX2" fmla="*/ 0 w 950801"/>
                <a:gd name="connsiteY2" fmla="*/ 257442 h 257442"/>
                <a:gd name="connsiteX3" fmla="*/ 0 w 950801"/>
                <a:gd name="connsiteY3" fmla="*/ 0 h 257442"/>
                <a:gd name="connsiteX0" fmla="*/ 950801 w 950801"/>
                <a:gd name="connsiteY0" fmla="*/ 0 h 257442"/>
                <a:gd name="connsiteX1" fmla="*/ 896080 w 950801"/>
                <a:gd name="connsiteY1" fmla="*/ 257442 h 257442"/>
                <a:gd name="connsiteX2" fmla="*/ 0 w 950801"/>
                <a:gd name="connsiteY2" fmla="*/ 257442 h 257442"/>
                <a:gd name="connsiteX3" fmla="*/ 0 w 950801"/>
                <a:gd name="connsiteY3" fmla="*/ 0 h 257442"/>
                <a:gd name="connsiteX0" fmla="*/ 782550 w 896080"/>
                <a:gd name="connsiteY0" fmla="*/ 0 h 257442"/>
                <a:gd name="connsiteX1" fmla="*/ 896080 w 896080"/>
                <a:gd name="connsiteY1" fmla="*/ 257442 h 257442"/>
                <a:gd name="connsiteX2" fmla="*/ 0 w 896080"/>
                <a:gd name="connsiteY2" fmla="*/ 257442 h 257442"/>
                <a:gd name="connsiteX3" fmla="*/ 0 w 896080"/>
                <a:gd name="connsiteY3" fmla="*/ 0 h 257442"/>
                <a:gd name="connsiteX0" fmla="*/ 782550 w 782550"/>
                <a:gd name="connsiteY0" fmla="*/ 0 h 257442"/>
                <a:gd name="connsiteX1" fmla="*/ 727829 w 782550"/>
                <a:gd name="connsiteY1" fmla="*/ 257442 h 257442"/>
                <a:gd name="connsiteX2" fmla="*/ 0 w 782550"/>
                <a:gd name="connsiteY2" fmla="*/ 257442 h 257442"/>
                <a:gd name="connsiteX3" fmla="*/ 0 w 782550"/>
                <a:gd name="connsiteY3" fmla="*/ 0 h 257442"/>
                <a:gd name="connsiteX0" fmla="*/ 782550 w 782550"/>
                <a:gd name="connsiteY0" fmla="*/ 0 h 257442"/>
                <a:gd name="connsiteX1" fmla="*/ 727829 w 782550"/>
                <a:gd name="connsiteY1" fmla="*/ 257442 h 257442"/>
                <a:gd name="connsiteX2" fmla="*/ 0 w 782550"/>
                <a:gd name="connsiteY2" fmla="*/ 257442 h 257442"/>
                <a:gd name="connsiteX3" fmla="*/ 0 w 782550"/>
                <a:gd name="connsiteY3" fmla="*/ 0 h 257442"/>
                <a:gd name="connsiteX0" fmla="*/ 782550 w 782550"/>
                <a:gd name="connsiteY0" fmla="*/ 0 h 257442"/>
                <a:gd name="connsiteX1" fmla="*/ 727829 w 782550"/>
                <a:gd name="connsiteY1" fmla="*/ 257442 h 257442"/>
                <a:gd name="connsiteX2" fmla="*/ 0 w 782550"/>
                <a:gd name="connsiteY2" fmla="*/ 257442 h 257442"/>
                <a:gd name="connsiteX3" fmla="*/ 0 w 782550"/>
                <a:gd name="connsiteY3" fmla="*/ 0 h 257442"/>
                <a:gd name="connsiteX0" fmla="*/ 950801 w 950801"/>
                <a:gd name="connsiteY0" fmla="*/ 0 h 257442"/>
                <a:gd name="connsiteX1" fmla="*/ 727829 w 950801"/>
                <a:gd name="connsiteY1" fmla="*/ 257442 h 257442"/>
                <a:gd name="connsiteX2" fmla="*/ 0 w 950801"/>
                <a:gd name="connsiteY2" fmla="*/ 257442 h 257442"/>
                <a:gd name="connsiteX3" fmla="*/ 0 w 950801"/>
                <a:gd name="connsiteY3" fmla="*/ 0 h 257442"/>
                <a:gd name="connsiteX0" fmla="*/ 950801 w 950801"/>
                <a:gd name="connsiteY0" fmla="*/ 0 h 257442"/>
                <a:gd name="connsiteX1" fmla="*/ 896080 w 950801"/>
                <a:gd name="connsiteY1" fmla="*/ 257442 h 257442"/>
                <a:gd name="connsiteX2" fmla="*/ 0 w 950801"/>
                <a:gd name="connsiteY2" fmla="*/ 257442 h 257442"/>
                <a:gd name="connsiteX3" fmla="*/ 0 w 950801"/>
                <a:gd name="connsiteY3" fmla="*/ 0 h 257442"/>
                <a:gd name="connsiteX0" fmla="*/ 950801 w 950801"/>
                <a:gd name="connsiteY0" fmla="*/ 0 h 257442"/>
                <a:gd name="connsiteX1" fmla="*/ 896080 w 950801"/>
                <a:gd name="connsiteY1" fmla="*/ 257442 h 257442"/>
                <a:gd name="connsiteX2" fmla="*/ 0 w 950801"/>
                <a:gd name="connsiteY2" fmla="*/ 257442 h 257442"/>
                <a:gd name="connsiteX3" fmla="*/ 0 w 950801"/>
                <a:gd name="connsiteY3" fmla="*/ 0 h 257442"/>
                <a:gd name="connsiteX0" fmla="*/ 950801 w 950801"/>
                <a:gd name="connsiteY0" fmla="*/ 0 h 257442"/>
                <a:gd name="connsiteX1" fmla="*/ 896080 w 950801"/>
                <a:gd name="connsiteY1" fmla="*/ 257442 h 257442"/>
                <a:gd name="connsiteX2" fmla="*/ 0 w 950801"/>
                <a:gd name="connsiteY2" fmla="*/ 257442 h 257442"/>
                <a:gd name="connsiteX3" fmla="*/ 0 w 950801"/>
                <a:gd name="connsiteY3" fmla="*/ 0 h 257442"/>
                <a:gd name="connsiteX0" fmla="*/ 1229724 w 1229724"/>
                <a:gd name="connsiteY0" fmla="*/ 0 h 257442"/>
                <a:gd name="connsiteX1" fmla="*/ 896080 w 1229724"/>
                <a:gd name="connsiteY1" fmla="*/ 257442 h 257442"/>
                <a:gd name="connsiteX2" fmla="*/ 0 w 1229724"/>
                <a:gd name="connsiteY2" fmla="*/ 257442 h 257442"/>
                <a:gd name="connsiteX3" fmla="*/ 0 w 1229724"/>
                <a:gd name="connsiteY3" fmla="*/ 0 h 257442"/>
                <a:gd name="connsiteX0" fmla="*/ 1229724 w 1229724"/>
                <a:gd name="connsiteY0" fmla="*/ 0 h 257442"/>
                <a:gd name="connsiteX1" fmla="*/ 1175002 w 1229724"/>
                <a:gd name="connsiteY1" fmla="*/ 257442 h 257442"/>
                <a:gd name="connsiteX2" fmla="*/ 0 w 1229724"/>
                <a:gd name="connsiteY2" fmla="*/ 257442 h 257442"/>
                <a:gd name="connsiteX3" fmla="*/ 0 w 1229724"/>
                <a:gd name="connsiteY3" fmla="*/ 0 h 257442"/>
                <a:gd name="connsiteX0" fmla="*/ 1229725 w 1229725"/>
                <a:gd name="connsiteY0" fmla="*/ 0 h 257442"/>
                <a:gd name="connsiteX1" fmla="*/ 1175003 w 1229725"/>
                <a:gd name="connsiteY1" fmla="*/ 257442 h 257442"/>
                <a:gd name="connsiteX2" fmla="*/ 0 w 1229725"/>
                <a:gd name="connsiteY2" fmla="*/ 257442 h 257442"/>
                <a:gd name="connsiteX3" fmla="*/ 1 w 1229725"/>
                <a:gd name="connsiteY3" fmla="*/ 0 h 257442"/>
                <a:gd name="connsiteX0" fmla="*/ 1229725 w 1229725"/>
                <a:gd name="connsiteY0" fmla="*/ 0 h 257442"/>
                <a:gd name="connsiteX1" fmla="*/ 1175003 w 1229725"/>
                <a:gd name="connsiteY1" fmla="*/ 257442 h 257442"/>
                <a:gd name="connsiteX2" fmla="*/ 0 w 1229725"/>
                <a:gd name="connsiteY2" fmla="*/ 257442 h 257442"/>
                <a:gd name="connsiteX3" fmla="*/ 1 w 1229725"/>
                <a:gd name="connsiteY3" fmla="*/ 0 h 257442"/>
                <a:gd name="connsiteX0" fmla="*/ 1542310 w 1542310"/>
                <a:gd name="connsiteY0" fmla="*/ 0 h 257442"/>
                <a:gd name="connsiteX1" fmla="*/ 1175003 w 1542310"/>
                <a:gd name="connsiteY1" fmla="*/ 257442 h 257442"/>
                <a:gd name="connsiteX2" fmla="*/ 0 w 1542310"/>
                <a:gd name="connsiteY2" fmla="*/ 257442 h 257442"/>
                <a:gd name="connsiteX3" fmla="*/ 1 w 1542310"/>
                <a:gd name="connsiteY3" fmla="*/ 0 h 257442"/>
                <a:gd name="connsiteX0" fmla="*/ 1542310 w 1542310"/>
                <a:gd name="connsiteY0" fmla="*/ 0 h 257442"/>
                <a:gd name="connsiteX1" fmla="*/ 1487588 w 1542310"/>
                <a:gd name="connsiteY1" fmla="*/ 257442 h 257442"/>
                <a:gd name="connsiteX2" fmla="*/ 0 w 1542310"/>
                <a:gd name="connsiteY2" fmla="*/ 257442 h 257442"/>
                <a:gd name="connsiteX3" fmla="*/ 1 w 1542310"/>
                <a:gd name="connsiteY3" fmla="*/ 0 h 257442"/>
                <a:gd name="connsiteX0" fmla="*/ 1542310 w 1542310"/>
                <a:gd name="connsiteY0" fmla="*/ 0 h 257442"/>
                <a:gd name="connsiteX1" fmla="*/ 1487588 w 1542310"/>
                <a:gd name="connsiteY1" fmla="*/ 257442 h 257442"/>
                <a:gd name="connsiteX2" fmla="*/ 0 w 1542310"/>
                <a:gd name="connsiteY2" fmla="*/ 257442 h 257442"/>
                <a:gd name="connsiteX3" fmla="*/ 1 w 1542310"/>
                <a:gd name="connsiteY3" fmla="*/ 0 h 257442"/>
                <a:gd name="connsiteX0" fmla="*/ 1542310 w 1542310"/>
                <a:gd name="connsiteY0" fmla="*/ 0 h 257442"/>
                <a:gd name="connsiteX1" fmla="*/ 1487588 w 1542310"/>
                <a:gd name="connsiteY1" fmla="*/ 257442 h 257442"/>
                <a:gd name="connsiteX2" fmla="*/ 0 w 1542310"/>
                <a:gd name="connsiteY2" fmla="*/ 257442 h 257442"/>
                <a:gd name="connsiteX3" fmla="*/ 0 w 1542310"/>
                <a:gd name="connsiteY3" fmla="*/ 0 h 257442"/>
                <a:gd name="connsiteX0" fmla="*/ 1710625 w 1710625"/>
                <a:gd name="connsiteY0" fmla="*/ 0 h 257442"/>
                <a:gd name="connsiteX1" fmla="*/ 1487588 w 1710625"/>
                <a:gd name="connsiteY1" fmla="*/ 257442 h 257442"/>
                <a:gd name="connsiteX2" fmla="*/ 0 w 1710625"/>
                <a:gd name="connsiteY2" fmla="*/ 257442 h 257442"/>
                <a:gd name="connsiteX3" fmla="*/ 0 w 1710625"/>
                <a:gd name="connsiteY3" fmla="*/ 0 h 257442"/>
                <a:gd name="connsiteX0" fmla="*/ 1710625 w 1710625"/>
                <a:gd name="connsiteY0" fmla="*/ 0 h 257442"/>
                <a:gd name="connsiteX1" fmla="*/ 1655904 w 1710625"/>
                <a:gd name="connsiteY1" fmla="*/ 257442 h 257442"/>
                <a:gd name="connsiteX2" fmla="*/ 0 w 1710625"/>
                <a:gd name="connsiteY2" fmla="*/ 257442 h 257442"/>
                <a:gd name="connsiteX3" fmla="*/ 0 w 1710625"/>
                <a:gd name="connsiteY3" fmla="*/ 0 h 257442"/>
                <a:gd name="connsiteX0" fmla="*/ 1710625 w 1710625"/>
                <a:gd name="connsiteY0" fmla="*/ 0 h 257442"/>
                <a:gd name="connsiteX1" fmla="*/ 1655904 w 1710625"/>
                <a:gd name="connsiteY1" fmla="*/ 257442 h 257442"/>
                <a:gd name="connsiteX2" fmla="*/ 0 w 1710625"/>
                <a:gd name="connsiteY2" fmla="*/ 257442 h 257442"/>
                <a:gd name="connsiteX3" fmla="*/ 0 w 1710625"/>
                <a:gd name="connsiteY3" fmla="*/ 0 h 257442"/>
                <a:gd name="connsiteX0" fmla="*/ 1710625 w 1710625"/>
                <a:gd name="connsiteY0" fmla="*/ 0 h 257442"/>
                <a:gd name="connsiteX1" fmla="*/ 1655904 w 1710625"/>
                <a:gd name="connsiteY1" fmla="*/ 257442 h 257442"/>
                <a:gd name="connsiteX2" fmla="*/ 0 w 1710625"/>
                <a:gd name="connsiteY2" fmla="*/ 257442 h 257442"/>
                <a:gd name="connsiteX3" fmla="*/ 0 w 1710625"/>
                <a:gd name="connsiteY3" fmla="*/ 0 h 257442"/>
                <a:gd name="connsiteX0" fmla="*/ 1878939 w 1878939"/>
                <a:gd name="connsiteY0" fmla="*/ 0 h 257442"/>
                <a:gd name="connsiteX1" fmla="*/ 1655904 w 1878939"/>
                <a:gd name="connsiteY1" fmla="*/ 257442 h 257442"/>
                <a:gd name="connsiteX2" fmla="*/ 0 w 1878939"/>
                <a:gd name="connsiteY2" fmla="*/ 257442 h 257442"/>
                <a:gd name="connsiteX3" fmla="*/ 0 w 1878939"/>
                <a:gd name="connsiteY3" fmla="*/ 0 h 257442"/>
                <a:gd name="connsiteX0" fmla="*/ 1878939 w 1878939"/>
                <a:gd name="connsiteY0" fmla="*/ 0 h 257442"/>
                <a:gd name="connsiteX1" fmla="*/ 1824218 w 1878939"/>
                <a:gd name="connsiteY1" fmla="*/ 257442 h 257442"/>
                <a:gd name="connsiteX2" fmla="*/ 0 w 1878939"/>
                <a:gd name="connsiteY2" fmla="*/ 257442 h 257442"/>
                <a:gd name="connsiteX3" fmla="*/ 0 w 1878939"/>
                <a:gd name="connsiteY3" fmla="*/ 0 h 257442"/>
                <a:gd name="connsiteX0" fmla="*/ 1878939 w 1878939"/>
                <a:gd name="connsiteY0" fmla="*/ 0 h 257442"/>
                <a:gd name="connsiteX1" fmla="*/ 1824218 w 1878939"/>
                <a:gd name="connsiteY1" fmla="*/ 257442 h 257442"/>
                <a:gd name="connsiteX2" fmla="*/ 0 w 1878939"/>
                <a:gd name="connsiteY2" fmla="*/ 257442 h 257442"/>
                <a:gd name="connsiteX3" fmla="*/ 0 w 1878939"/>
                <a:gd name="connsiteY3" fmla="*/ 0 h 257442"/>
                <a:gd name="connsiteX0" fmla="*/ 1878939 w 1878939"/>
                <a:gd name="connsiteY0" fmla="*/ 0 h 257442"/>
                <a:gd name="connsiteX1" fmla="*/ 1824218 w 1878939"/>
                <a:gd name="connsiteY1" fmla="*/ 257442 h 257442"/>
                <a:gd name="connsiteX2" fmla="*/ 0 w 1878939"/>
                <a:gd name="connsiteY2" fmla="*/ 257442 h 257442"/>
                <a:gd name="connsiteX3" fmla="*/ 0 w 1878939"/>
                <a:gd name="connsiteY3" fmla="*/ 0 h 257442"/>
                <a:gd name="connsiteX0" fmla="*/ 2148244 w 2148244"/>
                <a:gd name="connsiteY0" fmla="*/ 0 h 257442"/>
                <a:gd name="connsiteX1" fmla="*/ 1824218 w 2148244"/>
                <a:gd name="connsiteY1" fmla="*/ 257442 h 257442"/>
                <a:gd name="connsiteX2" fmla="*/ 0 w 2148244"/>
                <a:gd name="connsiteY2" fmla="*/ 257442 h 257442"/>
                <a:gd name="connsiteX3" fmla="*/ 0 w 2148244"/>
                <a:gd name="connsiteY3" fmla="*/ 0 h 257442"/>
                <a:gd name="connsiteX0" fmla="*/ 2148244 w 2148244"/>
                <a:gd name="connsiteY0" fmla="*/ 0 h 257442"/>
                <a:gd name="connsiteX1" fmla="*/ 2093522 w 2148244"/>
                <a:gd name="connsiteY1" fmla="*/ 257442 h 257442"/>
                <a:gd name="connsiteX2" fmla="*/ 0 w 2148244"/>
                <a:gd name="connsiteY2" fmla="*/ 257442 h 257442"/>
                <a:gd name="connsiteX3" fmla="*/ 0 w 2148244"/>
                <a:gd name="connsiteY3" fmla="*/ 0 h 257442"/>
                <a:gd name="connsiteX0" fmla="*/ 2148245 w 2148245"/>
                <a:gd name="connsiteY0" fmla="*/ 0 h 257442"/>
                <a:gd name="connsiteX1" fmla="*/ 2093523 w 2148245"/>
                <a:gd name="connsiteY1" fmla="*/ 257442 h 257442"/>
                <a:gd name="connsiteX2" fmla="*/ 0 w 2148245"/>
                <a:gd name="connsiteY2" fmla="*/ 257442 h 257442"/>
                <a:gd name="connsiteX3" fmla="*/ 1 w 2148245"/>
                <a:gd name="connsiteY3" fmla="*/ 0 h 257442"/>
                <a:gd name="connsiteX0" fmla="*/ 2148245 w 2148245"/>
                <a:gd name="connsiteY0" fmla="*/ 0 h 257442"/>
                <a:gd name="connsiteX1" fmla="*/ 2093523 w 2148245"/>
                <a:gd name="connsiteY1" fmla="*/ 257442 h 257442"/>
                <a:gd name="connsiteX2" fmla="*/ 0 w 2148245"/>
                <a:gd name="connsiteY2" fmla="*/ 257442 h 257442"/>
                <a:gd name="connsiteX3" fmla="*/ 1 w 2148245"/>
                <a:gd name="connsiteY3" fmla="*/ 0 h 257442"/>
                <a:gd name="connsiteX0" fmla="*/ 2326179 w 2326179"/>
                <a:gd name="connsiteY0" fmla="*/ 0 h 257442"/>
                <a:gd name="connsiteX1" fmla="*/ 2093523 w 2326179"/>
                <a:gd name="connsiteY1" fmla="*/ 257442 h 257442"/>
                <a:gd name="connsiteX2" fmla="*/ 0 w 2326179"/>
                <a:gd name="connsiteY2" fmla="*/ 257442 h 257442"/>
                <a:gd name="connsiteX3" fmla="*/ 1 w 2326179"/>
                <a:gd name="connsiteY3" fmla="*/ 0 h 257442"/>
                <a:gd name="connsiteX0" fmla="*/ 2326179 w 2326179"/>
                <a:gd name="connsiteY0" fmla="*/ 0 h 257442"/>
                <a:gd name="connsiteX1" fmla="*/ 2271458 w 2326179"/>
                <a:gd name="connsiteY1" fmla="*/ 257442 h 257442"/>
                <a:gd name="connsiteX2" fmla="*/ 0 w 2326179"/>
                <a:gd name="connsiteY2" fmla="*/ 257442 h 257442"/>
                <a:gd name="connsiteX3" fmla="*/ 1 w 2326179"/>
                <a:gd name="connsiteY3" fmla="*/ 0 h 257442"/>
                <a:gd name="connsiteX0" fmla="*/ 2326178 w 2326178"/>
                <a:gd name="connsiteY0" fmla="*/ 0 h 257442"/>
                <a:gd name="connsiteX1" fmla="*/ 2271457 w 2326178"/>
                <a:gd name="connsiteY1" fmla="*/ 257442 h 257442"/>
                <a:gd name="connsiteX2" fmla="*/ 0 w 2326178"/>
                <a:gd name="connsiteY2" fmla="*/ 257442 h 257442"/>
                <a:gd name="connsiteX3" fmla="*/ 0 w 2326178"/>
                <a:gd name="connsiteY3" fmla="*/ 0 h 257442"/>
                <a:gd name="connsiteX0" fmla="*/ 2326179 w 2326179"/>
                <a:gd name="connsiteY0" fmla="*/ 0 h 257442"/>
                <a:gd name="connsiteX1" fmla="*/ 2271458 w 2326179"/>
                <a:gd name="connsiteY1" fmla="*/ 257442 h 257442"/>
                <a:gd name="connsiteX2" fmla="*/ 1 w 2326179"/>
                <a:gd name="connsiteY2" fmla="*/ 257442 h 257442"/>
                <a:gd name="connsiteX3" fmla="*/ 0 w 2326179"/>
                <a:gd name="connsiteY3" fmla="*/ 0 h 2574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26179" h="257442">
                  <a:moveTo>
                    <a:pt x="2326179" y="0"/>
                  </a:moveTo>
                  <a:lnTo>
                    <a:pt x="2271458" y="257442"/>
                  </a:lnTo>
                  <a:lnTo>
                    <a:pt x="1" y="2574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C5C5C"/>
            </a:solidFill>
            <a:ln w="9525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18" name="btfpRunningAgenda1LevelTextLeft331797">
              <a:extLst>
                <a:ext uri="{FF2B5EF4-FFF2-40B4-BE49-F238E27FC236}">
                  <a16:creationId xmlns:a16="http://schemas.microsoft.com/office/drawing/2014/main" id="{C125C004-EB3F-BDA6-493A-4A6B52B9DB40}"/>
                </a:ext>
              </a:extLst>
            </p:cNvPr>
            <p:cNvSpPr txBox="1"/>
            <p:nvPr/>
          </p:nvSpPr>
          <p:spPr bwMode="gray">
            <a:xfrm>
              <a:off x="0" y="876300"/>
              <a:ext cx="2372445" cy="257442"/>
            </a:xfrm>
            <a:prstGeom prst="rect">
              <a:avLst/>
            </a:prstGeom>
            <a:noFill/>
          </p:spPr>
          <p:txBody>
            <a:bodyPr vert="horz" wrap="none" lIns="360363" tIns="36036" rIns="360363" bIns="36036" rtlCol="0" anchor="t">
              <a:spAutoFit/>
            </a:bodyPr>
            <a:lstStyle/>
            <a:p>
              <a:pPr marL="0" indent="0">
                <a:spcBef>
                  <a:spcPts val="0"/>
                </a:spcBef>
                <a:buNone/>
              </a:pPr>
              <a:r>
                <a:rPr lang="en-US" sz="1200" b="1" cap="all" spc="450" dirty="0">
                  <a:solidFill>
                    <a:srgbClr val="FFFFFF"/>
                  </a:solidFill>
                </a:rPr>
                <a:t>BIOTECH CO.</a:t>
              </a:r>
            </a:p>
          </p:txBody>
        </p:sp>
      </p:grpSp>
      <p:grpSp>
        <p:nvGrpSpPr>
          <p:cNvPr id="19" name="btfpIcon489350">
            <a:extLst>
              <a:ext uri="{FF2B5EF4-FFF2-40B4-BE49-F238E27FC236}">
                <a16:creationId xmlns:a16="http://schemas.microsoft.com/office/drawing/2014/main" id="{00263F59-A874-2609-802D-0B2188B12AC5}"/>
              </a:ext>
            </a:extLst>
          </p:cNvPr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>
            <a:off x="314669" y="4847737"/>
            <a:ext cx="738397" cy="738397"/>
            <a:chOff x="429126" y="4972565"/>
            <a:chExt cx="540544" cy="540544"/>
          </a:xfrm>
        </p:grpSpPr>
        <p:sp>
          <p:nvSpPr>
            <p:cNvPr id="20" name="btfpIconCircle489350">
              <a:extLst>
                <a:ext uri="{FF2B5EF4-FFF2-40B4-BE49-F238E27FC236}">
                  <a16:creationId xmlns:a16="http://schemas.microsoft.com/office/drawing/2014/main" id="{C360F53E-902A-3469-243A-A5587D1C531C}"/>
                </a:ext>
              </a:extLst>
            </p:cNvPr>
            <p:cNvSpPr>
              <a:spLocks/>
            </p:cNvSpPr>
            <p:nvPr/>
          </p:nvSpPr>
          <p:spPr bwMode="gray">
            <a:xfrm>
              <a:off x="429126" y="4972565"/>
              <a:ext cx="540544" cy="540544"/>
            </a:xfrm>
            <a:prstGeom prst="ellipse">
              <a:avLst/>
            </a:prstGeom>
            <a:solidFill>
              <a:srgbClr val="5C5C5C"/>
            </a:solidFill>
            <a:ln w="9525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pic>
          <p:nvPicPr>
            <p:cNvPr id="21" name="btfpIconLines489350">
              <a:extLst>
                <a:ext uri="{FF2B5EF4-FFF2-40B4-BE49-F238E27FC236}">
                  <a16:creationId xmlns:a16="http://schemas.microsoft.com/office/drawing/2014/main" id="{8888A368-4BF0-7C18-7102-9C8526CE5002}"/>
                </a:ext>
              </a:extLst>
            </p:cNvPr>
            <p:cNvPicPr>
              <a:picLocks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429126" y="4972565"/>
              <a:ext cx="540544" cy="540544"/>
            </a:xfrm>
            <a:prstGeom prst="rect">
              <a:avLst/>
            </a:prstGeom>
          </p:spPr>
        </p:pic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A16948CB-906C-FD3A-5618-9A3DF3D7072C}"/>
              </a:ext>
            </a:extLst>
          </p:cNvPr>
          <p:cNvSpPr/>
          <p:nvPr/>
        </p:nvSpPr>
        <p:spPr bwMode="gray">
          <a:xfrm>
            <a:off x="1327221" y="6292005"/>
            <a:ext cx="10375057" cy="320492"/>
          </a:xfrm>
          <a:prstGeom prst="rect">
            <a:avLst/>
          </a:prstGeom>
          <a:pattFill prst="ltUpDiag">
            <a:fgClr>
              <a:schemeClr val="tx2"/>
            </a:fgClr>
            <a:bgClr>
              <a:srgbClr val="FFFFFF"/>
            </a:bgClr>
          </a:patt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r>
              <a:rPr lang="en-US" sz="1000" b="1" i="1" u="sng">
                <a:solidFill>
                  <a:srgbClr val="CC0000"/>
                </a:solidFill>
              </a:rPr>
              <a:t>Potential value proposition</a:t>
            </a:r>
            <a:r>
              <a:rPr lang="en-US" sz="1000" b="1" i="1">
                <a:solidFill>
                  <a:srgbClr val="CC0000"/>
                </a:solidFill>
              </a:rPr>
              <a:t>: Develop a scalable, surge-ready pharmacovigilance platform that combines automated intake, compliant case processing, and flexible capacity deployment to absorb volume volatility without elevating compliance risk</a:t>
            </a:r>
            <a:endParaRPr lang="en-US" sz="1000" b="1" i="1">
              <a:solidFill>
                <a:srgbClr val="CC0000"/>
              </a:solidFill>
              <a:highlight>
                <a:srgbClr val="FFFF00"/>
              </a:highlight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546713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6DB18-F572-33ED-ADAD-3C5182A29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hink-cell data - do not delete" hidden="1">
            <a:extLst>
              <a:ext uri="{FF2B5EF4-FFF2-40B4-BE49-F238E27FC236}">
                <a16:creationId xmlns:a16="http://schemas.microsoft.com/office/drawing/2014/main" id="{C583D6C1-7406-3877-61DA-5281153DE89F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06164092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360" imgH="360" progId="TCLayout.ActiveDocument.1">
                  <p:embed/>
                </p:oleObj>
              </mc:Choice>
              <mc:Fallback>
                <p:oleObj name="think-cell Slide" r:id="rId10" imgW="360" imgH="360" progId="TCLayout.ActiveDocument.1">
                  <p:embed/>
                  <p:pic>
                    <p:nvPicPr>
                      <p:cNvPr id="1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583D6C1-7406-3877-61DA-5281153DE8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7" name="btfpPhotoGeneric261510">
            <a:extLst>
              <a:ext uri="{FF2B5EF4-FFF2-40B4-BE49-F238E27FC236}">
                <a16:creationId xmlns:a16="http://schemas.microsoft.com/office/drawing/2014/main" id="{793864D4-EED1-5563-2469-B20F32C10BB4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" t="45864" r="3" b="45864"/>
          <a:stretch>
            <a:fillRect/>
          </a:stretch>
        </p:blipFill>
        <p:spPr>
          <a:xfrm>
            <a:off x="297335" y="1322591"/>
            <a:ext cx="11531603" cy="631292"/>
          </a:xfrm>
          <a:prstGeom prst="rect">
            <a:avLst/>
          </a:prstGeom>
        </p:spPr>
      </p:pic>
      <p:graphicFrame>
        <p:nvGraphicFramePr>
          <p:cNvPr id="15" name="btfpTable642749">
            <a:extLst>
              <a:ext uri="{FF2B5EF4-FFF2-40B4-BE49-F238E27FC236}">
                <a16:creationId xmlns:a16="http://schemas.microsoft.com/office/drawing/2014/main" id="{C447E4C8-D254-82D9-E245-E3ADB47D5C05}"/>
              </a:ext>
            </a:extLst>
          </p:cNvPr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589508950"/>
              </p:ext>
            </p:extLst>
          </p:nvPr>
        </p:nvGraphicFramePr>
        <p:xfrm>
          <a:off x="305145" y="1295032"/>
          <a:ext cx="11523793" cy="4939170"/>
        </p:xfrm>
        <a:graphic>
          <a:graphicData uri="http://schemas.openxmlformats.org/drawingml/2006/table">
            <a:tbl>
              <a:tblPr firstRow="1" firstCol="1">
                <a:tableStyleId>{9D7B26C5-4107-4FEC-AEDC-1716B250A1EF}</a:tableStyleId>
              </a:tblPr>
              <a:tblGrid>
                <a:gridCol w="1064091">
                  <a:extLst>
                    <a:ext uri="{9D8B030D-6E8A-4147-A177-3AD203B41FA5}">
                      <a16:colId xmlns:a16="http://schemas.microsoft.com/office/drawing/2014/main" val="3439300168"/>
                    </a:ext>
                  </a:extLst>
                </a:gridCol>
                <a:gridCol w="3063109">
                  <a:extLst>
                    <a:ext uri="{9D8B030D-6E8A-4147-A177-3AD203B41FA5}">
                      <a16:colId xmlns:a16="http://schemas.microsoft.com/office/drawing/2014/main" val="3415317160"/>
                    </a:ext>
                  </a:extLst>
                </a:gridCol>
                <a:gridCol w="2512643">
                  <a:extLst>
                    <a:ext uri="{9D8B030D-6E8A-4147-A177-3AD203B41FA5}">
                      <a16:colId xmlns:a16="http://schemas.microsoft.com/office/drawing/2014/main" val="1337811024"/>
                    </a:ext>
                  </a:extLst>
                </a:gridCol>
                <a:gridCol w="2449827">
                  <a:extLst>
                    <a:ext uri="{9D8B030D-6E8A-4147-A177-3AD203B41FA5}">
                      <a16:colId xmlns:a16="http://schemas.microsoft.com/office/drawing/2014/main" val="1273837817"/>
                    </a:ext>
                  </a:extLst>
                </a:gridCol>
                <a:gridCol w="2434123">
                  <a:extLst>
                    <a:ext uri="{9D8B030D-6E8A-4147-A177-3AD203B41FA5}">
                      <a16:colId xmlns:a16="http://schemas.microsoft.com/office/drawing/2014/main" val="3436980134"/>
                    </a:ext>
                  </a:extLst>
                </a:gridCol>
              </a:tblGrid>
              <a:tr h="656730">
                <a:tc>
                  <a:txBody>
                    <a:bodyPr/>
                    <a:lstStyle/>
                    <a:p>
                      <a:pPr marL="0" lvl="0" indent="0" algn="l" defTabSz="711200" rtl="0" eaLnBrk="1" latinLnBrk="0" hangingPunct="1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US" sz="1000" b="1" i="0" u="none" baseline="0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Service line</a:t>
                      </a:r>
                    </a:p>
                  </a:txBody>
                  <a:tcPr anchor="b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defTabSz="711200" rtl="0" eaLnBrk="1" latinLnBrk="0" hangingPunct="1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US" sz="1000" b="1" i="0" u="none" baseline="0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Current vendor landscape</a:t>
                      </a:r>
                    </a:p>
                  </a:txBody>
                  <a:tcPr anchor="b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defTabSz="711200" rtl="0" eaLnBrk="1" latinLnBrk="0" hangingPunct="1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US" sz="1000" b="1" i="0" u="none" baseline="0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Primary drivers of dissatisfaction</a:t>
                      </a:r>
                    </a:p>
                  </a:txBody>
                  <a:tcPr anchor="b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defTabSz="711200" rtl="0" eaLnBrk="1" latinLnBrk="0" hangingPunct="1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US" sz="1000" b="1" i="0" u="none" baseline="0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Triggers for switching vendors </a:t>
                      </a:r>
                      <a:r>
                        <a:rPr lang="en-US" sz="1000" b="0" i="1" u="none" baseline="0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(Potential entry wedge for new vendors)</a:t>
                      </a:r>
                    </a:p>
                  </a:txBody>
                  <a:tcPr anchor="b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defTabSz="711200" rtl="0" eaLnBrk="1" latinLnBrk="0" hangingPunct="1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US" sz="1000" b="1" i="0" u="none" baseline="0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Potential scope expansion </a:t>
                      </a:r>
                      <a:r>
                        <a:rPr lang="en-US" sz="1000" b="0" i="1" u="none" baseline="0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(Emerging areas with potential o/s)</a:t>
                      </a:r>
                    </a:p>
                  </a:txBody>
                  <a:tcPr anchor="b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6073152"/>
                  </a:ext>
                </a:extLst>
              </a:tr>
              <a:tr h="3230120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1050">
                          <a:solidFill>
                            <a:schemeClr val="bg1"/>
                          </a:solidFill>
                        </a:rPr>
                        <a:t>Commercial (S&amp;M)</a:t>
                      </a:r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</a:pPr>
                      <a:r>
                        <a:rPr lang="en-US" sz="1000" b="1" dirty="0"/>
                        <a:t>IQVIA:</a:t>
                      </a:r>
                      <a:r>
                        <a:rPr lang="en-US" sz="1000" dirty="0"/>
                        <a:t> Sales performance analytics and reporting support, providing national claims and prescription datasets used for HCP targeting and field activity measurement</a:t>
                      </a:r>
                    </a:p>
                    <a:p>
                      <a:pPr>
                        <a:spcBef>
                          <a:spcPts val="600"/>
                        </a:spcBef>
                      </a:pPr>
                      <a:r>
                        <a:rPr lang="en-US" sz="1000" b="1" dirty="0"/>
                        <a:t>Komodo Health:</a:t>
                      </a:r>
                      <a:r>
                        <a:rPr lang="en-US" sz="1000" dirty="0"/>
                        <a:t> Additional proprietary, Rx-level data (via partnerships with Texas Oncology, etc.) to fill gaps in IQVIA coverage &amp; improve physician-level targeting accuracy</a:t>
                      </a:r>
                    </a:p>
                    <a:p>
                      <a:pPr>
                        <a:spcBef>
                          <a:spcPts val="600"/>
                        </a:spcBef>
                      </a:pPr>
                      <a:r>
                        <a:rPr lang="en-US" sz="1000" b="1" dirty="0"/>
                        <a:t>ZS Associates:</a:t>
                      </a:r>
                      <a:r>
                        <a:rPr lang="en-US" sz="1000" dirty="0"/>
                        <a:t> Commercial ops enablement, converting IQVIA/Komodo data into HCP target lists, territory alignments, call plans and rep effectiveness tracking</a:t>
                      </a:r>
                    </a:p>
                    <a:p>
                      <a:pPr>
                        <a:spcBef>
                          <a:spcPts val="600"/>
                        </a:spcBef>
                      </a:pPr>
                      <a:r>
                        <a:rPr lang="en-US" sz="1000" b="1" dirty="0"/>
                        <a:t>Ogilvy: </a:t>
                      </a:r>
                      <a:r>
                        <a:rPr lang="en-US" sz="1000" b="0" dirty="0"/>
                        <a:t>D</a:t>
                      </a:r>
                      <a:r>
                        <a:rPr lang="en-US" sz="1000" dirty="0"/>
                        <a:t>evelops and iterates rep-facing branded materials (detail aids, campaign assets for the field team)</a:t>
                      </a:r>
                    </a:p>
                    <a:p>
                      <a:pPr>
                        <a:spcBef>
                          <a:spcPts val="600"/>
                        </a:spcBef>
                      </a:pPr>
                      <a:r>
                        <a:rPr lang="en-US" sz="1000" b="1" dirty="0"/>
                        <a:t>Health Interactions &amp; EVERSANA:</a:t>
                      </a:r>
                      <a:r>
                        <a:rPr lang="en-US" sz="1000" dirty="0"/>
                        <a:t> Patient-facing promo materials &amp; refresh of education materials (Rare-disease patients – Health Interactions; Others – EVERSANA)</a:t>
                      </a:r>
                    </a:p>
                    <a:p>
                      <a:pPr>
                        <a:spcBef>
                          <a:spcPts val="600"/>
                        </a:spcBef>
                      </a:pPr>
                      <a:r>
                        <a:rPr lang="en-US" sz="1000" b="1" dirty="0"/>
                        <a:t>Ropes &amp; Gray:</a:t>
                      </a:r>
                      <a:r>
                        <a:rPr lang="en-US" sz="1000" dirty="0"/>
                        <a:t> MLR-aligned legal review - compliance oversight for promotional and patient-facing materials</a:t>
                      </a:r>
                    </a:p>
                    <a:p>
                      <a:pPr>
                        <a:spcBef>
                          <a:spcPts val="600"/>
                        </a:spcBef>
                      </a:pPr>
                      <a:endParaRPr lang="en-US" sz="1000" dirty="0"/>
                    </a:p>
                    <a:p>
                      <a:pPr>
                        <a:spcBef>
                          <a:spcPts val="600"/>
                        </a:spcBef>
                      </a:pPr>
                      <a:endParaRPr lang="en-US" sz="10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</a:pPr>
                      <a:r>
                        <a:rPr lang="en-US" sz="1000" b="1" u="sng" dirty="0"/>
                        <a:t>IQVIA</a:t>
                      </a:r>
                      <a:r>
                        <a:rPr lang="en-US" sz="1000" b="1" dirty="0"/>
                        <a:t>: </a:t>
                      </a:r>
                      <a:r>
                        <a:rPr lang="en-US" sz="1000" dirty="0"/>
                        <a:t>Non-comprehensive physician-level data coverage in certain therapeutic pockets, requiring supplemental data sources</a:t>
                      </a:r>
                    </a:p>
                    <a:p>
                      <a:pPr>
                        <a:spcBef>
                          <a:spcPts val="600"/>
                        </a:spcBef>
                      </a:pPr>
                      <a:r>
                        <a:rPr lang="en-US" sz="1000" b="1" u="sng" dirty="0"/>
                        <a:t>Komodo</a:t>
                      </a:r>
                      <a:r>
                        <a:rPr lang="en-US" sz="1000" b="1" dirty="0"/>
                        <a:t>: </a:t>
                      </a:r>
                      <a:r>
                        <a:rPr lang="en-US" sz="1000" dirty="0"/>
                        <a:t>Partial clinic participation &amp; provider opt-outs create data gaps in some geos/ systems, limiting physician-level granularity, needing cross-validation across sources</a:t>
                      </a:r>
                    </a:p>
                    <a:p>
                      <a:pPr>
                        <a:spcBef>
                          <a:spcPts val="600"/>
                        </a:spcBef>
                      </a:pPr>
                      <a:r>
                        <a:rPr lang="en-US" sz="1000" b="1" u="sng" dirty="0"/>
                        <a:t>Ogilvy</a:t>
                      </a:r>
                      <a:r>
                        <a:rPr lang="en-US" sz="1000" b="1" dirty="0"/>
                        <a:t>:</a:t>
                      </a:r>
                      <a:r>
                        <a:rPr lang="en-US" sz="1000" dirty="0"/>
                        <a:t> Repeated late-stage accuracy lapses in commercial materials (e.g., disease name misspellings discovered in final legal review), causing reprints and launch delays despite extended review cycles</a:t>
                      </a:r>
                    </a:p>
                    <a:p>
                      <a:pPr>
                        <a:spcBef>
                          <a:spcPts val="600"/>
                        </a:spcBef>
                      </a:pPr>
                      <a:r>
                        <a:rPr lang="en-US" sz="1000" b="1" u="sng" dirty="0"/>
                        <a:t>EVERSANA</a:t>
                      </a:r>
                      <a:r>
                        <a:rPr lang="en-US" sz="1000" b="1" dirty="0"/>
                        <a:t>:</a:t>
                      </a:r>
                      <a:r>
                        <a:rPr lang="en-US" sz="1000" dirty="0"/>
                        <a:t> Creative misalignment with target patient in campaigns (e.g., PBC</a:t>
                      </a:r>
                      <a:r>
                        <a:rPr lang="en-US" sz="1000" baseline="30000" dirty="0"/>
                        <a:t>1</a:t>
                      </a:r>
                      <a:r>
                        <a:rPr lang="en-US" sz="1000" dirty="0"/>
                        <a:t> materials featuring visibly elderly patients despite core patient population being middle-aged women ~50s), signaling limited therapeutic specificity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</a:pPr>
                      <a:r>
                        <a:rPr lang="en-US" sz="1000" b="1" dirty="0"/>
                        <a:t>Slow Launch:</a:t>
                      </a:r>
                      <a:r>
                        <a:rPr lang="en-US" sz="1000" dirty="0"/>
                        <a:t> Inability to implement CRM workflows, incentive structures, dashboards within 8-12 weeks; delayed launch readiness</a:t>
                      </a:r>
                    </a:p>
                    <a:p>
                      <a:pPr>
                        <a:spcBef>
                          <a:spcPts val="600"/>
                        </a:spcBef>
                      </a:pPr>
                      <a:r>
                        <a:rPr lang="en-US" sz="1000" b="1" dirty="0"/>
                        <a:t>Revenue Visibility Gaps:</a:t>
                      </a:r>
                      <a:r>
                        <a:rPr lang="en-US" sz="1000" dirty="0"/>
                        <a:t> Failure to link field activity to NRX</a:t>
                      </a:r>
                      <a:r>
                        <a:rPr lang="en-US" sz="1000" baseline="30000" dirty="0"/>
                        <a:t>2</a:t>
                      </a:r>
                      <a:r>
                        <a:rPr lang="en-US" sz="1000" dirty="0"/>
                        <a:t>, territory performance, and launch ramp velocity; absence of executive-ready dashboards</a:t>
                      </a:r>
                    </a:p>
                    <a:p>
                      <a:pPr>
                        <a:spcBef>
                          <a:spcPts val="600"/>
                        </a:spcBef>
                      </a:pPr>
                      <a:r>
                        <a:rPr lang="en-US" sz="1000" b="1" dirty="0"/>
                        <a:t>CRM under-optimization: </a:t>
                      </a:r>
                      <a:r>
                        <a:rPr lang="en-US" sz="1000" dirty="0"/>
                        <a:t>CRM implemented but not performance-driven – suboptimal workflow logic, low adoption, weak reporting, and no clear revenue impact beyond basic configuration</a:t>
                      </a:r>
                    </a:p>
                    <a:p>
                      <a:pPr>
                        <a:spcBef>
                          <a:spcPts val="600"/>
                        </a:spcBef>
                      </a:pPr>
                      <a:r>
                        <a:rPr lang="en-US" sz="1000" b="1" dirty="0"/>
                        <a:t>Incentive &amp; Territory Misalignment:</a:t>
                      </a:r>
                      <a:r>
                        <a:rPr lang="en-US" sz="1000" dirty="0"/>
                        <a:t> Lack of clear incentive compensation governance or fair territory alignment, creating field frustration and productivity leakage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</a:pPr>
                      <a:r>
                        <a:rPr lang="en-US" sz="1000" b="1" dirty="0"/>
                        <a:t>Virtual Sales Engagement Infra</a:t>
                      </a:r>
                      <a:r>
                        <a:rPr lang="en-US" sz="1000" dirty="0"/>
                        <a:t>: Compliant virtual call platforms for reps (beyond standard Zoom), incl. secure video tooling aligned to institutional firewall requirements</a:t>
                      </a:r>
                    </a:p>
                    <a:p>
                      <a:pPr marL="177800" indent="-177800">
                        <a:spcBef>
                          <a:spcPts val="600"/>
                        </a:spcBef>
                      </a:pPr>
                      <a:r>
                        <a:rPr lang="en-US" sz="1000" b="1" dirty="0"/>
                        <a:t>AI-Driven Optimization </a:t>
                      </a:r>
                      <a:r>
                        <a:rPr lang="en-US" sz="1000" b="0" dirty="0"/>
                        <a:t>(e.g. P</a:t>
                      </a:r>
                      <a:r>
                        <a:rPr lang="en-US" sz="1000" dirty="0"/>
                        <a:t>redictive activity models to guide rep prioritization; “next best action” derived from what has historically worked, adjusted for data confidence &amp; quality; Requires perf. analysis &amp; forecasting to instruct rep behavior in real time)</a:t>
                      </a:r>
                    </a:p>
                    <a:p>
                      <a:pPr>
                        <a:spcBef>
                          <a:spcPts val="600"/>
                        </a:spcBef>
                      </a:pPr>
                      <a:r>
                        <a:rPr lang="en-US" sz="1000" b="1" dirty="0"/>
                        <a:t>Data partnerships and integrations/ inter-operability: </a:t>
                      </a:r>
                      <a:r>
                        <a:rPr lang="en-US" sz="1000" dirty="0"/>
                        <a:t>Use of state-specific or clinic-level data partnerships (e.g., ingestion of real-world data aggregates from Texas Oncology, Florida Cancer) to address blind spots in national datasets; Overlay multiple proprietary sources to improve physician-level accuracy and inform micro-market decision-making</a:t>
                      </a:r>
                    </a:p>
                    <a:p>
                      <a:pPr lvl="1">
                        <a:spcBef>
                          <a:spcPts val="0"/>
                        </a:spcBef>
                      </a:pPr>
                      <a:endParaRPr lang="en-US" sz="800" dirty="0"/>
                    </a:p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endParaRPr lang="en-US" sz="1000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730996"/>
                  </a:ext>
                </a:extLst>
              </a:tr>
            </a:tbl>
          </a:graphicData>
        </a:graphic>
      </p:graphicFrame>
      <p:sp>
        <p:nvSpPr>
          <p:cNvPr id="31" name="btfpNotesBox429293">
            <a:extLst>
              <a:ext uri="{FF2B5EF4-FFF2-40B4-BE49-F238E27FC236}">
                <a16:creationId xmlns:a16="http://schemas.microsoft.com/office/drawing/2014/main" id="{8DD30F16-1DF7-852C-3112-5B0759EA991B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gray">
          <a:xfrm>
            <a:off x="330200" y="6681106"/>
            <a:ext cx="9657858" cy="123111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 anchor="b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800">
                <a:solidFill>
                  <a:srgbClr val="000000"/>
                </a:solidFill>
              </a:rPr>
              <a:t>Note: 1. Primary Biliary Cholangitis | 2. New-to-Brand Prescriptions | Source: Market participant interviews, Bain analysis </a:t>
            </a:r>
          </a:p>
        </p:txBody>
      </p:sp>
      <p:grpSp>
        <p:nvGrpSpPr>
          <p:cNvPr id="12" name="btfpColumnIndicatorGroup2">
            <a:extLst>
              <a:ext uri="{FF2B5EF4-FFF2-40B4-BE49-F238E27FC236}">
                <a16:creationId xmlns:a16="http://schemas.microsoft.com/office/drawing/2014/main" id="{68F1D1E9-FAC3-FEFE-FA40-A79918116135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10" name="btfpColumnGapBlocker597887">
              <a:extLst>
                <a:ext uri="{FF2B5EF4-FFF2-40B4-BE49-F238E27FC236}">
                  <a16:creationId xmlns:a16="http://schemas.microsoft.com/office/drawing/2014/main" id="{8B6198D6-B1BF-51BF-AE0D-D7A1D7A52E02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8" name="btfpColumnGapBlocker710399">
              <a:extLst>
                <a:ext uri="{FF2B5EF4-FFF2-40B4-BE49-F238E27FC236}">
                  <a16:creationId xmlns:a16="http://schemas.microsoft.com/office/drawing/2014/main" id="{89B5AAAE-5F1B-119D-28CA-0E7F824C5E05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6" name="btfpColumnIndicator128682">
              <a:extLst>
                <a:ext uri="{FF2B5EF4-FFF2-40B4-BE49-F238E27FC236}">
                  <a16:creationId xmlns:a16="http://schemas.microsoft.com/office/drawing/2014/main" id="{3FC10128-F609-A71F-9916-55D6950C0CCE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btfpColumnIndicator962947">
              <a:extLst>
                <a:ext uri="{FF2B5EF4-FFF2-40B4-BE49-F238E27FC236}">
                  <a16:creationId xmlns:a16="http://schemas.microsoft.com/office/drawing/2014/main" id="{7CF6876C-5233-E8BC-E902-5213ECE5B9FF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btfpColumnIndicatorGroup1">
            <a:extLst>
              <a:ext uri="{FF2B5EF4-FFF2-40B4-BE49-F238E27FC236}">
                <a16:creationId xmlns:a16="http://schemas.microsoft.com/office/drawing/2014/main" id="{B5442E41-AA19-7F6C-BF44-6F705E94246E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9" name="btfpColumnGapBlocker192180">
              <a:extLst>
                <a:ext uri="{FF2B5EF4-FFF2-40B4-BE49-F238E27FC236}">
                  <a16:creationId xmlns:a16="http://schemas.microsoft.com/office/drawing/2014/main" id="{6D0AC8AC-6DDE-365C-4DB0-6FF1C8375018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7" name="btfpColumnGapBlocker142960">
              <a:extLst>
                <a:ext uri="{FF2B5EF4-FFF2-40B4-BE49-F238E27FC236}">
                  <a16:creationId xmlns:a16="http://schemas.microsoft.com/office/drawing/2014/main" id="{6414CB5F-C725-5B61-85AB-166133BBE00F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5" name="btfpColumnIndicator689214">
              <a:extLst>
                <a:ext uri="{FF2B5EF4-FFF2-40B4-BE49-F238E27FC236}">
                  <a16:creationId xmlns:a16="http://schemas.microsoft.com/office/drawing/2014/main" id="{13E1660B-4B5B-A40D-C5A9-C23CCDF57634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btfpColumnIndicator604722">
              <a:extLst>
                <a:ext uri="{FF2B5EF4-FFF2-40B4-BE49-F238E27FC236}">
                  <a16:creationId xmlns:a16="http://schemas.microsoft.com/office/drawing/2014/main" id="{35EEEB66-E6A7-4811-1BBA-169DDB943E3E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D2DFD65-86C9-CE6F-941E-5AE14B5CB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b="1" dirty="0"/>
              <a:t>Customer case study- Ipsen (2/3): </a:t>
            </a:r>
            <a:r>
              <a:rPr lang="en-US" dirty="0"/>
              <a:t>Potential to differentiate by offering digital/ AI capabilities, coupled with access to comprehensive datasets</a:t>
            </a:r>
          </a:p>
        </p:txBody>
      </p:sp>
      <p:sp>
        <p:nvSpPr>
          <p:cNvPr id="13" name="btfpNumberBubble399258">
            <a:extLst>
              <a:ext uri="{FF2B5EF4-FFF2-40B4-BE49-F238E27FC236}">
                <a16:creationId xmlns:a16="http://schemas.microsoft.com/office/drawing/2014/main" id="{EE0B033D-FF75-6F90-EE0A-F10A5540AC76}"/>
              </a:ext>
            </a:extLst>
          </p:cNvPr>
          <p:cNvSpPr/>
          <p:nvPr/>
        </p:nvSpPr>
        <p:spPr bwMode="gray">
          <a:xfrm>
            <a:off x="54684" y="82614"/>
            <a:ext cx="288636" cy="28863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400" b="1">
                <a:solidFill>
                  <a:srgbClr val="CC0000"/>
                </a:solidFill>
              </a:rPr>
              <a:t>4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2D0A964-A1E4-FDB0-E5C0-F6CD6CE39758}"/>
              </a:ext>
            </a:extLst>
          </p:cNvPr>
          <p:cNvSpPr/>
          <p:nvPr/>
        </p:nvSpPr>
        <p:spPr bwMode="gray">
          <a:xfrm>
            <a:off x="1454046" y="5900112"/>
            <a:ext cx="10375057" cy="320492"/>
          </a:xfrm>
          <a:prstGeom prst="rect">
            <a:avLst/>
          </a:prstGeom>
          <a:pattFill prst="ltUpDiag">
            <a:fgClr>
              <a:srgbClr val="D6D6D6"/>
            </a:fgClr>
            <a:bgClr>
              <a:srgbClr val="FFFFFF"/>
            </a:bgClr>
          </a:patt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r>
              <a:rPr lang="en-US" sz="1000" b="1" i="1" u="sng">
                <a:solidFill>
                  <a:srgbClr val="CC0000"/>
                </a:solidFill>
              </a:rPr>
              <a:t>Potential value proposition</a:t>
            </a:r>
            <a:r>
              <a:rPr lang="en-US" sz="1000" b="1" i="1">
                <a:solidFill>
                  <a:srgbClr val="CC0000"/>
                </a:solidFill>
              </a:rPr>
              <a:t>: Establish a digitally enabled commercial activation platform that embeds compliant virtual engagement infrastructure, AI-driven next-best-action models, and real-time performance steering to enhance rep effectiveness and launch precision</a:t>
            </a:r>
          </a:p>
        </p:txBody>
      </p:sp>
      <p:grpSp>
        <p:nvGrpSpPr>
          <p:cNvPr id="18" name="btfpRunningAgenda1Level331797">
            <a:extLst>
              <a:ext uri="{FF2B5EF4-FFF2-40B4-BE49-F238E27FC236}">
                <a16:creationId xmlns:a16="http://schemas.microsoft.com/office/drawing/2014/main" id="{44CBE0BC-298C-0C7C-71EB-927AD975A6BF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-1" y="944429"/>
            <a:ext cx="2372446" cy="257442"/>
            <a:chOff x="-1" y="876300"/>
            <a:chExt cx="2372446" cy="257442"/>
          </a:xfrm>
        </p:grpSpPr>
        <p:sp>
          <p:nvSpPr>
            <p:cNvPr id="19" name="btfpRunningAgenda1LevelBarLeft331797">
              <a:extLst>
                <a:ext uri="{FF2B5EF4-FFF2-40B4-BE49-F238E27FC236}">
                  <a16:creationId xmlns:a16="http://schemas.microsoft.com/office/drawing/2014/main" id="{0B0830B7-1C5E-5576-4CF2-24904EE53B03}"/>
                </a:ext>
              </a:extLst>
            </p:cNvPr>
            <p:cNvSpPr/>
            <p:nvPr/>
          </p:nvSpPr>
          <p:spPr bwMode="gray">
            <a:xfrm>
              <a:off x="-1" y="876300"/>
              <a:ext cx="2326179" cy="257442"/>
            </a:xfrm>
            <a:custGeom>
              <a:avLst/>
              <a:gdLst>
                <a:gd name="connsiteX0" fmla="*/ 950801 w 1870925"/>
                <a:gd name="connsiteY0" fmla="*/ 0 h 257442"/>
                <a:gd name="connsiteX1" fmla="*/ 1870925 w 1870925"/>
                <a:gd name="connsiteY1" fmla="*/ 0 h 257442"/>
                <a:gd name="connsiteX2" fmla="*/ 1816204 w 1870925"/>
                <a:gd name="connsiteY2" fmla="*/ 257442 h 257442"/>
                <a:gd name="connsiteX3" fmla="*/ 0 w 1870925"/>
                <a:gd name="connsiteY3" fmla="*/ 257442 h 257442"/>
                <a:gd name="connsiteX0" fmla="*/ 950801 w 1816204"/>
                <a:gd name="connsiteY0" fmla="*/ 0 h 257442"/>
                <a:gd name="connsiteX1" fmla="*/ 896081 w 1816204"/>
                <a:gd name="connsiteY1" fmla="*/ 257442 h 257442"/>
                <a:gd name="connsiteX2" fmla="*/ 1816204 w 1816204"/>
                <a:gd name="connsiteY2" fmla="*/ 257442 h 257442"/>
                <a:gd name="connsiteX3" fmla="*/ 0 w 1816204"/>
                <a:gd name="connsiteY3" fmla="*/ 257442 h 257442"/>
                <a:gd name="connsiteX0" fmla="*/ 950801 w 950801"/>
                <a:gd name="connsiteY0" fmla="*/ 0 h 257442"/>
                <a:gd name="connsiteX1" fmla="*/ 896081 w 950801"/>
                <a:gd name="connsiteY1" fmla="*/ 257442 h 257442"/>
                <a:gd name="connsiteX2" fmla="*/ 1 w 950801"/>
                <a:gd name="connsiteY2" fmla="*/ 257442 h 257442"/>
                <a:gd name="connsiteX3" fmla="*/ 0 w 950801"/>
                <a:gd name="connsiteY3" fmla="*/ 257442 h 257442"/>
                <a:gd name="connsiteX0" fmla="*/ 950800 w 950800"/>
                <a:gd name="connsiteY0" fmla="*/ 0 h 257442"/>
                <a:gd name="connsiteX1" fmla="*/ 896080 w 950800"/>
                <a:gd name="connsiteY1" fmla="*/ 257442 h 257442"/>
                <a:gd name="connsiteX2" fmla="*/ 0 w 950800"/>
                <a:gd name="connsiteY2" fmla="*/ 257442 h 257442"/>
                <a:gd name="connsiteX3" fmla="*/ 1 w 950800"/>
                <a:gd name="connsiteY3" fmla="*/ 0 h 257442"/>
                <a:gd name="connsiteX0" fmla="*/ 1261784 w 1261784"/>
                <a:gd name="connsiteY0" fmla="*/ 0 h 257442"/>
                <a:gd name="connsiteX1" fmla="*/ 896080 w 1261784"/>
                <a:gd name="connsiteY1" fmla="*/ 257442 h 257442"/>
                <a:gd name="connsiteX2" fmla="*/ 0 w 1261784"/>
                <a:gd name="connsiteY2" fmla="*/ 257442 h 257442"/>
                <a:gd name="connsiteX3" fmla="*/ 1 w 1261784"/>
                <a:gd name="connsiteY3" fmla="*/ 0 h 257442"/>
                <a:gd name="connsiteX0" fmla="*/ 1261784 w 1261784"/>
                <a:gd name="connsiteY0" fmla="*/ 0 h 257442"/>
                <a:gd name="connsiteX1" fmla="*/ 1207063 w 1261784"/>
                <a:gd name="connsiteY1" fmla="*/ 257442 h 257442"/>
                <a:gd name="connsiteX2" fmla="*/ 0 w 1261784"/>
                <a:gd name="connsiteY2" fmla="*/ 257442 h 257442"/>
                <a:gd name="connsiteX3" fmla="*/ 1 w 1261784"/>
                <a:gd name="connsiteY3" fmla="*/ 0 h 257442"/>
                <a:gd name="connsiteX0" fmla="*/ 1261784 w 1261784"/>
                <a:gd name="connsiteY0" fmla="*/ 0 h 257442"/>
                <a:gd name="connsiteX1" fmla="*/ 1207063 w 1261784"/>
                <a:gd name="connsiteY1" fmla="*/ 257442 h 257442"/>
                <a:gd name="connsiteX2" fmla="*/ 0 w 1261784"/>
                <a:gd name="connsiteY2" fmla="*/ 257442 h 257442"/>
                <a:gd name="connsiteX3" fmla="*/ 1 w 1261784"/>
                <a:gd name="connsiteY3" fmla="*/ 0 h 257442"/>
                <a:gd name="connsiteX0" fmla="*/ 1261784 w 1261784"/>
                <a:gd name="connsiteY0" fmla="*/ 0 h 257442"/>
                <a:gd name="connsiteX1" fmla="*/ 1207063 w 1261784"/>
                <a:gd name="connsiteY1" fmla="*/ 257442 h 257442"/>
                <a:gd name="connsiteX2" fmla="*/ 0 w 1261784"/>
                <a:gd name="connsiteY2" fmla="*/ 257442 h 257442"/>
                <a:gd name="connsiteX3" fmla="*/ 0 w 1261784"/>
                <a:gd name="connsiteY3" fmla="*/ 0 h 257442"/>
                <a:gd name="connsiteX0" fmla="*/ 1515058 w 1515058"/>
                <a:gd name="connsiteY0" fmla="*/ 0 h 257442"/>
                <a:gd name="connsiteX1" fmla="*/ 1207063 w 1515058"/>
                <a:gd name="connsiteY1" fmla="*/ 257442 h 257442"/>
                <a:gd name="connsiteX2" fmla="*/ 0 w 1515058"/>
                <a:gd name="connsiteY2" fmla="*/ 257442 h 257442"/>
                <a:gd name="connsiteX3" fmla="*/ 0 w 1515058"/>
                <a:gd name="connsiteY3" fmla="*/ 0 h 257442"/>
                <a:gd name="connsiteX0" fmla="*/ 1515058 w 1515058"/>
                <a:gd name="connsiteY0" fmla="*/ 0 h 257442"/>
                <a:gd name="connsiteX1" fmla="*/ 1460337 w 1515058"/>
                <a:gd name="connsiteY1" fmla="*/ 257442 h 257442"/>
                <a:gd name="connsiteX2" fmla="*/ 0 w 1515058"/>
                <a:gd name="connsiteY2" fmla="*/ 257442 h 257442"/>
                <a:gd name="connsiteX3" fmla="*/ 0 w 1515058"/>
                <a:gd name="connsiteY3" fmla="*/ 0 h 257442"/>
                <a:gd name="connsiteX0" fmla="*/ 1515058 w 1515058"/>
                <a:gd name="connsiteY0" fmla="*/ 0 h 257442"/>
                <a:gd name="connsiteX1" fmla="*/ 1460337 w 1515058"/>
                <a:gd name="connsiteY1" fmla="*/ 257442 h 257442"/>
                <a:gd name="connsiteX2" fmla="*/ 0 w 1515058"/>
                <a:gd name="connsiteY2" fmla="*/ 257442 h 257442"/>
                <a:gd name="connsiteX3" fmla="*/ 0 w 1515058"/>
                <a:gd name="connsiteY3" fmla="*/ 0 h 257442"/>
                <a:gd name="connsiteX0" fmla="*/ 1515058 w 1515058"/>
                <a:gd name="connsiteY0" fmla="*/ 0 h 257442"/>
                <a:gd name="connsiteX1" fmla="*/ 1460337 w 1515058"/>
                <a:gd name="connsiteY1" fmla="*/ 257442 h 257442"/>
                <a:gd name="connsiteX2" fmla="*/ 0 w 1515058"/>
                <a:gd name="connsiteY2" fmla="*/ 257442 h 257442"/>
                <a:gd name="connsiteX3" fmla="*/ 0 w 1515058"/>
                <a:gd name="connsiteY3" fmla="*/ 0 h 257442"/>
                <a:gd name="connsiteX0" fmla="*/ 1692991 w 1692991"/>
                <a:gd name="connsiteY0" fmla="*/ 0 h 257442"/>
                <a:gd name="connsiteX1" fmla="*/ 1460337 w 1692991"/>
                <a:gd name="connsiteY1" fmla="*/ 257442 h 257442"/>
                <a:gd name="connsiteX2" fmla="*/ 0 w 1692991"/>
                <a:gd name="connsiteY2" fmla="*/ 257442 h 257442"/>
                <a:gd name="connsiteX3" fmla="*/ 0 w 1692991"/>
                <a:gd name="connsiteY3" fmla="*/ 0 h 257442"/>
                <a:gd name="connsiteX0" fmla="*/ 1692991 w 1692991"/>
                <a:gd name="connsiteY0" fmla="*/ 0 h 257442"/>
                <a:gd name="connsiteX1" fmla="*/ 1638270 w 1692991"/>
                <a:gd name="connsiteY1" fmla="*/ 257442 h 257442"/>
                <a:gd name="connsiteX2" fmla="*/ 0 w 1692991"/>
                <a:gd name="connsiteY2" fmla="*/ 257442 h 257442"/>
                <a:gd name="connsiteX3" fmla="*/ 0 w 1692991"/>
                <a:gd name="connsiteY3" fmla="*/ 0 h 257442"/>
                <a:gd name="connsiteX0" fmla="*/ 1692991 w 1692991"/>
                <a:gd name="connsiteY0" fmla="*/ 0 h 257442"/>
                <a:gd name="connsiteX1" fmla="*/ 1638270 w 1692991"/>
                <a:gd name="connsiteY1" fmla="*/ 257442 h 257442"/>
                <a:gd name="connsiteX2" fmla="*/ 0 w 1692991"/>
                <a:gd name="connsiteY2" fmla="*/ 257442 h 257442"/>
                <a:gd name="connsiteX3" fmla="*/ 0 w 1692991"/>
                <a:gd name="connsiteY3" fmla="*/ 0 h 257442"/>
                <a:gd name="connsiteX0" fmla="*/ 1692991 w 1692991"/>
                <a:gd name="connsiteY0" fmla="*/ 0 h 257442"/>
                <a:gd name="connsiteX1" fmla="*/ 1638270 w 1692991"/>
                <a:gd name="connsiteY1" fmla="*/ 257442 h 257442"/>
                <a:gd name="connsiteX2" fmla="*/ 0 w 1692991"/>
                <a:gd name="connsiteY2" fmla="*/ 257442 h 257442"/>
                <a:gd name="connsiteX3" fmla="*/ 0 w 1692991"/>
                <a:gd name="connsiteY3" fmla="*/ 0 h 257442"/>
                <a:gd name="connsiteX0" fmla="*/ 1861307 w 1861307"/>
                <a:gd name="connsiteY0" fmla="*/ 0 h 257442"/>
                <a:gd name="connsiteX1" fmla="*/ 1638270 w 1861307"/>
                <a:gd name="connsiteY1" fmla="*/ 257442 h 257442"/>
                <a:gd name="connsiteX2" fmla="*/ 0 w 1861307"/>
                <a:gd name="connsiteY2" fmla="*/ 257442 h 257442"/>
                <a:gd name="connsiteX3" fmla="*/ 0 w 1861307"/>
                <a:gd name="connsiteY3" fmla="*/ 0 h 257442"/>
                <a:gd name="connsiteX0" fmla="*/ 1861307 w 1861307"/>
                <a:gd name="connsiteY0" fmla="*/ 0 h 257442"/>
                <a:gd name="connsiteX1" fmla="*/ 1806586 w 1861307"/>
                <a:gd name="connsiteY1" fmla="*/ 257442 h 257442"/>
                <a:gd name="connsiteX2" fmla="*/ 0 w 1861307"/>
                <a:gd name="connsiteY2" fmla="*/ 257442 h 257442"/>
                <a:gd name="connsiteX3" fmla="*/ 0 w 1861307"/>
                <a:gd name="connsiteY3" fmla="*/ 0 h 257442"/>
                <a:gd name="connsiteX0" fmla="*/ 1861307 w 1861307"/>
                <a:gd name="connsiteY0" fmla="*/ 0 h 257442"/>
                <a:gd name="connsiteX1" fmla="*/ 1806586 w 1861307"/>
                <a:gd name="connsiteY1" fmla="*/ 257442 h 257442"/>
                <a:gd name="connsiteX2" fmla="*/ 0 w 1861307"/>
                <a:gd name="connsiteY2" fmla="*/ 257442 h 257442"/>
                <a:gd name="connsiteX3" fmla="*/ 0 w 1861307"/>
                <a:gd name="connsiteY3" fmla="*/ 0 h 257442"/>
                <a:gd name="connsiteX0" fmla="*/ 1861307 w 1861307"/>
                <a:gd name="connsiteY0" fmla="*/ 0 h 257442"/>
                <a:gd name="connsiteX1" fmla="*/ 1806586 w 1861307"/>
                <a:gd name="connsiteY1" fmla="*/ 257442 h 257442"/>
                <a:gd name="connsiteX2" fmla="*/ 0 w 1861307"/>
                <a:gd name="connsiteY2" fmla="*/ 257442 h 257442"/>
                <a:gd name="connsiteX3" fmla="*/ 0 w 1861307"/>
                <a:gd name="connsiteY3" fmla="*/ 0 h 257442"/>
                <a:gd name="connsiteX0" fmla="*/ 2029622 w 2029622"/>
                <a:gd name="connsiteY0" fmla="*/ 0 h 257442"/>
                <a:gd name="connsiteX1" fmla="*/ 1806586 w 2029622"/>
                <a:gd name="connsiteY1" fmla="*/ 257442 h 257442"/>
                <a:gd name="connsiteX2" fmla="*/ 0 w 2029622"/>
                <a:gd name="connsiteY2" fmla="*/ 257442 h 257442"/>
                <a:gd name="connsiteX3" fmla="*/ 0 w 2029622"/>
                <a:gd name="connsiteY3" fmla="*/ 0 h 257442"/>
                <a:gd name="connsiteX0" fmla="*/ 2029622 w 2029622"/>
                <a:gd name="connsiteY0" fmla="*/ 0 h 257442"/>
                <a:gd name="connsiteX1" fmla="*/ 1974900 w 2029622"/>
                <a:gd name="connsiteY1" fmla="*/ 257442 h 257442"/>
                <a:gd name="connsiteX2" fmla="*/ 0 w 2029622"/>
                <a:gd name="connsiteY2" fmla="*/ 257442 h 257442"/>
                <a:gd name="connsiteX3" fmla="*/ 0 w 2029622"/>
                <a:gd name="connsiteY3" fmla="*/ 0 h 257442"/>
                <a:gd name="connsiteX0" fmla="*/ 2029623 w 2029623"/>
                <a:gd name="connsiteY0" fmla="*/ 0 h 257442"/>
                <a:gd name="connsiteX1" fmla="*/ 1974901 w 2029623"/>
                <a:gd name="connsiteY1" fmla="*/ 257442 h 257442"/>
                <a:gd name="connsiteX2" fmla="*/ 0 w 2029623"/>
                <a:gd name="connsiteY2" fmla="*/ 257442 h 257442"/>
                <a:gd name="connsiteX3" fmla="*/ 1 w 2029623"/>
                <a:gd name="connsiteY3" fmla="*/ 0 h 257442"/>
                <a:gd name="connsiteX0" fmla="*/ 2029623 w 2029623"/>
                <a:gd name="connsiteY0" fmla="*/ 0 h 257442"/>
                <a:gd name="connsiteX1" fmla="*/ 1974901 w 2029623"/>
                <a:gd name="connsiteY1" fmla="*/ 257442 h 257442"/>
                <a:gd name="connsiteX2" fmla="*/ 0 w 2029623"/>
                <a:gd name="connsiteY2" fmla="*/ 257442 h 257442"/>
                <a:gd name="connsiteX3" fmla="*/ 1 w 2029623"/>
                <a:gd name="connsiteY3" fmla="*/ 0 h 257442"/>
                <a:gd name="connsiteX0" fmla="*/ 2189923 w 2189923"/>
                <a:gd name="connsiteY0" fmla="*/ 0 h 257442"/>
                <a:gd name="connsiteX1" fmla="*/ 1974901 w 2189923"/>
                <a:gd name="connsiteY1" fmla="*/ 257442 h 257442"/>
                <a:gd name="connsiteX2" fmla="*/ 0 w 2189923"/>
                <a:gd name="connsiteY2" fmla="*/ 257442 h 257442"/>
                <a:gd name="connsiteX3" fmla="*/ 1 w 2189923"/>
                <a:gd name="connsiteY3" fmla="*/ 0 h 257442"/>
                <a:gd name="connsiteX0" fmla="*/ 2189923 w 2189923"/>
                <a:gd name="connsiteY0" fmla="*/ 0 h 257442"/>
                <a:gd name="connsiteX1" fmla="*/ 2135202 w 2189923"/>
                <a:gd name="connsiteY1" fmla="*/ 257442 h 257442"/>
                <a:gd name="connsiteX2" fmla="*/ 0 w 2189923"/>
                <a:gd name="connsiteY2" fmla="*/ 257442 h 257442"/>
                <a:gd name="connsiteX3" fmla="*/ 1 w 2189923"/>
                <a:gd name="connsiteY3" fmla="*/ 0 h 257442"/>
                <a:gd name="connsiteX0" fmla="*/ 2189922 w 2189922"/>
                <a:gd name="connsiteY0" fmla="*/ 0 h 257442"/>
                <a:gd name="connsiteX1" fmla="*/ 2135201 w 2189922"/>
                <a:gd name="connsiteY1" fmla="*/ 257442 h 257442"/>
                <a:gd name="connsiteX2" fmla="*/ 0 w 2189922"/>
                <a:gd name="connsiteY2" fmla="*/ 257442 h 257442"/>
                <a:gd name="connsiteX3" fmla="*/ 0 w 2189922"/>
                <a:gd name="connsiteY3" fmla="*/ 0 h 257442"/>
                <a:gd name="connsiteX0" fmla="*/ 2189923 w 2189923"/>
                <a:gd name="connsiteY0" fmla="*/ 0 h 257442"/>
                <a:gd name="connsiteX1" fmla="*/ 2135202 w 2189923"/>
                <a:gd name="connsiteY1" fmla="*/ 257442 h 257442"/>
                <a:gd name="connsiteX2" fmla="*/ 1 w 2189923"/>
                <a:gd name="connsiteY2" fmla="*/ 257442 h 257442"/>
                <a:gd name="connsiteX3" fmla="*/ 0 w 2189923"/>
                <a:gd name="connsiteY3" fmla="*/ 0 h 257442"/>
                <a:gd name="connsiteX0" fmla="*/ 2350223 w 2350223"/>
                <a:gd name="connsiteY0" fmla="*/ 0 h 257442"/>
                <a:gd name="connsiteX1" fmla="*/ 2135202 w 2350223"/>
                <a:gd name="connsiteY1" fmla="*/ 257442 h 257442"/>
                <a:gd name="connsiteX2" fmla="*/ 1 w 2350223"/>
                <a:gd name="connsiteY2" fmla="*/ 257442 h 257442"/>
                <a:gd name="connsiteX3" fmla="*/ 0 w 2350223"/>
                <a:gd name="connsiteY3" fmla="*/ 0 h 257442"/>
                <a:gd name="connsiteX0" fmla="*/ 2350223 w 2350223"/>
                <a:gd name="connsiteY0" fmla="*/ 0 h 257442"/>
                <a:gd name="connsiteX1" fmla="*/ 2295502 w 2350223"/>
                <a:gd name="connsiteY1" fmla="*/ 257442 h 257442"/>
                <a:gd name="connsiteX2" fmla="*/ 1 w 2350223"/>
                <a:gd name="connsiteY2" fmla="*/ 257442 h 257442"/>
                <a:gd name="connsiteX3" fmla="*/ 0 w 2350223"/>
                <a:gd name="connsiteY3" fmla="*/ 0 h 257442"/>
                <a:gd name="connsiteX0" fmla="*/ 2350223 w 2350223"/>
                <a:gd name="connsiteY0" fmla="*/ 0 h 257442"/>
                <a:gd name="connsiteX1" fmla="*/ 2295502 w 2350223"/>
                <a:gd name="connsiteY1" fmla="*/ 257442 h 257442"/>
                <a:gd name="connsiteX2" fmla="*/ 1 w 2350223"/>
                <a:gd name="connsiteY2" fmla="*/ 257442 h 257442"/>
                <a:gd name="connsiteX3" fmla="*/ 0 w 2350223"/>
                <a:gd name="connsiteY3" fmla="*/ 0 h 257442"/>
                <a:gd name="connsiteX0" fmla="*/ 2350222 w 2350222"/>
                <a:gd name="connsiteY0" fmla="*/ 0 h 257442"/>
                <a:gd name="connsiteX1" fmla="*/ 2295501 w 2350222"/>
                <a:gd name="connsiteY1" fmla="*/ 257442 h 257442"/>
                <a:gd name="connsiteX2" fmla="*/ 0 w 2350222"/>
                <a:gd name="connsiteY2" fmla="*/ 257442 h 257442"/>
                <a:gd name="connsiteX3" fmla="*/ 0 w 2350222"/>
                <a:gd name="connsiteY3" fmla="*/ 0 h 257442"/>
                <a:gd name="connsiteX0" fmla="*/ 2518537 w 2518537"/>
                <a:gd name="connsiteY0" fmla="*/ 0 h 257442"/>
                <a:gd name="connsiteX1" fmla="*/ 2295501 w 2518537"/>
                <a:gd name="connsiteY1" fmla="*/ 257442 h 257442"/>
                <a:gd name="connsiteX2" fmla="*/ 0 w 2518537"/>
                <a:gd name="connsiteY2" fmla="*/ 257442 h 257442"/>
                <a:gd name="connsiteX3" fmla="*/ 0 w 2518537"/>
                <a:gd name="connsiteY3" fmla="*/ 0 h 257442"/>
                <a:gd name="connsiteX0" fmla="*/ 2518537 w 2518537"/>
                <a:gd name="connsiteY0" fmla="*/ 0 h 257442"/>
                <a:gd name="connsiteX1" fmla="*/ 2463816 w 2518537"/>
                <a:gd name="connsiteY1" fmla="*/ 257442 h 257442"/>
                <a:gd name="connsiteX2" fmla="*/ 0 w 2518537"/>
                <a:gd name="connsiteY2" fmla="*/ 257442 h 257442"/>
                <a:gd name="connsiteX3" fmla="*/ 0 w 2518537"/>
                <a:gd name="connsiteY3" fmla="*/ 0 h 257442"/>
                <a:gd name="connsiteX0" fmla="*/ 2518538 w 2518538"/>
                <a:gd name="connsiteY0" fmla="*/ 0 h 257442"/>
                <a:gd name="connsiteX1" fmla="*/ 2463817 w 2518538"/>
                <a:gd name="connsiteY1" fmla="*/ 257442 h 257442"/>
                <a:gd name="connsiteX2" fmla="*/ 0 w 2518538"/>
                <a:gd name="connsiteY2" fmla="*/ 257442 h 257442"/>
                <a:gd name="connsiteX3" fmla="*/ 1 w 2518538"/>
                <a:gd name="connsiteY3" fmla="*/ 0 h 257442"/>
                <a:gd name="connsiteX0" fmla="*/ 2518538 w 2518538"/>
                <a:gd name="connsiteY0" fmla="*/ 0 h 257442"/>
                <a:gd name="connsiteX1" fmla="*/ 2463817 w 2518538"/>
                <a:gd name="connsiteY1" fmla="*/ 257442 h 257442"/>
                <a:gd name="connsiteX2" fmla="*/ 0 w 2518538"/>
                <a:gd name="connsiteY2" fmla="*/ 257442 h 257442"/>
                <a:gd name="connsiteX3" fmla="*/ 0 w 2518538"/>
                <a:gd name="connsiteY3" fmla="*/ 0 h 257442"/>
                <a:gd name="connsiteX0" fmla="*/ 2686853 w 2686853"/>
                <a:gd name="connsiteY0" fmla="*/ 0 h 257442"/>
                <a:gd name="connsiteX1" fmla="*/ 2463817 w 2686853"/>
                <a:gd name="connsiteY1" fmla="*/ 257442 h 257442"/>
                <a:gd name="connsiteX2" fmla="*/ 0 w 2686853"/>
                <a:gd name="connsiteY2" fmla="*/ 257442 h 257442"/>
                <a:gd name="connsiteX3" fmla="*/ 0 w 2686853"/>
                <a:gd name="connsiteY3" fmla="*/ 0 h 257442"/>
                <a:gd name="connsiteX0" fmla="*/ 2686853 w 2686853"/>
                <a:gd name="connsiteY0" fmla="*/ 0 h 257442"/>
                <a:gd name="connsiteX1" fmla="*/ 2632132 w 2686853"/>
                <a:gd name="connsiteY1" fmla="*/ 257442 h 257442"/>
                <a:gd name="connsiteX2" fmla="*/ 0 w 2686853"/>
                <a:gd name="connsiteY2" fmla="*/ 257442 h 257442"/>
                <a:gd name="connsiteX3" fmla="*/ 0 w 2686853"/>
                <a:gd name="connsiteY3" fmla="*/ 0 h 257442"/>
                <a:gd name="connsiteX0" fmla="*/ 2686853 w 2686853"/>
                <a:gd name="connsiteY0" fmla="*/ 0 h 257442"/>
                <a:gd name="connsiteX1" fmla="*/ 2632132 w 2686853"/>
                <a:gd name="connsiteY1" fmla="*/ 257442 h 257442"/>
                <a:gd name="connsiteX2" fmla="*/ 0 w 2686853"/>
                <a:gd name="connsiteY2" fmla="*/ 257442 h 257442"/>
                <a:gd name="connsiteX3" fmla="*/ 0 w 2686853"/>
                <a:gd name="connsiteY3" fmla="*/ 0 h 257442"/>
                <a:gd name="connsiteX0" fmla="*/ 2686853 w 2686853"/>
                <a:gd name="connsiteY0" fmla="*/ 0 h 257442"/>
                <a:gd name="connsiteX1" fmla="*/ 2632132 w 2686853"/>
                <a:gd name="connsiteY1" fmla="*/ 257442 h 257442"/>
                <a:gd name="connsiteX2" fmla="*/ 0 w 2686853"/>
                <a:gd name="connsiteY2" fmla="*/ 257442 h 257442"/>
                <a:gd name="connsiteX3" fmla="*/ 0 w 2686853"/>
                <a:gd name="connsiteY3" fmla="*/ 0 h 257442"/>
                <a:gd name="connsiteX0" fmla="*/ 2518538 w 2632132"/>
                <a:gd name="connsiteY0" fmla="*/ 0 h 257442"/>
                <a:gd name="connsiteX1" fmla="*/ 2632132 w 2632132"/>
                <a:gd name="connsiteY1" fmla="*/ 257442 h 257442"/>
                <a:gd name="connsiteX2" fmla="*/ 0 w 2632132"/>
                <a:gd name="connsiteY2" fmla="*/ 257442 h 257442"/>
                <a:gd name="connsiteX3" fmla="*/ 0 w 2632132"/>
                <a:gd name="connsiteY3" fmla="*/ 0 h 257442"/>
                <a:gd name="connsiteX0" fmla="*/ 2518538 w 2518538"/>
                <a:gd name="connsiteY0" fmla="*/ 0 h 257442"/>
                <a:gd name="connsiteX1" fmla="*/ 2463817 w 2518538"/>
                <a:gd name="connsiteY1" fmla="*/ 257442 h 257442"/>
                <a:gd name="connsiteX2" fmla="*/ 0 w 2518538"/>
                <a:gd name="connsiteY2" fmla="*/ 257442 h 257442"/>
                <a:gd name="connsiteX3" fmla="*/ 0 w 2518538"/>
                <a:gd name="connsiteY3" fmla="*/ 0 h 257442"/>
                <a:gd name="connsiteX0" fmla="*/ 2518538 w 2518538"/>
                <a:gd name="connsiteY0" fmla="*/ 0 h 257442"/>
                <a:gd name="connsiteX1" fmla="*/ 2463817 w 2518538"/>
                <a:gd name="connsiteY1" fmla="*/ 257442 h 257442"/>
                <a:gd name="connsiteX2" fmla="*/ 0 w 2518538"/>
                <a:gd name="connsiteY2" fmla="*/ 257442 h 257442"/>
                <a:gd name="connsiteX3" fmla="*/ 0 w 2518538"/>
                <a:gd name="connsiteY3" fmla="*/ 0 h 257442"/>
                <a:gd name="connsiteX0" fmla="*/ 2518538 w 2518538"/>
                <a:gd name="connsiteY0" fmla="*/ 0 h 257442"/>
                <a:gd name="connsiteX1" fmla="*/ 2463817 w 2518538"/>
                <a:gd name="connsiteY1" fmla="*/ 257442 h 257442"/>
                <a:gd name="connsiteX2" fmla="*/ 0 w 2518538"/>
                <a:gd name="connsiteY2" fmla="*/ 257442 h 257442"/>
                <a:gd name="connsiteX3" fmla="*/ 0 w 2518538"/>
                <a:gd name="connsiteY3" fmla="*/ 0 h 257442"/>
                <a:gd name="connsiteX0" fmla="*/ 2787843 w 2787843"/>
                <a:gd name="connsiteY0" fmla="*/ 0 h 257442"/>
                <a:gd name="connsiteX1" fmla="*/ 2463817 w 2787843"/>
                <a:gd name="connsiteY1" fmla="*/ 257442 h 257442"/>
                <a:gd name="connsiteX2" fmla="*/ 0 w 2787843"/>
                <a:gd name="connsiteY2" fmla="*/ 257442 h 257442"/>
                <a:gd name="connsiteX3" fmla="*/ 0 w 2787843"/>
                <a:gd name="connsiteY3" fmla="*/ 0 h 257442"/>
                <a:gd name="connsiteX0" fmla="*/ 2787843 w 2787843"/>
                <a:gd name="connsiteY0" fmla="*/ 0 h 257442"/>
                <a:gd name="connsiteX1" fmla="*/ 2733122 w 2787843"/>
                <a:gd name="connsiteY1" fmla="*/ 257442 h 257442"/>
                <a:gd name="connsiteX2" fmla="*/ 0 w 2787843"/>
                <a:gd name="connsiteY2" fmla="*/ 257442 h 257442"/>
                <a:gd name="connsiteX3" fmla="*/ 0 w 2787843"/>
                <a:gd name="connsiteY3" fmla="*/ 0 h 257442"/>
                <a:gd name="connsiteX0" fmla="*/ 2787843 w 2787843"/>
                <a:gd name="connsiteY0" fmla="*/ 0 h 257442"/>
                <a:gd name="connsiteX1" fmla="*/ 2733122 w 2787843"/>
                <a:gd name="connsiteY1" fmla="*/ 257442 h 257442"/>
                <a:gd name="connsiteX2" fmla="*/ 0 w 2787843"/>
                <a:gd name="connsiteY2" fmla="*/ 257442 h 257442"/>
                <a:gd name="connsiteX3" fmla="*/ 0 w 2787843"/>
                <a:gd name="connsiteY3" fmla="*/ 0 h 257442"/>
                <a:gd name="connsiteX0" fmla="*/ 2787843 w 2787843"/>
                <a:gd name="connsiteY0" fmla="*/ 0 h 257442"/>
                <a:gd name="connsiteX1" fmla="*/ 2733122 w 2787843"/>
                <a:gd name="connsiteY1" fmla="*/ 257442 h 257442"/>
                <a:gd name="connsiteX2" fmla="*/ 0 w 2787843"/>
                <a:gd name="connsiteY2" fmla="*/ 257442 h 257442"/>
                <a:gd name="connsiteX3" fmla="*/ 0 w 2787843"/>
                <a:gd name="connsiteY3" fmla="*/ 0 h 257442"/>
                <a:gd name="connsiteX0" fmla="*/ 2965775 w 2965775"/>
                <a:gd name="connsiteY0" fmla="*/ 0 h 257442"/>
                <a:gd name="connsiteX1" fmla="*/ 2733122 w 2965775"/>
                <a:gd name="connsiteY1" fmla="*/ 257442 h 257442"/>
                <a:gd name="connsiteX2" fmla="*/ 0 w 2965775"/>
                <a:gd name="connsiteY2" fmla="*/ 257442 h 257442"/>
                <a:gd name="connsiteX3" fmla="*/ 0 w 2965775"/>
                <a:gd name="connsiteY3" fmla="*/ 0 h 257442"/>
                <a:gd name="connsiteX0" fmla="*/ 2965775 w 2965775"/>
                <a:gd name="connsiteY0" fmla="*/ 0 h 257442"/>
                <a:gd name="connsiteX1" fmla="*/ 2911054 w 2965775"/>
                <a:gd name="connsiteY1" fmla="*/ 257442 h 257442"/>
                <a:gd name="connsiteX2" fmla="*/ 0 w 2965775"/>
                <a:gd name="connsiteY2" fmla="*/ 257442 h 257442"/>
                <a:gd name="connsiteX3" fmla="*/ 0 w 2965775"/>
                <a:gd name="connsiteY3" fmla="*/ 0 h 257442"/>
                <a:gd name="connsiteX0" fmla="*/ 2965775 w 2965775"/>
                <a:gd name="connsiteY0" fmla="*/ 0 h 257442"/>
                <a:gd name="connsiteX1" fmla="*/ 2911054 w 2965775"/>
                <a:gd name="connsiteY1" fmla="*/ 257442 h 257442"/>
                <a:gd name="connsiteX2" fmla="*/ 0 w 2965775"/>
                <a:gd name="connsiteY2" fmla="*/ 257442 h 257442"/>
                <a:gd name="connsiteX3" fmla="*/ 0 w 2965775"/>
                <a:gd name="connsiteY3" fmla="*/ 0 h 257442"/>
                <a:gd name="connsiteX0" fmla="*/ 2965775 w 2965775"/>
                <a:gd name="connsiteY0" fmla="*/ 0 h 257442"/>
                <a:gd name="connsiteX1" fmla="*/ 2911054 w 2965775"/>
                <a:gd name="connsiteY1" fmla="*/ 257442 h 257442"/>
                <a:gd name="connsiteX2" fmla="*/ 0 w 2965775"/>
                <a:gd name="connsiteY2" fmla="*/ 257442 h 257442"/>
                <a:gd name="connsiteX3" fmla="*/ 0 w 2965775"/>
                <a:gd name="connsiteY3" fmla="*/ 0 h 257442"/>
                <a:gd name="connsiteX0" fmla="*/ 2797461 w 2911054"/>
                <a:gd name="connsiteY0" fmla="*/ 0 h 257442"/>
                <a:gd name="connsiteX1" fmla="*/ 2911054 w 2911054"/>
                <a:gd name="connsiteY1" fmla="*/ 257442 h 257442"/>
                <a:gd name="connsiteX2" fmla="*/ 0 w 2911054"/>
                <a:gd name="connsiteY2" fmla="*/ 257442 h 257442"/>
                <a:gd name="connsiteX3" fmla="*/ 0 w 2911054"/>
                <a:gd name="connsiteY3" fmla="*/ 0 h 257442"/>
                <a:gd name="connsiteX0" fmla="*/ 2797461 w 2797461"/>
                <a:gd name="connsiteY0" fmla="*/ 0 h 257442"/>
                <a:gd name="connsiteX1" fmla="*/ 2742740 w 2797461"/>
                <a:gd name="connsiteY1" fmla="*/ 257442 h 257442"/>
                <a:gd name="connsiteX2" fmla="*/ 0 w 2797461"/>
                <a:gd name="connsiteY2" fmla="*/ 257442 h 257442"/>
                <a:gd name="connsiteX3" fmla="*/ 0 w 2797461"/>
                <a:gd name="connsiteY3" fmla="*/ 0 h 257442"/>
                <a:gd name="connsiteX0" fmla="*/ 2797461 w 2797461"/>
                <a:gd name="connsiteY0" fmla="*/ 0 h 257442"/>
                <a:gd name="connsiteX1" fmla="*/ 2742740 w 2797461"/>
                <a:gd name="connsiteY1" fmla="*/ 257442 h 257442"/>
                <a:gd name="connsiteX2" fmla="*/ 1 w 2797461"/>
                <a:gd name="connsiteY2" fmla="*/ 257442 h 257442"/>
                <a:gd name="connsiteX3" fmla="*/ 0 w 2797461"/>
                <a:gd name="connsiteY3" fmla="*/ 0 h 257442"/>
                <a:gd name="connsiteX0" fmla="*/ 2797460 w 2797460"/>
                <a:gd name="connsiteY0" fmla="*/ 0 h 257442"/>
                <a:gd name="connsiteX1" fmla="*/ 2742739 w 2797460"/>
                <a:gd name="connsiteY1" fmla="*/ 257442 h 257442"/>
                <a:gd name="connsiteX2" fmla="*/ 0 w 2797460"/>
                <a:gd name="connsiteY2" fmla="*/ 257442 h 257442"/>
                <a:gd name="connsiteX3" fmla="*/ 0 w 2797460"/>
                <a:gd name="connsiteY3" fmla="*/ 0 h 257442"/>
                <a:gd name="connsiteX0" fmla="*/ 2957760 w 2957760"/>
                <a:gd name="connsiteY0" fmla="*/ 0 h 257442"/>
                <a:gd name="connsiteX1" fmla="*/ 2742739 w 2957760"/>
                <a:gd name="connsiteY1" fmla="*/ 257442 h 257442"/>
                <a:gd name="connsiteX2" fmla="*/ 0 w 2957760"/>
                <a:gd name="connsiteY2" fmla="*/ 257442 h 257442"/>
                <a:gd name="connsiteX3" fmla="*/ 0 w 2957760"/>
                <a:gd name="connsiteY3" fmla="*/ 0 h 257442"/>
                <a:gd name="connsiteX0" fmla="*/ 2957760 w 2957760"/>
                <a:gd name="connsiteY0" fmla="*/ 0 h 257442"/>
                <a:gd name="connsiteX1" fmla="*/ 2903039 w 2957760"/>
                <a:gd name="connsiteY1" fmla="*/ 257442 h 257442"/>
                <a:gd name="connsiteX2" fmla="*/ 0 w 2957760"/>
                <a:gd name="connsiteY2" fmla="*/ 257442 h 257442"/>
                <a:gd name="connsiteX3" fmla="*/ 0 w 2957760"/>
                <a:gd name="connsiteY3" fmla="*/ 0 h 257442"/>
                <a:gd name="connsiteX0" fmla="*/ 2957761 w 2957761"/>
                <a:gd name="connsiteY0" fmla="*/ 0 h 257442"/>
                <a:gd name="connsiteX1" fmla="*/ 2903040 w 2957761"/>
                <a:gd name="connsiteY1" fmla="*/ 257442 h 257442"/>
                <a:gd name="connsiteX2" fmla="*/ 0 w 2957761"/>
                <a:gd name="connsiteY2" fmla="*/ 257442 h 257442"/>
                <a:gd name="connsiteX3" fmla="*/ 1 w 2957761"/>
                <a:gd name="connsiteY3" fmla="*/ 0 h 257442"/>
                <a:gd name="connsiteX0" fmla="*/ 2957761 w 2957761"/>
                <a:gd name="connsiteY0" fmla="*/ 0 h 257442"/>
                <a:gd name="connsiteX1" fmla="*/ 2903040 w 2957761"/>
                <a:gd name="connsiteY1" fmla="*/ 257442 h 257442"/>
                <a:gd name="connsiteX2" fmla="*/ 0 w 2957761"/>
                <a:gd name="connsiteY2" fmla="*/ 257442 h 257442"/>
                <a:gd name="connsiteX3" fmla="*/ 1 w 2957761"/>
                <a:gd name="connsiteY3" fmla="*/ 0 h 257442"/>
                <a:gd name="connsiteX0" fmla="*/ 3143710 w 3143710"/>
                <a:gd name="connsiteY0" fmla="*/ 0 h 257442"/>
                <a:gd name="connsiteX1" fmla="*/ 2903040 w 3143710"/>
                <a:gd name="connsiteY1" fmla="*/ 257442 h 257442"/>
                <a:gd name="connsiteX2" fmla="*/ 0 w 3143710"/>
                <a:gd name="connsiteY2" fmla="*/ 257442 h 257442"/>
                <a:gd name="connsiteX3" fmla="*/ 1 w 3143710"/>
                <a:gd name="connsiteY3" fmla="*/ 0 h 257442"/>
                <a:gd name="connsiteX0" fmla="*/ 3143710 w 3143710"/>
                <a:gd name="connsiteY0" fmla="*/ 0 h 257442"/>
                <a:gd name="connsiteX1" fmla="*/ 3088988 w 3143710"/>
                <a:gd name="connsiteY1" fmla="*/ 257442 h 257442"/>
                <a:gd name="connsiteX2" fmla="*/ 0 w 3143710"/>
                <a:gd name="connsiteY2" fmla="*/ 257442 h 257442"/>
                <a:gd name="connsiteX3" fmla="*/ 1 w 3143710"/>
                <a:gd name="connsiteY3" fmla="*/ 0 h 257442"/>
                <a:gd name="connsiteX0" fmla="*/ 3143710 w 3143710"/>
                <a:gd name="connsiteY0" fmla="*/ 0 h 257442"/>
                <a:gd name="connsiteX1" fmla="*/ 3088988 w 3143710"/>
                <a:gd name="connsiteY1" fmla="*/ 257442 h 257442"/>
                <a:gd name="connsiteX2" fmla="*/ 0 w 3143710"/>
                <a:gd name="connsiteY2" fmla="*/ 257442 h 257442"/>
                <a:gd name="connsiteX3" fmla="*/ 1 w 3143710"/>
                <a:gd name="connsiteY3" fmla="*/ 0 h 257442"/>
                <a:gd name="connsiteX0" fmla="*/ 3143710 w 3143710"/>
                <a:gd name="connsiteY0" fmla="*/ 0 h 257442"/>
                <a:gd name="connsiteX1" fmla="*/ 3088988 w 3143710"/>
                <a:gd name="connsiteY1" fmla="*/ 257442 h 257442"/>
                <a:gd name="connsiteX2" fmla="*/ 0 w 3143710"/>
                <a:gd name="connsiteY2" fmla="*/ 257442 h 257442"/>
                <a:gd name="connsiteX3" fmla="*/ 0 w 3143710"/>
                <a:gd name="connsiteY3" fmla="*/ 0 h 257442"/>
                <a:gd name="connsiteX0" fmla="*/ 2787843 w 3088988"/>
                <a:gd name="connsiteY0" fmla="*/ 0 h 257442"/>
                <a:gd name="connsiteX1" fmla="*/ 3088988 w 3088988"/>
                <a:gd name="connsiteY1" fmla="*/ 257442 h 257442"/>
                <a:gd name="connsiteX2" fmla="*/ 0 w 3088988"/>
                <a:gd name="connsiteY2" fmla="*/ 257442 h 257442"/>
                <a:gd name="connsiteX3" fmla="*/ 0 w 3088988"/>
                <a:gd name="connsiteY3" fmla="*/ 0 h 257442"/>
                <a:gd name="connsiteX0" fmla="*/ 2787843 w 2787843"/>
                <a:gd name="connsiteY0" fmla="*/ 0 h 257442"/>
                <a:gd name="connsiteX1" fmla="*/ 2733122 w 2787843"/>
                <a:gd name="connsiteY1" fmla="*/ 257442 h 257442"/>
                <a:gd name="connsiteX2" fmla="*/ 0 w 2787843"/>
                <a:gd name="connsiteY2" fmla="*/ 257442 h 257442"/>
                <a:gd name="connsiteX3" fmla="*/ 0 w 2787843"/>
                <a:gd name="connsiteY3" fmla="*/ 0 h 257442"/>
                <a:gd name="connsiteX0" fmla="*/ 2787843 w 2787843"/>
                <a:gd name="connsiteY0" fmla="*/ 0 h 257442"/>
                <a:gd name="connsiteX1" fmla="*/ 2733122 w 2787843"/>
                <a:gd name="connsiteY1" fmla="*/ 257442 h 257442"/>
                <a:gd name="connsiteX2" fmla="*/ 1 w 2787843"/>
                <a:gd name="connsiteY2" fmla="*/ 257442 h 257442"/>
                <a:gd name="connsiteX3" fmla="*/ 0 w 2787843"/>
                <a:gd name="connsiteY3" fmla="*/ 0 h 257442"/>
                <a:gd name="connsiteX0" fmla="*/ 2787842 w 2787842"/>
                <a:gd name="connsiteY0" fmla="*/ 0 h 257442"/>
                <a:gd name="connsiteX1" fmla="*/ 2733121 w 2787842"/>
                <a:gd name="connsiteY1" fmla="*/ 257442 h 257442"/>
                <a:gd name="connsiteX2" fmla="*/ 0 w 2787842"/>
                <a:gd name="connsiteY2" fmla="*/ 257442 h 257442"/>
                <a:gd name="connsiteX3" fmla="*/ 0 w 2787842"/>
                <a:gd name="connsiteY3" fmla="*/ 0 h 257442"/>
                <a:gd name="connsiteX0" fmla="*/ 2965774 w 2965774"/>
                <a:gd name="connsiteY0" fmla="*/ 0 h 257442"/>
                <a:gd name="connsiteX1" fmla="*/ 2733121 w 2965774"/>
                <a:gd name="connsiteY1" fmla="*/ 257442 h 257442"/>
                <a:gd name="connsiteX2" fmla="*/ 0 w 2965774"/>
                <a:gd name="connsiteY2" fmla="*/ 257442 h 257442"/>
                <a:gd name="connsiteX3" fmla="*/ 0 w 2965774"/>
                <a:gd name="connsiteY3" fmla="*/ 0 h 257442"/>
                <a:gd name="connsiteX0" fmla="*/ 2965774 w 2965774"/>
                <a:gd name="connsiteY0" fmla="*/ 0 h 257442"/>
                <a:gd name="connsiteX1" fmla="*/ 2911053 w 2965774"/>
                <a:gd name="connsiteY1" fmla="*/ 257442 h 257442"/>
                <a:gd name="connsiteX2" fmla="*/ 0 w 2965774"/>
                <a:gd name="connsiteY2" fmla="*/ 257442 h 257442"/>
                <a:gd name="connsiteX3" fmla="*/ 0 w 2965774"/>
                <a:gd name="connsiteY3" fmla="*/ 0 h 257442"/>
                <a:gd name="connsiteX0" fmla="*/ 2965775 w 2965775"/>
                <a:gd name="connsiteY0" fmla="*/ 0 h 257442"/>
                <a:gd name="connsiteX1" fmla="*/ 2911054 w 2965775"/>
                <a:gd name="connsiteY1" fmla="*/ 257442 h 257442"/>
                <a:gd name="connsiteX2" fmla="*/ 0 w 2965775"/>
                <a:gd name="connsiteY2" fmla="*/ 257442 h 257442"/>
                <a:gd name="connsiteX3" fmla="*/ 1 w 2965775"/>
                <a:gd name="connsiteY3" fmla="*/ 0 h 257442"/>
                <a:gd name="connsiteX0" fmla="*/ 2965775 w 2965775"/>
                <a:gd name="connsiteY0" fmla="*/ 0 h 257442"/>
                <a:gd name="connsiteX1" fmla="*/ 2911054 w 2965775"/>
                <a:gd name="connsiteY1" fmla="*/ 257442 h 257442"/>
                <a:gd name="connsiteX2" fmla="*/ 0 w 2965775"/>
                <a:gd name="connsiteY2" fmla="*/ 257442 h 257442"/>
                <a:gd name="connsiteX3" fmla="*/ 1 w 2965775"/>
                <a:gd name="connsiteY3" fmla="*/ 0 h 257442"/>
                <a:gd name="connsiteX0" fmla="*/ 950802 w 2911054"/>
                <a:gd name="connsiteY0" fmla="*/ 0 h 257442"/>
                <a:gd name="connsiteX1" fmla="*/ 2911054 w 2911054"/>
                <a:gd name="connsiteY1" fmla="*/ 257442 h 257442"/>
                <a:gd name="connsiteX2" fmla="*/ 0 w 2911054"/>
                <a:gd name="connsiteY2" fmla="*/ 257442 h 257442"/>
                <a:gd name="connsiteX3" fmla="*/ 1 w 2911054"/>
                <a:gd name="connsiteY3" fmla="*/ 0 h 257442"/>
                <a:gd name="connsiteX0" fmla="*/ 950802 w 950802"/>
                <a:gd name="connsiteY0" fmla="*/ 0 h 257442"/>
                <a:gd name="connsiteX1" fmla="*/ 896081 w 950802"/>
                <a:gd name="connsiteY1" fmla="*/ 257442 h 257442"/>
                <a:gd name="connsiteX2" fmla="*/ 0 w 950802"/>
                <a:gd name="connsiteY2" fmla="*/ 257442 h 257442"/>
                <a:gd name="connsiteX3" fmla="*/ 1 w 950802"/>
                <a:gd name="connsiteY3" fmla="*/ 0 h 257442"/>
                <a:gd name="connsiteX0" fmla="*/ 950801 w 950801"/>
                <a:gd name="connsiteY0" fmla="*/ 0 h 257442"/>
                <a:gd name="connsiteX1" fmla="*/ 896080 w 950801"/>
                <a:gd name="connsiteY1" fmla="*/ 257442 h 257442"/>
                <a:gd name="connsiteX2" fmla="*/ 0 w 950801"/>
                <a:gd name="connsiteY2" fmla="*/ 257442 h 257442"/>
                <a:gd name="connsiteX3" fmla="*/ 0 w 950801"/>
                <a:gd name="connsiteY3" fmla="*/ 0 h 257442"/>
                <a:gd name="connsiteX0" fmla="*/ 950801 w 950801"/>
                <a:gd name="connsiteY0" fmla="*/ 0 h 257442"/>
                <a:gd name="connsiteX1" fmla="*/ 896080 w 950801"/>
                <a:gd name="connsiteY1" fmla="*/ 257442 h 257442"/>
                <a:gd name="connsiteX2" fmla="*/ 0 w 950801"/>
                <a:gd name="connsiteY2" fmla="*/ 257442 h 257442"/>
                <a:gd name="connsiteX3" fmla="*/ 0 w 950801"/>
                <a:gd name="connsiteY3" fmla="*/ 0 h 257442"/>
                <a:gd name="connsiteX0" fmla="*/ 782550 w 896080"/>
                <a:gd name="connsiteY0" fmla="*/ 0 h 257442"/>
                <a:gd name="connsiteX1" fmla="*/ 896080 w 896080"/>
                <a:gd name="connsiteY1" fmla="*/ 257442 h 257442"/>
                <a:gd name="connsiteX2" fmla="*/ 0 w 896080"/>
                <a:gd name="connsiteY2" fmla="*/ 257442 h 257442"/>
                <a:gd name="connsiteX3" fmla="*/ 0 w 896080"/>
                <a:gd name="connsiteY3" fmla="*/ 0 h 257442"/>
                <a:gd name="connsiteX0" fmla="*/ 782550 w 782550"/>
                <a:gd name="connsiteY0" fmla="*/ 0 h 257442"/>
                <a:gd name="connsiteX1" fmla="*/ 727829 w 782550"/>
                <a:gd name="connsiteY1" fmla="*/ 257442 h 257442"/>
                <a:gd name="connsiteX2" fmla="*/ 0 w 782550"/>
                <a:gd name="connsiteY2" fmla="*/ 257442 h 257442"/>
                <a:gd name="connsiteX3" fmla="*/ 0 w 782550"/>
                <a:gd name="connsiteY3" fmla="*/ 0 h 257442"/>
                <a:gd name="connsiteX0" fmla="*/ 782550 w 782550"/>
                <a:gd name="connsiteY0" fmla="*/ 0 h 257442"/>
                <a:gd name="connsiteX1" fmla="*/ 727829 w 782550"/>
                <a:gd name="connsiteY1" fmla="*/ 257442 h 257442"/>
                <a:gd name="connsiteX2" fmla="*/ 0 w 782550"/>
                <a:gd name="connsiteY2" fmla="*/ 257442 h 257442"/>
                <a:gd name="connsiteX3" fmla="*/ 0 w 782550"/>
                <a:gd name="connsiteY3" fmla="*/ 0 h 257442"/>
                <a:gd name="connsiteX0" fmla="*/ 782550 w 782550"/>
                <a:gd name="connsiteY0" fmla="*/ 0 h 257442"/>
                <a:gd name="connsiteX1" fmla="*/ 727829 w 782550"/>
                <a:gd name="connsiteY1" fmla="*/ 257442 h 257442"/>
                <a:gd name="connsiteX2" fmla="*/ 0 w 782550"/>
                <a:gd name="connsiteY2" fmla="*/ 257442 h 257442"/>
                <a:gd name="connsiteX3" fmla="*/ 0 w 782550"/>
                <a:gd name="connsiteY3" fmla="*/ 0 h 257442"/>
                <a:gd name="connsiteX0" fmla="*/ 950801 w 950801"/>
                <a:gd name="connsiteY0" fmla="*/ 0 h 257442"/>
                <a:gd name="connsiteX1" fmla="*/ 727829 w 950801"/>
                <a:gd name="connsiteY1" fmla="*/ 257442 h 257442"/>
                <a:gd name="connsiteX2" fmla="*/ 0 w 950801"/>
                <a:gd name="connsiteY2" fmla="*/ 257442 h 257442"/>
                <a:gd name="connsiteX3" fmla="*/ 0 w 950801"/>
                <a:gd name="connsiteY3" fmla="*/ 0 h 257442"/>
                <a:gd name="connsiteX0" fmla="*/ 950801 w 950801"/>
                <a:gd name="connsiteY0" fmla="*/ 0 h 257442"/>
                <a:gd name="connsiteX1" fmla="*/ 896080 w 950801"/>
                <a:gd name="connsiteY1" fmla="*/ 257442 h 257442"/>
                <a:gd name="connsiteX2" fmla="*/ 0 w 950801"/>
                <a:gd name="connsiteY2" fmla="*/ 257442 h 257442"/>
                <a:gd name="connsiteX3" fmla="*/ 0 w 950801"/>
                <a:gd name="connsiteY3" fmla="*/ 0 h 257442"/>
                <a:gd name="connsiteX0" fmla="*/ 950801 w 950801"/>
                <a:gd name="connsiteY0" fmla="*/ 0 h 257442"/>
                <a:gd name="connsiteX1" fmla="*/ 896080 w 950801"/>
                <a:gd name="connsiteY1" fmla="*/ 257442 h 257442"/>
                <a:gd name="connsiteX2" fmla="*/ 0 w 950801"/>
                <a:gd name="connsiteY2" fmla="*/ 257442 h 257442"/>
                <a:gd name="connsiteX3" fmla="*/ 0 w 950801"/>
                <a:gd name="connsiteY3" fmla="*/ 0 h 257442"/>
                <a:gd name="connsiteX0" fmla="*/ 950801 w 950801"/>
                <a:gd name="connsiteY0" fmla="*/ 0 h 257442"/>
                <a:gd name="connsiteX1" fmla="*/ 896080 w 950801"/>
                <a:gd name="connsiteY1" fmla="*/ 257442 h 257442"/>
                <a:gd name="connsiteX2" fmla="*/ 0 w 950801"/>
                <a:gd name="connsiteY2" fmla="*/ 257442 h 257442"/>
                <a:gd name="connsiteX3" fmla="*/ 0 w 950801"/>
                <a:gd name="connsiteY3" fmla="*/ 0 h 257442"/>
                <a:gd name="connsiteX0" fmla="*/ 1229724 w 1229724"/>
                <a:gd name="connsiteY0" fmla="*/ 0 h 257442"/>
                <a:gd name="connsiteX1" fmla="*/ 896080 w 1229724"/>
                <a:gd name="connsiteY1" fmla="*/ 257442 h 257442"/>
                <a:gd name="connsiteX2" fmla="*/ 0 w 1229724"/>
                <a:gd name="connsiteY2" fmla="*/ 257442 h 257442"/>
                <a:gd name="connsiteX3" fmla="*/ 0 w 1229724"/>
                <a:gd name="connsiteY3" fmla="*/ 0 h 257442"/>
                <a:gd name="connsiteX0" fmla="*/ 1229724 w 1229724"/>
                <a:gd name="connsiteY0" fmla="*/ 0 h 257442"/>
                <a:gd name="connsiteX1" fmla="*/ 1175002 w 1229724"/>
                <a:gd name="connsiteY1" fmla="*/ 257442 h 257442"/>
                <a:gd name="connsiteX2" fmla="*/ 0 w 1229724"/>
                <a:gd name="connsiteY2" fmla="*/ 257442 h 257442"/>
                <a:gd name="connsiteX3" fmla="*/ 0 w 1229724"/>
                <a:gd name="connsiteY3" fmla="*/ 0 h 257442"/>
                <a:gd name="connsiteX0" fmla="*/ 1229725 w 1229725"/>
                <a:gd name="connsiteY0" fmla="*/ 0 h 257442"/>
                <a:gd name="connsiteX1" fmla="*/ 1175003 w 1229725"/>
                <a:gd name="connsiteY1" fmla="*/ 257442 h 257442"/>
                <a:gd name="connsiteX2" fmla="*/ 0 w 1229725"/>
                <a:gd name="connsiteY2" fmla="*/ 257442 h 257442"/>
                <a:gd name="connsiteX3" fmla="*/ 1 w 1229725"/>
                <a:gd name="connsiteY3" fmla="*/ 0 h 257442"/>
                <a:gd name="connsiteX0" fmla="*/ 1229725 w 1229725"/>
                <a:gd name="connsiteY0" fmla="*/ 0 h 257442"/>
                <a:gd name="connsiteX1" fmla="*/ 1175003 w 1229725"/>
                <a:gd name="connsiteY1" fmla="*/ 257442 h 257442"/>
                <a:gd name="connsiteX2" fmla="*/ 0 w 1229725"/>
                <a:gd name="connsiteY2" fmla="*/ 257442 h 257442"/>
                <a:gd name="connsiteX3" fmla="*/ 1 w 1229725"/>
                <a:gd name="connsiteY3" fmla="*/ 0 h 257442"/>
                <a:gd name="connsiteX0" fmla="*/ 1542310 w 1542310"/>
                <a:gd name="connsiteY0" fmla="*/ 0 h 257442"/>
                <a:gd name="connsiteX1" fmla="*/ 1175003 w 1542310"/>
                <a:gd name="connsiteY1" fmla="*/ 257442 h 257442"/>
                <a:gd name="connsiteX2" fmla="*/ 0 w 1542310"/>
                <a:gd name="connsiteY2" fmla="*/ 257442 h 257442"/>
                <a:gd name="connsiteX3" fmla="*/ 1 w 1542310"/>
                <a:gd name="connsiteY3" fmla="*/ 0 h 257442"/>
                <a:gd name="connsiteX0" fmla="*/ 1542310 w 1542310"/>
                <a:gd name="connsiteY0" fmla="*/ 0 h 257442"/>
                <a:gd name="connsiteX1" fmla="*/ 1487588 w 1542310"/>
                <a:gd name="connsiteY1" fmla="*/ 257442 h 257442"/>
                <a:gd name="connsiteX2" fmla="*/ 0 w 1542310"/>
                <a:gd name="connsiteY2" fmla="*/ 257442 h 257442"/>
                <a:gd name="connsiteX3" fmla="*/ 1 w 1542310"/>
                <a:gd name="connsiteY3" fmla="*/ 0 h 257442"/>
                <a:gd name="connsiteX0" fmla="*/ 1542310 w 1542310"/>
                <a:gd name="connsiteY0" fmla="*/ 0 h 257442"/>
                <a:gd name="connsiteX1" fmla="*/ 1487588 w 1542310"/>
                <a:gd name="connsiteY1" fmla="*/ 257442 h 257442"/>
                <a:gd name="connsiteX2" fmla="*/ 0 w 1542310"/>
                <a:gd name="connsiteY2" fmla="*/ 257442 h 257442"/>
                <a:gd name="connsiteX3" fmla="*/ 1 w 1542310"/>
                <a:gd name="connsiteY3" fmla="*/ 0 h 257442"/>
                <a:gd name="connsiteX0" fmla="*/ 1542310 w 1542310"/>
                <a:gd name="connsiteY0" fmla="*/ 0 h 257442"/>
                <a:gd name="connsiteX1" fmla="*/ 1487588 w 1542310"/>
                <a:gd name="connsiteY1" fmla="*/ 257442 h 257442"/>
                <a:gd name="connsiteX2" fmla="*/ 0 w 1542310"/>
                <a:gd name="connsiteY2" fmla="*/ 257442 h 257442"/>
                <a:gd name="connsiteX3" fmla="*/ 0 w 1542310"/>
                <a:gd name="connsiteY3" fmla="*/ 0 h 257442"/>
                <a:gd name="connsiteX0" fmla="*/ 1710625 w 1710625"/>
                <a:gd name="connsiteY0" fmla="*/ 0 h 257442"/>
                <a:gd name="connsiteX1" fmla="*/ 1487588 w 1710625"/>
                <a:gd name="connsiteY1" fmla="*/ 257442 h 257442"/>
                <a:gd name="connsiteX2" fmla="*/ 0 w 1710625"/>
                <a:gd name="connsiteY2" fmla="*/ 257442 h 257442"/>
                <a:gd name="connsiteX3" fmla="*/ 0 w 1710625"/>
                <a:gd name="connsiteY3" fmla="*/ 0 h 257442"/>
                <a:gd name="connsiteX0" fmla="*/ 1710625 w 1710625"/>
                <a:gd name="connsiteY0" fmla="*/ 0 h 257442"/>
                <a:gd name="connsiteX1" fmla="*/ 1655904 w 1710625"/>
                <a:gd name="connsiteY1" fmla="*/ 257442 h 257442"/>
                <a:gd name="connsiteX2" fmla="*/ 0 w 1710625"/>
                <a:gd name="connsiteY2" fmla="*/ 257442 h 257442"/>
                <a:gd name="connsiteX3" fmla="*/ 0 w 1710625"/>
                <a:gd name="connsiteY3" fmla="*/ 0 h 257442"/>
                <a:gd name="connsiteX0" fmla="*/ 1710625 w 1710625"/>
                <a:gd name="connsiteY0" fmla="*/ 0 h 257442"/>
                <a:gd name="connsiteX1" fmla="*/ 1655904 w 1710625"/>
                <a:gd name="connsiteY1" fmla="*/ 257442 h 257442"/>
                <a:gd name="connsiteX2" fmla="*/ 0 w 1710625"/>
                <a:gd name="connsiteY2" fmla="*/ 257442 h 257442"/>
                <a:gd name="connsiteX3" fmla="*/ 0 w 1710625"/>
                <a:gd name="connsiteY3" fmla="*/ 0 h 257442"/>
                <a:gd name="connsiteX0" fmla="*/ 1710625 w 1710625"/>
                <a:gd name="connsiteY0" fmla="*/ 0 h 257442"/>
                <a:gd name="connsiteX1" fmla="*/ 1655904 w 1710625"/>
                <a:gd name="connsiteY1" fmla="*/ 257442 h 257442"/>
                <a:gd name="connsiteX2" fmla="*/ 0 w 1710625"/>
                <a:gd name="connsiteY2" fmla="*/ 257442 h 257442"/>
                <a:gd name="connsiteX3" fmla="*/ 0 w 1710625"/>
                <a:gd name="connsiteY3" fmla="*/ 0 h 257442"/>
                <a:gd name="connsiteX0" fmla="*/ 1878939 w 1878939"/>
                <a:gd name="connsiteY0" fmla="*/ 0 h 257442"/>
                <a:gd name="connsiteX1" fmla="*/ 1655904 w 1878939"/>
                <a:gd name="connsiteY1" fmla="*/ 257442 h 257442"/>
                <a:gd name="connsiteX2" fmla="*/ 0 w 1878939"/>
                <a:gd name="connsiteY2" fmla="*/ 257442 h 257442"/>
                <a:gd name="connsiteX3" fmla="*/ 0 w 1878939"/>
                <a:gd name="connsiteY3" fmla="*/ 0 h 257442"/>
                <a:gd name="connsiteX0" fmla="*/ 1878939 w 1878939"/>
                <a:gd name="connsiteY0" fmla="*/ 0 h 257442"/>
                <a:gd name="connsiteX1" fmla="*/ 1824218 w 1878939"/>
                <a:gd name="connsiteY1" fmla="*/ 257442 h 257442"/>
                <a:gd name="connsiteX2" fmla="*/ 0 w 1878939"/>
                <a:gd name="connsiteY2" fmla="*/ 257442 h 257442"/>
                <a:gd name="connsiteX3" fmla="*/ 0 w 1878939"/>
                <a:gd name="connsiteY3" fmla="*/ 0 h 257442"/>
                <a:gd name="connsiteX0" fmla="*/ 1878939 w 1878939"/>
                <a:gd name="connsiteY0" fmla="*/ 0 h 257442"/>
                <a:gd name="connsiteX1" fmla="*/ 1824218 w 1878939"/>
                <a:gd name="connsiteY1" fmla="*/ 257442 h 257442"/>
                <a:gd name="connsiteX2" fmla="*/ 0 w 1878939"/>
                <a:gd name="connsiteY2" fmla="*/ 257442 h 257442"/>
                <a:gd name="connsiteX3" fmla="*/ 0 w 1878939"/>
                <a:gd name="connsiteY3" fmla="*/ 0 h 257442"/>
                <a:gd name="connsiteX0" fmla="*/ 1878939 w 1878939"/>
                <a:gd name="connsiteY0" fmla="*/ 0 h 257442"/>
                <a:gd name="connsiteX1" fmla="*/ 1824218 w 1878939"/>
                <a:gd name="connsiteY1" fmla="*/ 257442 h 257442"/>
                <a:gd name="connsiteX2" fmla="*/ 0 w 1878939"/>
                <a:gd name="connsiteY2" fmla="*/ 257442 h 257442"/>
                <a:gd name="connsiteX3" fmla="*/ 0 w 1878939"/>
                <a:gd name="connsiteY3" fmla="*/ 0 h 257442"/>
                <a:gd name="connsiteX0" fmla="*/ 2148244 w 2148244"/>
                <a:gd name="connsiteY0" fmla="*/ 0 h 257442"/>
                <a:gd name="connsiteX1" fmla="*/ 1824218 w 2148244"/>
                <a:gd name="connsiteY1" fmla="*/ 257442 h 257442"/>
                <a:gd name="connsiteX2" fmla="*/ 0 w 2148244"/>
                <a:gd name="connsiteY2" fmla="*/ 257442 h 257442"/>
                <a:gd name="connsiteX3" fmla="*/ 0 w 2148244"/>
                <a:gd name="connsiteY3" fmla="*/ 0 h 257442"/>
                <a:gd name="connsiteX0" fmla="*/ 2148244 w 2148244"/>
                <a:gd name="connsiteY0" fmla="*/ 0 h 257442"/>
                <a:gd name="connsiteX1" fmla="*/ 2093522 w 2148244"/>
                <a:gd name="connsiteY1" fmla="*/ 257442 h 257442"/>
                <a:gd name="connsiteX2" fmla="*/ 0 w 2148244"/>
                <a:gd name="connsiteY2" fmla="*/ 257442 h 257442"/>
                <a:gd name="connsiteX3" fmla="*/ 0 w 2148244"/>
                <a:gd name="connsiteY3" fmla="*/ 0 h 257442"/>
                <a:gd name="connsiteX0" fmla="*/ 2148245 w 2148245"/>
                <a:gd name="connsiteY0" fmla="*/ 0 h 257442"/>
                <a:gd name="connsiteX1" fmla="*/ 2093523 w 2148245"/>
                <a:gd name="connsiteY1" fmla="*/ 257442 h 257442"/>
                <a:gd name="connsiteX2" fmla="*/ 0 w 2148245"/>
                <a:gd name="connsiteY2" fmla="*/ 257442 h 257442"/>
                <a:gd name="connsiteX3" fmla="*/ 1 w 2148245"/>
                <a:gd name="connsiteY3" fmla="*/ 0 h 257442"/>
                <a:gd name="connsiteX0" fmla="*/ 2148245 w 2148245"/>
                <a:gd name="connsiteY0" fmla="*/ 0 h 257442"/>
                <a:gd name="connsiteX1" fmla="*/ 2093523 w 2148245"/>
                <a:gd name="connsiteY1" fmla="*/ 257442 h 257442"/>
                <a:gd name="connsiteX2" fmla="*/ 0 w 2148245"/>
                <a:gd name="connsiteY2" fmla="*/ 257442 h 257442"/>
                <a:gd name="connsiteX3" fmla="*/ 1 w 2148245"/>
                <a:gd name="connsiteY3" fmla="*/ 0 h 257442"/>
                <a:gd name="connsiteX0" fmla="*/ 2326179 w 2326179"/>
                <a:gd name="connsiteY0" fmla="*/ 0 h 257442"/>
                <a:gd name="connsiteX1" fmla="*/ 2093523 w 2326179"/>
                <a:gd name="connsiteY1" fmla="*/ 257442 h 257442"/>
                <a:gd name="connsiteX2" fmla="*/ 0 w 2326179"/>
                <a:gd name="connsiteY2" fmla="*/ 257442 h 257442"/>
                <a:gd name="connsiteX3" fmla="*/ 1 w 2326179"/>
                <a:gd name="connsiteY3" fmla="*/ 0 h 257442"/>
                <a:gd name="connsiteX0" fmla="*/ 2326179 w 2326179"/>
                <a:gd name="connsiteY0" fmla="*/ 0 h 257442"/>
                <a:gd name="connsiteX1" fmla="*/ 2271458 w 2326179"/>
                <a:gd name="connsiteY1" fmla="*/ 257442 h 257442"/>
                <a:gd name="connsiteX2" fmla="*/ 0 w 2326179"/>
                <a:gd name="connsiteY2" fmla="*/ 257442 h 257442"/>
                <a:gd name="connsiteX3" fmla="*/ 1 w 2326179"/>
                <a:gd name="connsiteY3" fmla="*/ 0 h 257442"/>
                <a:gd name="connsiteX0" fmla="*/ 2326178 w 2326178"/>
                <a:gd name="connsiteY0" fmla="*/ 0 h 257442"/>
                <a:gd name="connsiteX1" fmla="*/ 2271457 w 2326178"/>
                <a:gd name="connsiteY1" fmla="*/ 257442 h 257442"/>
                <a:gd name="connsiteX2" fmla="*/ 0 w 2326178"/>
                <a:gd name="connsiteY2" fmla="*/ 257442 h 257442"/>
                <a:gd name="connsiteX3" fmla="*/ 0 w 2326178"/>
                <a:gd name="connsiteY3" fmla="*/ 0 h 257442"/>
                <a:gd name="connsiteX0" fmla="*/ 2326179 w 2326179"/>
                <a:gd name="connsiteY0" fmla="*/ 0 h 257442"/>
                <a:gd name="connsiteX1" fmla="*/ 2271458 w 2326179"/>
                <a:gd name="connsiteY1" fmla="*/ 257442 h 257442"/>
                <a:gd name="connsiteX2" fmla="*/ 1 w 2326179"/>
                <a:gd name="connsiteY2" fmla="*/ 257442 h 257442"/>
                <a:gd name="connsiteX3" fmla="*/ 0 w 2326179"/>
                <a:gd name="connsiteY3" fmla="*/ 0 h 2574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26179" h="257442">
                  <a:moveTo>
                    <a:pt x="2326179" y="0"/>
                  </a:moveTo>
                  <a:lnTo>
                    <a:pt x="2271458" y="257442"/>
                  </a:lnTo>
                  <a:lnTo>
                    <a:pt x="1" y="2574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C5C5C"/>
            </a:solidFill>
            <a:ln w="9525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20" name="btfpRunningAgenda1LevelTextLeft331797">
              <a:extLst>
                <a:ext uri="{FF2B5EF4-FFF2-40B4-BE49-F238E27FC236}">
                  <a16:creationId xmlns:a16="http://schemas.microsoft.com/office/drawing/2014/main" id="{05BB6B1F-F8C7-5530-F4BB-4B6655608ACB}"/>
                </a:ext>
              </a:extLst>
            </p:cNvPr>
            <p:cNvSpPr txBox="1"/>
            <p:nvPr/>
          </p:nvSpPr>
          <p:spPr bwMode="gray">
            <a:xfrm>
              <a:off x="0" y="876300"/>
              <a:ext cx="2372445" cy="257442"/>
            </a:xfrm>
            <a:prstGeom prst="rect">
              <a:avLst/>
            </a:prstGeom>
            <a:noFill/>
          </p:spPr>
          <p:txBody>
            <a:bodyPr vert="horz" wrap="none" lIns="360363" tIns="36036" rIns="360363" bIns="36036" rtlCol="0" anchor="t">
              <a:spAutoFit/>
            </a:bodyPr>
            <a:lstStyle/>
            <a:p>
              <a:pPr marL="0" indent="0">
                <a:spcBef>
                  <a:spcPts val="0"/>
                </a:spcBef>
                <a:buNone/>
              </a:pPr>
              <a:r>
                <a:rPr lang="en-US" sz="1200" b="1" cap="all" spc="450" dirty="0">
                  <a:solidFill>
                    <a:srgbClr val="FFFFFF"/>
                  </a:solidFill>
                </a:rPr>
                <a:t>BIOTECH CO.</a:t>
              </a:r>
            </a:p>
          </p:txBody>
        </p:sp>
      </p:grpSp>
      <p:grpSp>
        <p:nvGrpSpPr>
          <p:cNvPr id="52" name="btfpIcon537249">
            <a:extLst>
              <a:ext uri="{FF2B5EF4-FFF2-40B4-BE49-F238E27FC236}">
                <a16:creationId xmlns:a16="http://schemas.microsoft.com/office/drawing/2014/main" id="{2F6FED39-7934-B68E-066D-EED86E3F662B}"/>
              </a:ext>
            </a:extLst>
          </p:cNvPr>
          <p:cNvGrpSpPr>
            <a:grpSpLocks noChangeAspect="1"/>
          </p:cNvGrpSpPr>
          <p:nvPr>
            <p:custDataLst>
              <p:tags r:id="rId7"/>
            </p:custDataLst>
          </p:nvPr>
        </p:nvGrpSpPr>
        <p:grpSpPr>
          <a:xfrm>
            <a:off x="449889" y="2500495"/>
            <a:ext cx="713199" cy="713199"/>
            <a:chOff x="297498" y="3440252"/>
            <a:chExt cx="1081088" cy="1081088"/>
          </a:xfrm>
        </p:grpSpPr>
        <p:sp>
          <p:nvSpPr>
            <p:cNvPr id="51" name="btfpIconCircle537249">
              <a:extLst>
                <a:ext uri="{FF2B5EF4-FFF2-40B4-BE49-F238E27FC236}">
                  <a16:creationId xmlns:a16="http://schemas.microsoft.com/office/drawing/2014/main" id="{53E4B654-DB1F-19E3-9188-097870FF9648}"/>
                </a:ext>
              </a:extLst>
            </p:cNvPr>
            <p:cNvSpPr>
              <a:spLocks/>
            </p:cNvSpPr>
            <p:nvPr/>
          </p:nvSpPr>
          <p:spPr bwMode="gray">
            <a:xfrm>
              <a:off x="297498" y="3440252"/>
              <a:ext cx="1081088" cy="1081088"/>
            </a:xfrm>
            <a:prstGeom prst="ellipse">
              <a:avLst/>
            </a:prstGeom>
            <a:solidFill>
              <a:srgbClr val="5C5C5C"/>
            </a:solidFill>
            <a:ln w="9525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pic>
          <p:nvPicPr>
            <p:cNvPr id="50" name="btfpIconLines537249">
              <a:extLst>
                <a:ext uri="{FF2B5EF4-FFF2-40B4-BE49-F238E27FC236}">
                  <a16:creationId xmlns:a16="http://schemas.microsoft.com/office/drawing/2014/main" id="{7023F0F6-FC60-29C7-FC42-740F2955FC62}"/>
                </a:ext>
              </a:extLst>
            </p:cNvPr>
            <p:cNvPicPr>
              <a:picLocks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297498" y="3440252"/>
              <a:ext cx="1081088" cy="1081088"/>
            </a:xfrm>
            <a:prstGeom prst="rect">
              <a:avLst/>
            </a:prstGeom>
          </p:spPr>
        </p:pic>
      </p:grpSp>
    </p:spTree>
    <p:custDataLst>
      <p:tags r:id="rId1"/>
    </p:custDataLst>
    <p:extLst>
      <p:ext uri="{BB962C8B-B14F-4D97-AF65-F5344CB8AC3E}">
        <p14:creationId xmlns:p14="http://schemas.microsoft.com/office/powerpoint/2010/main" val="37764929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72F2F-D34A-CC5C-83B8-CD1D346B7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hink-cell data - do not delete" hidden="1">
            <a:extLst>
              <a:ext uri="{FF2B5EF4-FFF2-40B4-BE49-F238E27FC236}">
                <a16:creationId xmlns:a16="http://schemas.microsoft.com/office/drawing/2014/main" id="{A5ACB3B1-B924-FBD3-2EEA-05EADC94ABAF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4142910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360" imgH="360" progId="TCLayout.ActiveDocument.1">
                  <p:embed/>
                </p:oleObj>
              </mc:Choice>
              <mc:Fallback>
                <p:oleObj name="think-cell Slide" r:id="rId10" imgW="360" imgH="360" progId="TCLayout.ActiveDocument.1">
                  <p:embed/>
                  <p:pic>
                    <p:nvPicPr>
                      <p:cNvPr id="1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5ACB3B1-B924-FBD3-2EEA-05EADC94ABA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btfpNotesBox429293">
            <a:extLst>
              <a:ext uri="{FF2B5EF4-FFF2-40B4-BE49-F238E27FC236}">
                <a16:creationId xmlns:a16="http://schemas.microsoft.com/office/drawing/2014/main" id="{CCB44FA0-9AB9-0CBC-D640-6BE42849EB80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gray">
          <a:xfrm>
            <a:off x="330200" y="6461188"/>
            <a:ext cx="9657858" cy="123111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 anchor="b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800">
                <a:solidFill>
                  <a:srgbClr val="000000"/>
                </a:solidFill>
              </a:rPr>
              <a:t>Source: Market participant interviews, Bain analysis </a:t>
            </a:r>
          </a:p>
        </p:txBody>
      </p:sp>
      <p:pic>
        <p:nvPicPr>
          <p:cNvPr id="27" name="btfpPhotoGeneric261510">
            <a:extLst>
              <a:ext uri="{FF2B5EF4-FFF2-40B4-BE49-F238E27FC236}">
                <a16:creationId xmlns:a16="http://schemas.microsoft.com/office/drawing/2014/main" id="{276D83AD-9C9E-004D-D9F3-CDBA3DBE0178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" t="47141" r="3" b="47141"/>
          <a:stretch>
            <a:fillRect/>
          </a:stretch>
        </p:blipFill>
        <p:spPr>
          <a:xfrm>
            <a:off x="165517" y="1219605"/>
            <a:ext cx="11531614" cy="436376"/>
          </a:xfrm>
          <a:prstGeom prst="rect">
            <a:avLst/>
          </a:prstGeom>
        </p:spPr>
      </p:pic>
      <p:graphicFrame>
        <p:nvGraphicFramePr>
          <p:cNvPr id="15" name="btfpTable642749">
            <a:extLst>
              <a:ext uri="{FF2B5EF4-FFF2-40B4-BE49-F238E27FC236}">
                <a16:creationId xmlns:a16="http://schemas.microsoft.com/office/drawing/2014/main" id="{4784BEB7-BEB1-9D93-1E30-F4BE229CB8A2}"/>
              </a:ext>
            </a:extLst>
          </p:cNvPr>
          <p:cNvGraphicFramePr>
            <a:graphicFrameLocks noGrp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321617731"/>
              </p:ext>
            </p:extLst>
          </p:nvPr>
        </p:nvGraphicFramePr>
        <p:xfrm>
          <a:off x="165099" y="1223563"/>
          <a:ext cx="11531604" cy="5196840"/>
        </p:xfrm>
        <a:graphic>
          <a:graphicData uri="http://schemas.openxmlformats.org/drawingml/2006/table">
            <a:tbl>
              <a:tblPr firstRow="1" firstCol="1">
                <a:tableStyleId>{9D7B26C5-4107-4FEC-AEDC-1716B250A1EF}</a:tableStyleId>
              </a:tblPr>
              <a:tblGrid>
                <a:gridCol w="1077547">
                  <a:extLst>
                    <a:ext uri="{9D8B030D-6E8A-4147-A177-3AD203B41FA5}">
                      <a16:colId xmlns:a16="http://schemas.microsoft.com/office/drawing/2014/main" val="3439300168"/>
                    </a:ext>
                  </a:extLst>
                </a:gridCol>
                <a:gridCol w="3024554">
                  <a:extLst>
                    <a:ext uri="{9D8B030D-6E8A-4147-A177-3AD203B41FA5}">
                      <a16:colId xmlns:a16="http://schemas.microsoft.com/office/drawing/2014/main" val="3415317160"/>
                    </a:ext>
                  </a:extLst>
                </a:gridCol>
                <a:gridCol w="1969477">
                  <a:extLst>
                    <a:ext uri="{9D8B030D-6E8A-4147-A177-3AD203B41FA5}">
                      <a16:colId xmlns:a16="http://schemas.microsoft.com/office/drawing/2014/main" val="1337811024"/>
                    </a:ext>
                  </a:extLst>
                </a:gridCol>
                <a:gridCol w="2860431">
                  <a:extLst>
                    <a:ext uri="{9D8B030D-6E8A-4147-A177-3AD203B41FA5}">
                      <a16:colId xmlns:a16="http://schemas.microsoft.com/office/drawing/2014/main" val="1273837817"/>
                    </a:ext>
                  </a:extLst>
                </a:gridCol>
                <a:gridCol w="2599595">
                  <a:extLst>
                    <a:ext uri="{9D8B030D-6E8A-4147-A177-3AD203B41FA5}">
                      <a16:colId xmlns:a16="http://schemas.microsoft.com/office/drawing/2014/main" val="3436980134"/>
                    </a:ext>
                  </a:extLst>
                </a:gridCol>
              </a:tblGrid>
              <a:tr h="387658"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</a:rPr>
                        <a:t>Service Line</a:t>
                      </a:r>
                    </a:p>
                  </a:txBody>
                  <a:tcPr anchor="b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</a:rPr>
                        <a:t>Current vendor landscape</a:t>
                      </a:r>
                    </a:p>
                  </a:txBody>
                  <a:tcPr anchor="b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</a:rPr>
                        <a:t>Primary drivers of dissatisfaction</a:t>
                      </a:r>
                    </a:p>
                  </a:txBody>
                  <a:tcPr anchor="b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</a:rPr>
                        <a:t>Triggers for switching vendors </a:t>
                      </a:r>
                      <a:r>
                        <a:rPr lang="en-US" sz="1200" b="0" i="1">
                          <a:solidFill>
                            <a:schemeClr val="bg1"/>
                          </a:solidFill>
                        </a:rPr>
                        <a:t>(potential entry wedge for new vendors)</a:t>
                      </a:r>
                    </a:p>
                  </a:txBody>
                  <a:tcPr anchor="b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</a:rPr>
                        <a:t>Potential scope expansion </a:t>
                      </a:r>
                      <a:r>
                        <a:rPr lang="en-US" sz="1200" b="0" i="1">
                          <a:solidFill>
                            <a:schemeClr val="bg1"/>
                          </a:solidFill>
                        </a:rPr>
                        <a:t>(Emerging areas with potential o/s)</a:t>
                      </a:r>
                      <a:endParaRPr lang="en-US" sz="1200">
                        <a:solidFill>
                          <a:schemeClr val="bg1"/>
                        </a:solidFill>
                      </a:endParaRPr>
                    </a:p>
                  </a:txBody>
                  <a:tcPr anchor="b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6073152"/>
                  </a:ext>
                </a:extLst>
              </a:tr>
              <a:tr h="4341765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</a:rPr>
                        <a:t>Patient Engagement</a:t>
                      </a:r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1000" b="1"/>
                        <a:t>TELUS (Canada):</a:t>
                      </a:r>
                      <a:r>
                        <a:rPr lang="en-US" sz="1000"/>
                        <a:t> Call center infrastructure enabling patient inquiry handling, incl. telephony routing, call recording and backend systems supporting patient-facing hub workflow</a:t>
                      </a:r>
                    </a:p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1000" b="1"/>
                        <a:t>McKesson:</a:t>
                      </a:r>
                      <a:r>
                        <a:rPr lang="en-US" sz="1000"/>
                        <a:t> Co-pay program infrastructure support, integrating eligibility verification and back-end claims/ distribution workflows within patient support programs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1000" b="1"/>
                        <a:t>AmerisourceBergen (Cencora):</a:t>
                      </a:r>
                      <a:r>
                        <a:rPr lang="en-US" sz="1000"/>
                        <a:t> Co-pay card program administration, conducting eligibility checks, insurer claim adjudication and payment routing at point of prescription use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/>
                        <a:t>TELUS: </a:t>
                      </a:r>
                      <a:r>
                        <a:rPr lang="en-US" sz="1000" dirty="0"/>
                        <a:t>Launch-phase stabilization challenges, including early coordination gaps and slower-than-expected ramp-up during initial hub activation, leading to friction before steady-state ops were achieved</a:t>
                      </a:r>
                    </a:p>
                    <a:p>
                      <a:r>
                        <a:rPr lang="en-US" sz="1000" b="1" dirty="0"/>
                        <a:t>McKesson/ AmerisourceBergen:</a:t>
                      </a:r>
                      <a:br>
                        <a:rPr lang="en-US" sz="1000" dirty="0"/>
                      </a:br>
                      <a:r>
                        <a:rPr lang="en-US" sz="1000" dirty="0"/>
                        <a:t>Limited patient-centric adoption support during copay model transition, compounded by Ipsen’s lower prioritization relative to larger pharma client- reducing proactive engagement in driving patient uptake of card-based program</a:t>
                      </a:r>
                      <a:endParaRPr lang="en-US" sz="1000" b="1" u="sng" dirty="0"/>
                    </a:p>
                    <a:p>
                      <a:pPr lvl="1"/>
                      <a:r>
                        <a:rPr lang="en-US" sz="800" b="1" dirty="0"/>
                        <a:t>Slower-than-desired turnaround times </a:t>
                      </a:r>
                      <a:r>
                        <a:rPr lang="en-US" sz="800" dirty="0"/>
                        <a:t>driven by shared-resource staffing models; unlike large pharma companies with dedicated teams, Ipsen operates as one of multiple clients, resulting in reduced responsiveness</a:t>
                      </a:r>
                    </a:p>
                    <a:p>
                      <a:pPr lvl="1"/>
                      <a:endParaRPr lang="en-US" sz="800" dirty="0"/>
                    </a:p>
                    <a:p>
                      <a:pPr lvl="1"/>
                      <a:endParaRPr lang="en-US" sz="8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/>
                        <a:t>Delays in Therapy Initiation:</a:t>
                      </a:r>
                      <a:r>
                        <a:rPr lang="en-US" sz="1000" dirty="0"/>
                        <a:t> Persistent lag from script to therapy start – driven by weak benefits verification, slow prior auth turnaround, or denial mgmt. gaps; impacting launch speed and revenue realization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/>
                        <a:t>Drop-Off &amp; Abandonment Risk:</a:t>
                      </a:r>
                      <a:r>
                        <a:rPr lang="en-US" sz="1000" dirty="0"/>
                        <a:t> Inability to proactively identify and reduce patient drop-off through case prioritization, predictive modeling, or structured follow-up workflows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/>
                        <a:t>Reimbursement Expertise Gaps:</a:t>
                      </a:r>
                      <a:r>
                        <a:rPr lang="en-US" sz="1000" dirty="0"/>
                        <a:t> Weak payer intelligence, low prior auth success rates, poor appeal conversion or limited buy-and-bill fluency (particularly critical in specialty &amp; rare disease) leads to switching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/>
                        <a:t>Limited Executive Visibility:</a:t>
                      </a:r>
                      <a:r>
                        <a:rPr lang="en-US" sz="1000" dirty="0"/>
                        <a:t> Absence of real-time case tracking, therapy dashboards, and clear reporting on denial reasons, abandonment rates, and payer friction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/>
                        <a:t>Launch Readiness Weakness:</a:t>
                      </a:r>
                      <a:r>
                        <a:rPr lang="en-US" sz="1000" dirty="0"/>
                        <a:t> Slow hub setup, unclear SOPs, or inability to operationalize compliant patient support infra under compressed biotech timelines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endParaRPr lang="en-US" sz="1000" dirty="0"/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endParaRPr lang="en-US" sz="10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/>
                        <a:t>Selective expansion opportunities focused on:</a:t>
                      </a:r>
                    </a:p>
                    <a:p>
                      <a:r>
                        <a:rPr lang="en-US" sz="1000" b="1" dirty="0"/>
                        <a:t>Integrated Data Intelligence: </a:t>
                      </a:r>
                      <a:r>
                        <a:rPr lang="en-US" sz="1000" dirty="0"/>
                        <a:t>Capability to aggregate multi-source data for therapy-start insights and denial analytics</a:t>
                      </a:r>
                    </a:p>
                    <a:p>
                      <a:r>
                        <a:rPr lang="en-US" sz="1000" b="1" dirty="0"/>
                        <a:t>Predictive risk-Based Case Management: </a:t>
                      </a:r>
                      <a:r>
                        <a:rPr lang="en-US" sz="1000" dirty="0"/>
                        <a:t>Deploy predictive prioritization models that proactively flag high drop-off risk patients, transitioning from reactive case handling to outcome-driven orchestration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730996"/>
                  </a:ext>
                </a:extLst>
              </a:tr>
            </a:tbl>
          </a:graphicData>
        </a:graphic>
      </p:graphicFrame>
      <p:grpSp>
        <p:nvGrpSpPr>
          <p:cNvPr id="12" name="btfpColumnIndicatorGroup2">
            <a:extLst>
              <a:ext uri="{FF2B5EF4-FFF2-40B4-BE49-F238E27FC236}">
                <a16:creationId xmlns:a16="http://schemas.microsoft.com/office/drawing/2014/main" id="{712AB1E2-822A-0C16-CC44-1C2AB1035258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10" name="btfpColumnGapBlocker597887">
              <a:extLst>
                <a:ext uri="{FF2B5EF4-FFF2-40B4-BE49-F238E27FC236}">
                  <a16:creationId xmlns:a16="http://schemas.microsoft.com/office/drawing/2014/main" id="{741A53CA-4833-ABEC-745D-FB6A44DF70DC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8" name="btfpColumnGapBlocker710399">
              <a:extLst>
                <a:ext uri="{FF2B5EF4-FFF2-40B4-BE49-F238E27FC236}">
                  <a16:creationId xmlns:a16="http://schemas.microsoft.com/office/drawing/2014/main" id="{99A5E7F2-02D1-B3E9-1E29-FC9B4D87BE66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6" name="btfpColumnIndicator128682">
              <a:extLst>
                <a:ext uri="{FF2B5EF4-FFF2-40B4-BE49-F238E27FC236}">
                  <a16:creationId xmlns:a16="http://schemas.microsoft.com/office/drawing/2014/main" id="{DDE604C6-3070-24F6-BB55-1E01EA54E1C9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btfpColumnIndicator962947">
              <a:extLst>
                <a:ext uri="{FF2B5EF4-FFF2-40B4-BE49-F238E27FC236}">
                  <a16:creationId xmlns:a16="http://schemas.microsoft.com/office/drawing/2014/main" id="{0A0B3FF3-61E4-F23E-5743-82E05BAED166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btfpColumnIndicatorGroup1">
            <a:extLst>
              <a:ext uri="{FF2B5EF4-FFF2-40B4-BE49-F238E27FC236}">
                <a16:creationId xmlns:a16="http://schemas.microsoft.com/office/drawing/2014/main" id="{BE031518-BFB3-2FC2-57F8-F5DC14C68179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9" name="btfpColumnGapBlocker192180">
              <a:extLst>
                <a:ext uri="{FF2B5EF4-FFF2-40B4-BE49-F238E27FC236}">
                  <a16:creationId xmlns:a16="http://schemas.microsoft.com/office/drawing/2014/main" id="{02D5E2D1-51B5-4DF2-FDCF-48DB403C9FE3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7" name="btfpColumnGapBlocker142960">
              <a:extLst>
                <a:ext uri="{FF2B5EF4-FFF2-40B4-BE49-F238E27FC236}">
                  <a16:creationId xmlns:a16="http://schemas.microsoft.com/office/drawing/2014/main" id="{D5475C78-EA51-3251-B4E4-E92CC90ABB16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5" name="btfpColumnIndicator689214">
              <a:extLst>
                <a:ext uri="{FF2B5EF4-FFF2-40B4-BE49-F238E27FC236}">
                  <a16:creationId xmlns:a16="http://schemas.microsoft.com/office/drawing/2014/main" id="{05290033-465E-961E-3C93-ED86019FC55C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btfpColumnIndicator604722">
              <a:extLst>
                <a:ext uri="{FF2B5EF4-FFF2-40B4-BE49-F238E27FC236}">
                  <a16:creationId xmlns:a16="http://schemas.microsoft.com/office/drawing/2014/main" id="{DD455150-A2AA-67C6-A93A-E55035B81479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721B8DE-FF61-AFE7-F342-1538E7C52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b="1" dirty="0"/>
              <a:t>Potential value prop - Ipsen (3/3): </a:t>
            </a:r>
            <a:r>
              <a:rPr lang="en-US" dirty="0"/>
              <a:t>Differentiation potential by offering advanced predictive capabilities and access to multi-source datasets</a:t>
            </a:r>
          </a:p>
        </p:txBody>
      </p:sp>
      <p:sp>
        <p:nvSpPr>
          <p:cNvPr id="18" name="btfpNumberBubble399258">
            <a:extLst>
              <a:ext uri="{FF2B5EF4-FFF2-40B4-BE49-F238E27FC236}">
                <a16:creationId xmlns:a16="http://schemas.microsoft.com/office/drawing/2014/main" id="{0EEDF64F-D98B-EC2D-AB47-63CF44FE33B6}"/>
              </a:ext>
            </a:extLst>
          </p:cNvPr>
          <p:cNvSpPr/>
          <p:nvPr/>
        </p:nvSpPr>
        <p:spPr bwMode="gray">
          <a:xfrm>
            <a:off x="54684" y="82614"/>
            <a:ext cx="288636" cy="28863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400" b="1">
                <a:solidFill>
                  <a:srgbClr val="CC0000"/>
                </a:solidFill>
              </a:rPr>
              <a:t>4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20F260-F973-1FAC-A84E-765BCB826F97}"/>
              </a:ext>
            </a:extLst>
          </p:cNvPr>
          <p:cNvSpPr/>
          <p:nvPr/>
        </p:nvSpPr>
        <p:spPr bwMode="gray">
          <a:xfrm>
            <a:off x="1312032" y="6043915"/>
            <a:ext cx="10375057" cy="320492"/>
          </a:xfrm>
          <a:prstGeom prst="rect">
            <a:avLst/>
          </a:prstGeom>
          <a:pattFill prst="ltUpDiag">
            <a:fgClr>
              <a:schemeClr val="tx2"/>
            </a:fgClr>
            <a:bgClr>
              <a:srgbClr val="FFFFFF"/>
            </a:bgClr>
          </a:patt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r>
              <a:rPr lang="en-US" sz="1000" b="1" i="1" u="sng">
                <a:solidFill>
                  <a:srgbClr val="CC0000"/>
                </a:solidFill>
              </a:rPr>
              <a:t>Potential value proposition</a:t>
            </a:r>
            <a:r>
              <a:rPr lang="en-US" sz="1000" b="1" i="1">
                <a:solidFill>
                  <a:srgbClr val="CC0000"/>
                </a:solidFill>
              </a:rPr>
              <a:t>: Design an integrated engagement intelligence and orchestration hub that aggregates multi-source therapy insights, embeds predictive risk-based case prioritization, to reduce drop-off, denial friction, and time-to-therapy</a:t>
            </a:r>
            <a:endParaRPr lang="en-US" sz="1000" b="1" i="1">
              <a:solidFill>
                <a:srgbClr val="CC0000"/>
              </a:solidFill>
              <a:highlight>
                <a:srgbClr val="FFFF00"/>
              </a:highlight>
            </a:endParaRPr>
          </a:p>
        </p:txBody>
      </p:sp>
      <p:grpSp>
        <p:nvGrpSpPr>
          <p:cNvPr id="17" name="btfpRunningAgenda1Level331797">
            <a:extLst>
              <a:ext uri="{FF2B5EF4-FFF2-40B4-BE49-F238E27FC236}">
                <a16:creationId xmlns:a16="http://schemas.microsoft.com/office/drawing/2014/main" id="{483CB098-82F8-0D2C-1B74-55D54E49F77D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-1" y="944429"/>
            <a:ext cx="2372446" cy="257442"/>
            <a:chOff x="-1" y="876300"/>
            <a:chExt cx="2372446" cy="257442"/>
          </a:xfrm>
        </p:grpSpPr>
        <p:sp>
          <p:nvSpPr>
            <p:cNvPr id="19" name="btfpRunningAgenda1LevelBarLeft331797">
              <a:extLst>
                <a:ext uri="{FF2B5EF4-FFF2-40B4-BE49-F238E27FC236}">
                  <a16:creationId xmlns:a16="http://schemas.microsoft.com/office/drawing/2014/main" id="{9EE9556F-8945-E8F6-554E-3B157884E786}"/>
                </a:ext>
              </a:extLst>
            </p:cNvPr>
            <p:cNvSpPr/>
            <p:nvPr/>
          </p:nvSpPr>
          <p:spPr bwMode="gray">
            <a:xfrm>
              <a:off x="-1" y="876300"/>
              <a:ext cx="2326179" cy="257442"/>
            </a:xfrm>
            <a:custGeom>
              <a:avLst/>
              <a:gdLst>
                <a:gd name="connsiteX0" fmla="*/ 950801 w 1870925"/>
                <a:gd name="connsiteY0" fmla="*/ 0 h 257442"/>
                <a:gd name="connsiteX1" fmla="*/ 1870925 w 1870925"/>
                <a:gd name="connsiteY1" fmla="*/ 0 h 257442"/>
                <a:gd name="connsiteX2" fmla="*/ 1816204 w 1870925"/>
                <a:gd name="connsiteY2" fmla="*/ 257442 h 257442"/>
                <a:gd name="connsiteX3" fmla="*/ 0 w 1870925"/>
                <a:gd name="connsiteY3" fmla="*/ 257442 h 257442"/>
                <a:gd name="connsiteX0" fmla="*/ 950801 w 1816204"/>
                <a:gd name="connsiteY0" fmla="*/ 0 h 257442"/>
                <a:gd name="connsiteX1" fmla="*/ 896081 w 1816204"/>
                <a:gd name="connsiteY1" fmla="*/ 257442 h 257442"/>
                <a:gd name="connsiteX2" fmla="*/ 1816204 w 1816204"/>
                <a:gd name="connsiteY2" fmla="*/ 257442 h 257442"/>
                <a:gd name="connsiteX3" fmla="*/ 0 w 1816204"/>
                <a:gd name="connsiteY3" fmla="*/ 257442 h 257442"/>
                <a:gd name="connsiteX0" fmla="*/ 950801 w 950801"/>
                <a:gd name="connsiteY0" fmla="*/ 0 h 257442"/>
                <a:gd name="connsiteX1" fmla="*/ 896081 w 950801"/>
                <a:gd name="connsiteY1" fmla="*/ 257442 h 257442"/>
                <a:gd name="connsiteX2" fmla="*/ 1 w 950801"/>
                <a:gd name="connsiteY2" fmla="*/ 257442 h 257442"/>
                <a:gd name="connsiteX3" fmla="*/ 0 w 950801"/>
                <a:gd name="connsiteY3" fmla="*/ 257442 h 257442"/>
                <a:gd name="connsiteX0" fmla="*/ 950800 w 950800"/>
                <a:gd name="connsiteY0" fmla="*/ 0 h 257442"/>
                <a:gd name="connsiteX1" fmla="*/ 896080 w 950800"/>
                <a:gd name="connsiteY1" fmla="*/ 257442 h 257442"/>
                <a:gd name="connsiteX2" fmla="*/ 0 w 950800"/>
                <a:gd name="connsiteY2" fmla="*/ 257442 h 257442"/>
                <a:gd name="connsiteX3" fmla="*/ 1 w 950800"/>
                <a:gd name="connsiteY3" fmla="*/ 0 h 257442"/>
                <a:gd name="connsiteX0" fmla="*/ 1261784 w 1261784"/>
                <a:gd name="connsiteY0" fmla="*/ 0 h 257442"/>
                <a:gd name="connsiteX1" fmla="*/ 896080 w 1261784"/>
                <a:gd name="connsiteY1" fmla="*/ 257442 h 257442"/>
                <a:gd name="connsiteX2" fmla="*/ 0 w 1261784"/>
                <a:gd name="connsiteY2" fmla="*/ 257442 h 257442"/>
                <a:gd name="connsiteX3" fmla="*/ 1 w 1261784"/>
                <a:gd name="connsiteY3" fmla="*/ 0 h 257442"/>
                <a:gd name="connsiteX0" fmla="*/ 1261784 w 1261784"/>
                <a:gd name="connsiteY0" fmla="*/ 0 h 257442"/>
                <a:gd name="connsiteX1" fmla="*/ 1207063 w 1261784"/>
                <a:gd name="connsiteY1" fmla="*/ 257442 h 257442"/>
                <a:gd name="connsiteX2" fmla="*/ 0 w 1261784"/>
                <a:gd name="connsiteY2" fmla="*/ 257442 h 257442"/>
                <a:gd name="connsiteX3" fmla="*/ 1 w 1261784"/>
                <a:gd name="connsiteY3" fmla="*/ 0 h 257442"/>
                <a:gd name="connsiteX0" fmla="*/ 1261784 w 1261784"/>
                <a:gd name="connsiteY0" fmla="*/ 0 h 257442"/>
                <a:gd name="connsiteX1" fmla="*/ 1207063 w 1261784"/>
                <a:gd name="connsiteY1" fmla="*/ 257442 h 257442"/>
                <a:gd name="connsiteX2" fmla="*/ 0 w 1261784"/>
                <a:gd name="connsiteY2" fmla="*/ 257442 h 257442"/>
                <a:gd name="connsiteX3" fmla="*/ 1 w 1261784"/>
                <a:gd name="connsiteY3" fmla="*/ 0 h 257442"/>
                <a:gd name="connsiteX0" fmla="*/ 1261784 w 1261784"/>
                <a:gd name="connsiteY0" fmla="*/ 0 h 257442"/>
                <a:gd name="connsiteX1" fmla="*/ 1207063 w 1261784"/>
                <a:gd name="connsiteY1" fmla="*/ 257442 h 257442"/>
                <a:gd name="connsiteX2" fmla="*/ 0 w 1261784"/>
                <a:gd name="connsiteY2" fmla="*/ 257442 h 257442"/>
                <a:gd name="connsiteX3" fmla="*/ 0 w 1261784"/>
                <a:gd name="connsiteY3" fmla="*/ 0 h 257442"/>
                <a:gd name="connsiteX0" fmla="*/ 1515058 w 1515058"/>
                <a:gd name="connsiteY0" fmla="*/ 0 h 257442"/>
                <a:gd name="connsiteX1" fmla="*/ 1207063 w 1515058"/>
                <a:gd name="connsiteY1" fmla="*/ 257442 h 257442"/>
                <a:gd name="connsiteX2" fmla="*/ 0 w 1515058"/>
                <a:gd name="connsiteY2" fmla="*/ 257442 h 257442"/>
                <a:gd name="connsiteX3" fmla="*/ 0 w 1515058"/>
                <a:gd name="connsiteY3" fmla="*/ 0 h 257442"/>
                <a:gd name="connsiteX0" fmla="*/ 1515058 w 1515058"/>
                <a:gd name="connsiteY0" fmla="*/ 0 h 257442"/>
                <a:gd name="connsiteX1" fmla="*/ 1460337 w 1515058"/>
                <a:gd name="connsiteY1" fmla="*/ 257442 h 257442"/>
                <a:gd name="connsiteX2" fmla="*/ 0 w 1515058"/>
                <a:gd name="connsiteY2" fmla="*/ 257442 h 257442"/>
                <a:gd name="connsiteX3" fmla="*/ 0 w 1515058"/>
                <a:gd name="connsiteY3" fmla="*/ 0 h 257442"/>
                <a:gd name="connsiteX0" fmla="*/ 1515058 w 1515058"/>
                <a:gd name="connsiteY0" fmla="*/ 0 h 257442"/>
                <a:gd name="connsiteX1" fmla="*/ 1460337 w 1515058"/>
                <a:gd name="connsiteY1" fmla="*/ 257442 h 257442"/>
                <a:gd name="connsiteX2" fmla="*/ 0 w 1515058"/>
                <a:gd name="connsiteY2" fmla="*/ 257442 h 257442"/>
                <a:gd name="connsiteX3" fmla="*/ 0 w 1515058"/>
                <a:gd name="connsiteY3" fmla="*/ 0 h 257442"/>
                <a:gd name="connsiteX0" fmla="*/ 1515058 w 1515058"/>
                <a:gd name="connsiteY0" fmla="*/ 0 h 257442"/>
                <a:gd name="connsiteX1" fmla="*/ 1460337 w 1515058"/>
                <a:gd name="connsiteY1" fmla="*/ 257442 h 257442"/>
                <a:gd name="connsiteX2" fmla="*/ 0 w 1515058"/>
                <a:gd name="connsiteY2" fmla="*/ 257442 h 257442"/>
                <a:gd name="connsiteX3" fmla="*/ 0 w 1515058"/>
                <a:gd name="connsiteY3" fmla="*/ 0 h 257442"/>
                <a:gd name="connsiteX0" fmla="*/ 1692991 w 1692991"/>
                <a:gd name="connsiteY0" fmla="*/ 0 h 257442"/>
                <a:gd name="connsiteX1" fmla="*/ 1460337 w 1692991"/>
                <a:gd name="connsiteY1" fmla="*/ 257442 h 257442"/>
                <a:gd name="connsiteX2" fmla="*/ 0 w 1692991"/>
                <a:gd name="connsiteY2" fmla="*/ 257442 h 257442"/>
                <a:gd name="connsiteX3" fmla="*/ 0 w 1692991"/>
                <a:gd name="connsiteY3" fmla="*/ 0 h 257442"/>
                <a:gd name="connsiteX0" fmla="*/ 1692991 w 1692991"/>
                <a:gd name="connsiteY0" fmla="*/ 0 h 257442"/>
                <a:gd name="connsiteX1" fmla="*/ 1638270 w 1692991"/>
                <a:gd name="connsiteY1" fmla="*/ 257442 h 257442"/>
                <a:gd name="connsiteX2" fmla="*/ 0 w 1692991"/>
                <a:gd name="connsiteY2" fmla="*/ 257442 h 257442"/>
                <a:gd name="connsiteX3" fmla="*/ 0 w 1692991"/>
                <a:gd name="connsiteY3" fmla="*/ 0 h 257442"/>
                <a:gd name="connsiteX0" fmla="*/ 1692991 w 1692991"/>
                <a:gd name="connsiteY0" fmla="*/ 0 h 257442"/>
                <a:gd name="connsiteX1" fmla="*/ 1638270 w 1692991"/>
                <a:gd name="connsiteY1" fmla="*/ 257442 h 257442"/>
                <a:gd name="connsiteX2" fmla="*/ 0 w 1692991"/>
                <a:gd name="connsiteY2" fmla="*/ 257442 h 257442"/>
                <a:gd name="connsiteX3" fmla="*/ 0 w 1692991"/>
                <a:gd name="connsiteY3" fmla="*/ 0 h 257442"/>
                <a:gd name="connsiteX0" fmla="*/ 1692991 w 1692991"/>
                <a:gd name="connsiteY0" fmla="*/ 0 h 257442"/>
                <a:gd name="connsiteX1" fmla="*/ 1638270 w 1692991"/>
                <a:gd name="connsiteY1" fmla="*/ 257442 h 257442"/>
                <a:gd name="connsiteX2" fmla="*/ 0 w 1692991"/>
                <a:gd name="connsiteY2" fmla="*/ 257442 h 257442"/>
                <a:gd name="connsiteX3" fmla="*/ 0 w 1692991"/>
                <a:gd name="connsiteY3" fmla="*/ 0 h 257442"/>
                <a:gd name="connsiteX0" fmla="*/ 1861307 w 1861307"/>
                <a:gd name="connsiteY0" fmla="*/ 0 h 257442"/>
                <a:gd name="connsiteX1" fmla="*/ 1638270 w 1861307"/>
                <a:gd name="connsiteY1" fmla="*/ 257442 h 257442"/>
                <a:gd name="connsiteX2" fmla="*/ 0 w 1861307"/>
                <a:gd name="connsiteY2" fmla="*/ 257442 h 257442"/>
                <a:gd name="connsiteX3" fmla="*/ 0 w 1861307"/>
                <a:gd name="connsiteY3" fmla="*/ 0 h 257442"/>
                <a:gd name="connsiteX0" fmla="*/ 1861307 w 1861307"/>
                <a:gd name="connsiteY0" fmla="*/ 0 h 257442"/>
                <a:gd name="connsiteX1" fmla="*/ 1806586 w 1861307"/>
                <a:gd name="connsiteY1" fmla="*/ 257442 h 257442"/>
                <a:gd name="connsiteX2" fmla="*/ 0 w 1861307"/>
                <a:gd name="connsiteY2" fmla="*/ 257442 h 257442"/>
                <a:gd name="connsiteX3" fmla="*/ 0 w 1861307"/>
                <a:gd name="connsiteY3" fmla="*/ 0 h 257442"/>
                <a:gd name="connsiteX0" fmla="*/ 1861307 w 1861307"/>
                <a:gd name="connsiteY0" fmla="*/ 0 h 257442"/>
                <a:gd name="connsiteX1" fmla="*/ 1806586 w 1861307"/>
                <a:gd name="connsiteY1" fmla="*/ 257442 h 257442"/>
                <a:gd name="connsiteX2" fmla="*/ 0 w 1861307"/>
                <a:gd name="connsiteY2" fmla="*/ 257442 h 257442"/>
                <a:gd name="connsiteX3" fmla="*/ 0 w 1861307"/>
                <a:gd name="connsiteY3" fmla="*/ 0 h 257442"/>
                <a:gd name="connsiteX0" fmla="*/ 1861307 w 1861307"/>
                <a:gd name="connsiteY0" fmla="*/ 0 h 257442"/>
                <a:gd name="connsiteX1" fmla="*/ 1806586 w 1861307"/>
                <a:gd name="connsiteY1" fmla="*/ 257442 h 257442"/>
                <a:gd name="connsiteX2" fmla="*/ 0 w 1861307"/>
                <a:gd name="connsiteY2" fmla="*/ 257442 h 257442"/>
                <a:gd name="connsiteX3" fmla="*/ 0 w 1861307"/>
                <a:gd name="connsiteY3" fmla="*/ 0 h 257442"/>
                <a:gd name="connsiteX0" fmla="*/ 2029622 w 2029622"/>
                <a:gd name="connsiteY0" fmla="*/ 0 h 257442"/>
                <a:gd name="connsiteX1" fmla="*/ 1806586 w 2029622"/>
                <a:gd name="connsiteY1" fmla="*/ 257442 h 257442"/>
                <a:gd name="connsiteX2" fmla="*/ 0 w 2029622"/>
                <a:gd name="connsiteY2" fmla="*/ 257442 h 257442"/>
                <a:gd name="connsiteX3" fmla="*/ 0 w 2029622"/>
                <a:gd name="connsiteY3" fmla="*/ 0 h 257442"/>
                <a:gd name="connsiteX0" fmla="*/ 2029622 w 2029622"/>
                <a:gd name="connsiteY0" fmla="*/ 0 h 257442"/>
                <a:gd name="connsiteX1" fmla="*/ 1974900 w 2029622"/>
                <a:gd name="connsiteY1" fmla="*/ 257442 h 257442"/>
                <a:gd name="connsiteX2" fmla="*/ 0 w 2029622"/>
                <a:gd name="connsiteY2" fmla="*/ 257442 h 257442"/>
                <a:gd name="connsiteX3" fmla="*/ 0 w 2029622"/>
                <a:gd name="connsiteY3" fmla="*/ 0 h 257442"/>
                <a:gd name="connsiteX0" fmla="*/ 2029623 w 2029623"/>
                <a:gd name="connsiteY0" fmla="*/ 0 h 257442"/>
                <a:gd name="connsiteX1" fmla="*/ 1974901 w 2029623"/>
                <a:gd name="connsiteY1" fmla="*/ 257442 h 257442"/>
                <a:gd name="connsiteX2" fmla="*/ 0 w 2029623"/>
                <a:gd name="connsiteY2" fmla="*/ 257442 h 257442"/>
                <a:gd name="connsiteX3" fmla="*/ 1 w 2029623"/>
                <a:gd name="connsiteY3" fmla="*/ 0 h 257442"/>
                <a:gd name="connsiteX0" fmla="*/ 2029623 w 2029623"/>
                <a:gd name="connsiteY0" fmla="*/ 0 h 257442"/>
                <a:gd name="connsiteX1" fmla="*/ 1974901 w 2029623"/>
                <a:gd name="connsiteY1" fmla="*/ 257442 h 257442"/>
                <a:gd name="connsiteX2" fmla="*/ 0 w 2029623"/>
                <a:gd name="connsiteY2" fmla="*/ 257442 h 257442"/>
                <a:gd name="connsiteX3" fmla="*/ 1 w 2029623"/>
                <a:gd name="connsiteY3" fmla="*/ 0 h 257442"/>
                <a:gd name="connsiteX0" fmla="*/ 2189923 w 2189923"/>
                <a:gd name="connsiteY0" fmla="*/ 0 h 257442"/>
                <a:gd name="connsiteX1" fmla="*/ 1974901 w 2189923"/>
                <a:gd name="connsiteY1" fmla="*/ 257442 h 257442"/>
                <a:gd name="connsiteX2" fmla="*/ 0 w 2189923"/>
                <a:gd name="connsiteY2" fmla="*/ 257442 h 257442"/>
                <a:gd name="connsiteX3" fmla="*/ 1 w 2189923"/>
                <a:gd name="connsiteY3" fmla="*/ 0 h 257442"/>
                <a:gd name="connsiteX0" fmla="*/ 2189923 w 2189923"/>
                <a:gd name="connsiteY0" fmla="*/ 0 h 257442"/>
                <a:gd name="connsiteX1" fmla="*/ 2135202 w 2189923"/>
                <a:gd name="connsiteY1" fmla="*/ 257442 h 257442"/>
                <a:gd name="connsiteX2" fmla="*/ 0 w 2189923"/>
                <a:gd name="connsiteY2" fmla="*/ 257442 h 257442"/>
                <a:gd name="connsiteX3" fmla="*/ 1 w 2189923"/>
                <a:gd name="connsiteY3" fmla="*/ 0 h 257442"/>
                <a:gd name="connsiteX0" fmla="*/ 2189922 w 2189922"/>
                <a:gd name="connsiteY0" fmla="*/ 0 h 257442"/>
                <a:gd name="connsiteX1" fmla="*/ 2135201 w 2189922"/>
                <a:gd name="connsiteY1" fmla="*/ 257442 h 257442"/>
                <a:gd name="connsiteX2" fmla="*/ 0 w 2189922"/>
                <a:gd name="connsiteY2" fmla="*/ 257442 h 257442"/>
                <a:gd name="connsiteX3" fmla="*/ 0 w 2189922"/>
                <a:gd name="connsiteY3" fmla="*/ 0 h 257442"/>
                <a:gd name="connsiteX0" fmla="*/ 2189923 w 2189923"/>
                <a:gd name="connsiteY0" fmla="*/ 0 h 257442"/>
                <a:gd name="connsiteX1" fmla="*/ 2135202 w 2189923"/>
                <a:gd name="connsiteY1" fmla="*/ 257442 h 257442"/>
                <a:gd name="connsiteX2" fmla="*/ 1 w 2189923"/>
                <a:gd name="connsiteY2" fmla="*/ 257442 h 257442"/>
                <a:gd name="connsiteX3" fmla="*/ 0 w 2189923"/>
                <a:gd name="connsiteY3" fmla="*/ 0 h 257442"/>
                <a:gd name="connsiteX0" fmla="*/ 2350223 w 2350223"/>
                <a:gd name="connsiteY0" fmla="*/ 0 h 257442"/>
                <a:gd name="connsiteX1" fmla="*/ 2135202 w 2350223"/>
                <a:gd name="connsiteY1" fmla="*/ 257442 h 257442"/>
                <a:gd name="connsiteX2" fmla="*/ 1 w 2350223"/>
                <a:gd name="connsiteY2" fmla="*/ 257442 h 257442"/>
                <a:gd name="connsiteX3" fmla="*/ 0 w 2350223"/>
                <a:gd name="connsiteY3" fmla="*/ 0 h 257442"/>
                <a:gd name="connsiteX0" fmla="*/ 2350223 w 2350223"/>
                <a:gd name="connsiteY0" fmla="*/ 0 h 257442"/>
                <a:gd name="connsiteX1" fmla="*/ 2295502 w 2350223"/>
                <a:gd name="connsiteY1" fmla="*/ 257442 h 257442"/>
                <a:gd name="connsiteX2" fmla="*/ 1 w 2350223"/>
                <a:gd name="connsiteY2" fmla="*/ 257442 h 257442"/>
                <a:gd name="connsiteX3" fmla="*/ 0 w 2350223"/>
                <a:gd name="connsiteY3" fmla="*/ 0 h 257442"/>
                <a:gd name="connsiteX0" fmla="*/ 2350223 w 2350223"/>
                <a:gd name="connsiteY0" fmla="*/ 0 h 257442"/>
                <a:gd name="connsiteX1" fmla="*/ 2295502 w 2350223"/>
                <a:gd name="connsiteY1" fmla="*/ 257442 h 257442"/>
                <a:gd name="connsiteX2" fmla="*/ 1 w 2350223"/>
                <a:gd name="connsiteY2" fmla="*/ 257442 h 257442"/>
                <a:gd name="connsiteX3" fmla="*/ 0 w 2350223"/>
                <a:gd name="connsiteY3" fmla="*/ 0 h 257442"/>
                <a:gd name="connsiteX0" fmla="*/ 2350222 w 2350222"/>
                <a:gd name="connsiteY0" fmla="*/ 0 h 257442"/>
                <a:gd name="connsiteX1" fmla="*/ 2295501 w 2350222"/>
                <a:gd name="connsiteY1" fmla="*/ 257442 h 257442"/>
                <a:gd name="connsiteX2" fmla="*/ 0 w 2350222"/>
                <a:gd name="connsiteY2" fmla="*/ 257442 h 257442"/>
                <a:gd name="connsiteX3" fmla="*/ 0 w 2350222"/>
                <a:gd name="connsiteY3" fmla="*/ 0 h 257442"/>
                <a:gd name="connsiteX0" fmla="*/ 2518537 w 2518537"/>
                <a:gd name="connsiteY0" fmla="*/ 0 h 257442"/>
                <a:gd name="connsiteX1" fmla="*/ 2295501 w 2518537"/>
                <a:gd name="connsiteY1" fmla="*/ 257442 h 257442"/>
                <a:gd name="connsiteX2" fmla="*/ 0 w 2518537"/>
                <a:gd name="connsiteY2" fmla="*/ 257442 h 257442"/>
                <a:gd name="connsiteX3" fmla="*/ 0 w 2518537"/>
                <a:gd name="connsiteY3" fmla="*/ 0 h 257442"/>
                <a:gd name="connsiteX0" fmla="*/ 2518537 w 2518537"/>
                <a:gd name="connsiteY0" fmla="*/ 0 h 257442"/>
                <a:gd name="connsiteX1" fmla="*/ 2463816 w 2518537"/>
                <a:gd name="connsiteY1" fmla="*/ 257442 h 257442"/>
                <a:gd name="connsiteX2" fmla="*/ 0 w 2518537"/>
                <a:gd name="connsiteY2" fmla="*/ 257442 h 257442"/>
                <a:gd name="connsiteX3" fmla="*/ 0 w 2518537"/>
                <a:gd name="connsiteY3" fmla="*/ 0 h 257442"/>
                <a:gd name="connsiteX0" fmla="*/ 2518538 w 2518538"/>
                <a:gd name="connsiteY0" fmla="*/ 0 h 257442"/>
                <a:gd name="connsiteX1" fmla="*/ 2463817 w 2518538"/>
                <a:gd name="connsiteY1" fmla="*/ 257442 h 257442"/>
                <a:gd name="connsiteX2" fmla="*/ 0 w 2518538"/>
                <a:gd name="connsiteY2" fmla="*/ 257442 h 257442"/>
                <a:gd name="connsiteX3" fmla="*/ 1 w 2518538"/>
                <a:gd name="connsiteY3" fmla="*/ 0 h 257442"/>
                <a:gd name="connsiteX0" fmla="*/ 2518538 w 2518538"/>
                <a:gd name="connsiteY0" fmla="*/ 0 h 257442"/>
                <a:gd name="connsiteX1" fmla="*/ 2463817 w 2518538"/>
                <a:gd name="connsiteY1" fmla="*/ 257442 h 257442"/>
                <a:gd name="connsiteX2" fmla="*/ 0 w 2518538"/>
                <a:gd name="connsiteY2" fmla="*/ 257442 h 257442"/>
                <a:gd name="connsiteX3" fmla="*/ 0 w 2518538"/>
                <a:gd name="connsiteY3" fmla="*/ 0 h 257442"/>
                <a:gd name="connsiteX0" fmla="*/ 2686853 w 2686853"/>
                <a:gd name="connsiteY0" fmla="*/ 0 h 257442"/>
                <a:gd name="connsiteX1" fmla="*/ 2463817 w 2686853"/>
                <a:gd name="connsiteY1" fmla="*/ 257442 h 257442"/>
                <a:gd name="connsiteX2" fmla="*/ 0 w 2686853"/>
                <a:gd name="connsiteY2" fmla="*/ 257442 h 257442"/>
                <a:gd name="connsiteX3" fmla="*/ 0 w 2686853"/>
                <a:gd name="connsiteY3" fmla="*/ 0 h 257442"/>
                <a:gd name="connsiteX0" fmla="*/ 2686853 w 2686853"/>
                <a:gd name="connsiteY0" fmla="*/ 0 h 257442"/>
                <a:gd name="connsiteX1" fmla="*/ 2632132 w 2686853"/>
                <a:gd name="connsiteY1" fmla="*/ 257442 h 257442"/>
                <a:gd name="connsiteX2" fmla="*/ 0 w 2686853"/>
                <a:gd name="connsiteY2" fmla="*/ 257442 h 257442"/>
                <a:gd name="connsiteX3" fmla="*/ 0 w 2686853"/>
                <a:gd name="connsiteY3" fmla="*/ 0 h 257442"/>
                <a:gd name="connsiteX0" fmla="*/ 2686853 w 2686853"/>
                <a:gd name="connsiteY0" fmla="*/ 0 h 257442"/>
                <a:gd name="connsiteX1" fmla="*/ 2632132 w 2686853"/>
                <a:gd name="connsiteY1" fmla="*/ 257442 h 257442"/>
                <a:gd name="connsiteX2" fmla="*/ 0 w 2686853"/>
                <a:gd name="connsiteY2" fmla="*/ 257442 h 257442"/>
                <a:gd name="connsiteX3" fmla="*/ 0 w 2686853"/>
                <a:gd name="connsiteY3" fmla="*/ 0 h 257442"/>
                <a:gd name="connsiteX0" fmla="*/ 2686853 w 2686853"/>
                <a:gd name="connsiteY0" fmla="*/ 0 h 257442"/>
                <a:gd name="connsiteX1" fmla="*/ 2632132 w 2686853"/>
                <a:gd name="connsiteY1" fmla="*/ 257442 h 257442"/>
                <a:gd name="connsiteX2" fmla="*/ 0 w 2686853"/>
                <a:gd name="connsiteY2" fmla="*/ 257442 h 257442"/>
                <a:gd name="connsiteX3" fmla="*/ 0 w 2686853"/>
                <a:gd name="connsiteY3" fmla="*/ 0 h 257442"/>
                <a:gd name="connsiteX0" fmla="*/ 2518538 w 2632132"/>
                <a:gd name="connsiteY0" fmla="*/ 0 h 257442"/>
                <a:gd name="connsiteX1" fmla="*/ 2632132 w 2632132"/>
                <a:gd name="connsiteY1" fmla="*/ 257442 h 257442"/>
                <a:gd name="connsiteX2" fmla="*/ 0 w 2632132"/>
                <a:gd name="connsiteY2" fmla="*/ 257442 h 257442"/>
                <a:gd name="connsiteX3" fmla="*/ 0 w 2632132"/>
                <a:gd name="connsiteY3" fmla="*/ 0 h 257442"/>
                <a:gd name="connsiteX0" fmla="*/ 2518538 w 2518538"/>
                <a:gd name="connsiteY0" fmla="*/ 0 h 257442"/>
                <a:gd name="connsiteX1" fmla="*/ 2463817 w 2518538"/>
                <a:gd name="connsiteY1" fmla="*/ 257442 h 257442"/>
                <a:gd name="connsiteX2" fmla="*/ 0 w 2518538"/>
                <a:gd name="connsiteY2" fmla="*/ 257442 h 257442"/>
                <a:gd name="connsiteX3" fmla="*/ 0 w 2518538"/>
                <a:gd name="connsiteY3" fmla="*/ 0 h 257442"/>
                <a:gd name="connsiteX0" fmla="*/ 2518538 w 2518538"/>
                <a:gd name="connsiteY0" fmla="*/ 0 h 257442"/>
                <a:gd name="connsiteX1" fmla="*/ 2463817 w 2518538"/>
                <a:gd name="connsiteY1" fmla="*/ 257442 h 257442"/>
                <a:gd name="connsiteX2" fmla="*/ 0 w 2518538"/>
                <a:gd name="connsiteY2" fmla="*/ 257442 h 257442"/>
                <a:gd name="connsiteX3" fmla="*/ 0 w 2518538"/>
                <a:gd name="connsiteY3" fmla="*/ 0 h 257442"/>
                <a:gd name="connsiteX0" fmla="*/ 2518538 w 2518538"/>
                <a:gd name="connsiteY0" fmla="*/ 0 h 257442"/>
                <a:gd name="connsiteX1" fmla="*/ 2463817 w 2518538"/>
                <a:gd name="connsiteY1" fmla="*/ 257442 h 257442"/>
                <a:gd name="connsiteX2" fmla="*/ 0 w 2518538"/>
                <a:gd name="connsiteY2" fmla="*/ 257442 h 257442"/>
                <a:gd name="connsiteX3" fmla="*/ 0 w 2518538"/>
                <a:gd name="connsiteY3" fmla="*/ 0 h 257442"/>
                <a:gd name="connsiteX0" fmla="*/ 2787843 w 2787843"/>
                <a:gd name="connsiteY0" fmla="*/ 0 h 257442"/>
                <a:gd name="connsiteX1" fmla="*/ 2463817 w 2787843"/>
                <a:gd name="connsiteY1" fmla="*/ 257442 h 257442"/>
                <a:gd name="connsiteX2" fmla="*/ 0 w 2787843"/>
                <a:gd name="connsiteY2" fmla="*/ 257442 h 257442"/>
                <a:gd name="connsiteX3" fmla="*/ 0 w 2787843"/>
                <a:gd name="connsiteY3" fmla="*/ 0 h 257442"/>
                <a:gd name="connsiteX0" fmla="*/ 2787843 w 2787843"/>
                <a:gd name="connsiteY0" fmla="*/ 0 h 257442"/>
                <a:gd name="connsiteX1" fmla="*/ 2733122 w 2787843"/>
                <a:gd name="connsiteY1" fmla="*/ 257442 h 257442"/>
                <a:gd name="connsiteX2" fmla="*/ 0 w 2787843"/>
                <a:gd name="connsiteY2" fmla="*/ 257442 h 257442"/>
                <a:gd name="connsiteX3" fmla="*/ 0 w 2787843"/>
                <a:gd name="connsiteY3" fmla="*/ 0 h 257442"/>
                <a:gd name="connsiteX0" fmla="*/ 2787843 w 2787843"/>
                <a:gd name="connsiteY0" fmla="*/ 0 h 257442"/>
                <a:gd name="connsiteX1" fmla="*/ 2733122 w 2787843"/>
                <a:gd name="connsiteY1" fmla="*/ 257442 h 257442"/>
                <a:gd name="connsiteX2" fmla="*/ 0 w 2787843"/>
                <a:gd name="connsiteY2" fmla="*/ 257442 h 257442"/>
                <a:gd name="connsiteX3" fmla="*/ 0 w 2787843"/>
                <a:gd name="connsiteY3" fmla="*/ 0 h 257442"/>
                <a:gd name="connsiteX0" fmla="*/ 2787843 w 2787843"/>
                <a:gd name="connsiteY0" fmla="*/ 0 h 257442"/>
                <a:gd name="connsiteX1" fmla="*/ 2733122 w 2787843"/>
                <a:gd name="connsiteY1" fmla="*/ 257442 h 257442"/>
                <a:gd name="connsiteX2" fmla="*/ 0 w 2787843"/>
                <a:gd name="connsiteY2" fmla="*/ 257442 h 257442"/>
                <a:gd name="connsiteX3" fmla="*/ 0 w 2787843"/>
                <a:gd name="connsiteY3" fmla="*/ 0 h 257442"/>
                <a:gd name="connsiteX0" fmla="*/ 2965775 w 2965775"/>
                <a:gd name="connsiteY0" fmla="*/ 0 h 257442"/>
                <a:gd name="connsiteX1" fmla="*/ 2733122 w 2965775"/>
                <a:gd name="connsiteY1" fmla="*/ 257442 h 257442"/>
                <a:gd name="connsiteX2" fmla="*/ 0 w 2965775"/>
                <a:gd name="connsiteY2" fmla="*/ 257442 h 257442"/>
                <a:gd name="connsiteX3" fmla="*/ 0 w 2965775"/>
                <a:gd name="connsiteY3" fmla="*/ 0 h 257442"/>
                <a:gd name="connsiteX0" fmla="*/ 2965775 w 2965775"/>
                <a:gd name="connsiteY0" fmla="*/ 0 h 257442"/>
                <a:gd name="connsiteX1" fmla="*/ 2911054 w 2965775"/>
                <a:gd name="connsiteY1" fmla="*/ 257442 h 257442"/>
                <a:gd name="connsiteX2" fmla="*/ 0 w 2965775"/>
                <a:gd name="connsiteY2" fmla="*/ 257442 h 257442"/>
                <a:gd name="connsiteX3" fmla="*/ 0 w 2965775"/>
                <a:gd name="connsiteY3" fmla="*/ 0 h 257442"/>
                <a:gd name="connsiteX0" fmla="*/ 2965775 w 2965775"/>
                <a:gd name="connsiteY0" fmla="*/ 0 h 257442"/>
                <a:gd name="connsiteX1" fmla="*/ 2911054 w 2965775"/>
                <a:gd name="connsiteY1" fmla="*/ 257442 h 257442"/>
                <a:gd name="connsiteX2" fmla="*/ 0 w 2965775"/>
                <a:gd name="connsiteY2" fmla="*/ 257442 h 257442"/>
                <a:gd name="connsiteX3" fmla="*/ 0 w 2965775"/>
                <a:gd name="connsiteY3" fmla="*/ 0 h 257442"/>
                <a:gd name="connsiteX0" fmla="*/ 2965775 w 2965775"/>
                <a:gd name="connsiteY0" fmla="*/ 0 h 257442"/>
                <a:gd name="connsiteX1" fmla="*/ 2911054 w 2965775"/>
                <a:gd name="connsiteY1" fmla="*/ 257442 h 257442"/>
                <a:gd name="connsiteX2" fmla="*/ 0 w 2965775"/>
                <a:gd name="connsiteY2" fmla="*/ 257442 h 257442"/>
                <a:gd name="connsiteX3" fmla="*/ 0 w 2965775"/>
                <a:gd name="connsiteY3" fmla="*/ 0 h 257442"/>
                <a:gd name="connsiteX0" fmla="*/ 2797461 w 2911054"/>
                <a:gd name="connsiteY0" fmla="*/ 0 h 257442"/>
                <a:gd name="connsiteX1" fmla="*/ 2911054 w 2911054"/>
                <a:gd name="connsiteY1" fmla="*/ 257442 h 257442"/>
                <a:gd name="connsiteX2" fmla="*/ 0 w 2911054"/>
                <a:gd name="connsiteY2" fmla="*/ 257442 h 257442"/>
                <a:gd name="connsiteX3" fmla="*/ 0 w 2911054"/>
                <a:gd name="connsiteY3" fmla="*/ 0 h 257442"/>
                <a:gd name="connsiteX0" fmla="*/ 2797461 w 2797461"/>
                <a:gd name="connsiteY0" fmla="*/ 0 h 257442"/>
                <a:gd name="connsiteX1" fmla="*/ 2742740 w 2797461"/>
                <a:gd name="connsiteY1" fmla="*/ 257442 h 257442"/>
                <a:gd name="connsiteX2" fmla="*/ 0 w 2797461"/>
                <a:gd name="connsiteY2" fmla="*/ 257442 h 257442"/>
                <a:gd name="connsiteX3" fmla="*/ 0 w 2797461"/>
                <a:gd name="connsiteY3" fmla="*/ 0 h 257442"/>
                <a:gd name="connsiteX0" fmla="*/ 2797461 w 2797461"/>
                <a:gd name="connsiteY0" fmla="*/ 0 h 257442"/>
                <a:gd name="connsiteX1" fmla="*/ 2742740 w 2797461"/>
                <a:gd name="connsiteY1" fmla="*/ 257442 h 257442"/>
                <a:gd name="connsiteX2" fmla="*/ 1 w 2797461"/>
                <a:gd name="connsiteY2" fmla="*/ 257442 h 257442"/>
                <a:gd name="connsiteX3" fmla="*/ 0 w 2797461"/>
                <a:gd name="connsiteY3" fmla="*/ 0 h 257442"/>
                <a:gd name="connsiteX0" fmla="*/ 2797460 w 2797460"/>
                <a:gd name="connsiteY0" fmla="*/ 0 h 257442"/>
                <a:gd name="connsiteX1" fmla="*/ 2742739 w 2797460"/>
                <a:gd name="connsiteY1" fmla="*/ 257442 h 257442"/>
                <a:gd name="connsiteX2" fmla="*/ 0 w 2797460"/>
                <a:gd name="connsiteY2" fmla="*/ 257442 h 257442"/>
                <a:gd name="connsiteX3" fmla="*/ 0 w 2797460"/>
                <a:gd name="connsiteY3" fmla="*/ 0 h 257442"/>
                <a:gd name="connsiteX0" fmla="*/ 2957760 w 2957760"/>
                <a:gd name="connsiteY0" fmla="*/ 0 h 257442"/>
                <a:gd name="connsiteX1" fmla="*/ 2742739 w 2957760"/>
                <a:gd name="connsiteY1" fmla="*/ 257442 h 257442"/>
                <a:gd name="connsiteX2" fmla="*/ 0 w 2957760"/>
                <a:gd name="connsiteY2" fmla="*/ 257442 h 257442"/>
                <a:gd name="connsiteX3" fmla="*/ 0 w 2957760"/>
                <a:gd name="connsiteY3" fmla="*/ 0 h 257442"/>
                <a:gd name="connsiteX0" fmla="*/ 2957760 w 2957760"/>
                <a:gd name="connsiteY0" fmla="*/ 0 h 257442"/>
                <a:gd name="connsiteX1" fmla="*/ 2903039 w 2957760"/>
                <a:gd name="connsiteY1" fmla="*/ 257442 h 257442"/>
                <a:gd name="connsiteX2" fmla="*/ 0 w 2957760"/>
                <a:gd name="connsiteY2" fmla="*/ 257442 h 257442"/>
                <a:gd name="connsiteX3" fmla="*/ 0 w 2957760"/>
                <a:gd name="connsiteY3" fmla="*/ 0 h 257442"/>
                <a:gd name="connsiteX0" fmla="*/ 2957761 w 2957761"/>
                <a:gd name="connsiteY0" fmla="*/ 0 h 257442"/>
                <a:gd name="connsiteX1" fmla="*/ 2903040 w 2957761"/>
                <a:gd name="connsiteY1" fmla="*/ 257442 h 257442"/>
                <a:gd name="connsiteX2" fmla="*/ 0 w 2957761"/>
                <a:gd name="connsiteY2" fmla="*/ 257442 h 257442"/>
                <a:gd name="connsiteX3" fmla="*/ 1 w 2957761"/>
                <a:gd name="connsiteY3" fmla="*/ 0 h 257442"/>
                <a:gd name="connsiteX0" fmla="*/ 2957761 w 2957761"/>
                <a:gd name="connsiteY0" fmla="*/ 0 h 257442"/>
                <a:gd name="connsiteX1" fmla="*/ 2903040 w 2957761"/>
                <a:gd name="connsiteY1" fmla="*/ 257442 h 257442"/>
                <a:gd name="connsiteX2" fmla="*/ 0 w 2957761"/>
                <a:gd name="connsiteY2" fmla="*/ 257442 h 257442"/>
                <a:gd name="connsiteX3" fmla="*/ 1 w 2957761"/>
                <a:gd name="connsiteY3" fmla="*/ 0 h 257442"/>
                <a:gd name="connsiteX0" fmla="*/ 3143710 w 3143710"/>
                <a:gd name="connsiteY0" fmla="*/ 0 h 257442"/>
                <a:gd name="connsiteX1" fmla="*/ 2903040 w 3143710"/>
                <a:gd name="connsiteY1" fmla="*/ 257442 h 257442"/>
                <a:gd name="connsiteX2" fmla="*/ 0 w 3143710"/>
                <a:gd name="connsiteY2" fmla="*/ 257442 h 257442"/>
                <a:gd name="connsiteX3" fmla="*/ 1 w 3143710"/>
                <a:gd name="connsiteY3" fmla="*/ 0 h 257442"/>
                <a:gd name="connsiteX0" fmla="*/ 3143710 w 3143710"/>
                <a:gd name="connsiteY0" fmla="*/ 0 h 257442"/>
                <a:gd name="connsiteX1" fmla="*/ 3088988 w 3143710"/>
                <a:gd name="connsiteY1" fmla="*/ 257442 h 257442"/>
                <a:gd name="connsiteX2" fmla="*/ 0 w 3143710"/>
                <a:gd name="connsiteY2" fmla="*/ 257442 h 257442"/>
                <a:gd name="connsiteX3" fmla="*/ 1 w 3143710"/>
                <a:gd name="connsiteY3" fmla="*/ 0 h 257442"/>
                <a:gd name="connsiteX0" fmla="*/ 3143710 w 3143710"/>
                <a:gd name="connsiteY0" fmla="*/ 0 h 257442"/>
                <a:gd name="connsiteX1" fmla="*/ 3088988 w 3143710"/>
                <a:gd name="connsiteY1" fmla="*/ 257442 h 257442"/>
                <a:gd name="connsiteX2" fmla="*/ 0 w 3143710"/>
                <a:gd name="connsiteY2" fmla="*/ 257442 h 257442"/>
                <a:gd name="connsiteX3" fmla="*/ 1 w 3143710"/>
                <a:gd name="connsiteY3" fmla="*/ 0 h 257442"/>
                <a:gd name="connsiteX0" fmla="*/ 3143710 w 3143710"/>
                <a:gd name="connsiteY0" fmla="*/ 0 h 257442"/>
                <a:gd name="connsiteX1" fmla="*/ 3088988 w 3143710"/>
                <a:gd name="connsiteY1" fmla="*/ 257442 h 257442"/>
                <a:gd name="connsiteX2" fmla="*/ 0 w 3143710"/>
                <a:gd name="connsiteY2" fmla="*/ 257442 h 257442"/>
                <a:gd name="connsiteX3" fmla="*/ 0 w 3143710"/>
                <a:gd name="connsiteY3" fmla="*/ 0 h 257442"/>
                <a:gd name="connsiteX0" fmla="*/ 2787843 w 3088988"/>
                <a:gd name="connsiteY0" fmla="*/ 0 h 257442"/>
                <a:gd name="connsiteX1" fmla="*/ 3088988 w 3088988"/>
                <a:gd name="connsiteY1" fmla="*/ 257442 h 257442"/>
                <a:gd name="connsiteX2" fmla="*/ 0 w 3088988"/>
                <a:gd name="connsiteY2" fmla="*/ 257442 h 257442"/>
                <a:gd name="connsiteX3" fmla="*/ 0 w 3088988"/>
                <a:gd name="connsiteY3" fmla="*/ 0 h 257442"/>
                <a:gd name="connsiteX0" fmla="*/ 2787843 w 2787843"/>
                <a:gd name="connsiteY0" fmla="*/ 0 h 257442"/>
                <a:gd name="connsiteX1" fmla="*/ 2733122 w 2787843"/>
                <a:gd name="connsiteY1" fmla="*/ 257442 h 257442"/>
                <a:gd name="connsiteX2" fmla="*/ 0 w 2787843"/>
                <a:gd name="connsiteY2" fmla="*/ 257442 h 257442"/>
                <a:gd name="connsiteX3" fmla="*/ 0 w 2787843"/>
                <a:gd name="connsiteY3" fmla="*/ 0 h 257442"/>
                <a:gd name="connsiteX0" fmla="*/ 2787843 w 2787843"/>
                <a:gd name="connsiteY0" fmla="*/ 0 h 257442"/>
                <a:gd name="connsiteX1" fmla="*/ 2733122 w 2787843"/>
                <a:gd name="connsiteY1" fmla="*/ 257442 h 257442"/>
                <a:gd name="connsiteX2" fmla="*/ 1 w 2787843"/>
                <a:gd name="connsiteY2" fmla="*/ 257442 h 257442"/>
                <a:gd name="connsiteX3" fmla="*/ 0 w 2787843"/>
                <a:gd name="connsiteY3" fmla="*/ 0 h 257442"/>
                <a:gd name="connsiteX0" fmla="*/ 2787842 w 2787842"/>
                <a:gd name="connsiteY0" fmla="*/ 0 h 257442"/>
                <a:gd name="connsiteX1" fmla="*/ 2733121 w 2787842"/>
                <a:gd name="connsiteY1" fmla="*/ 257442 h 257442"/>
                <a:gd name="connsiteX2" fmla="*/ 0 w 2787842"/>
                <a:gd name="connsiteY2" fmla="*/ 257442 h 257442"/>
                <a:gd name="connsiteX3" fmla="*/ 0 w 2787842"/>
                <a:gd name="connsiteY3" fmla="*/ 0 h 257442"/>
                <a:gd name="connsiteX0" fmla="*/ 2965774 w 2965774"/>
                <a:gd name="connsiteY0" fmla="*/ 0 h 257442"/>
                <a:gd name="connsiteX1" fmla="*/ 2733121 w 2965774"/>
                <a:gd name="connsiteY1" fmla="*/ 257442 h 257442"/>
                <a:gd name="connsiteX2" fmla="*/ 0 w 2965774"/>
                <a:gd name="connsiteY2" fmla="*/ 257442 h 257442"/>
                <a:gd name="connsiteX3" fmla="*/ 0 w 2965774"/>
                <a:gd name="connsiteY3" fmla="*/ 0 h 257442"/>
                <a:gd name="connsiteX0" fmla="*/ 2965774 w 2965774"/>
                <a:gd name="connsiteY0" fmla="*/ 0 h 257442"/>
                <a:gd name="connsiteX1" fmla="*/ 2911053 w 2965774"/>
                <a:gd name="connsiteY1" fmla="*/ 257442 h 257442"/>
                <a:gd name="connsiteX2" fmla="*/ 0 w 2965774"/>
                <a:gd name="connsiteY2" fmla="*/ 257442 h 257442"/>
                <a:gd name="connsiteX3" fmla="*/ 0 w 2965774"/>
                <a:gd name="connsiteY3" fmla="*/ 0 h 257442"/>
                <a:gd name="connsiteX0" fmla="*/ 2965775 w 2965775"/>
                <a:gd name="connsiteY0" fmla="*/ 0 h 257442"/>
                <a:gd name="connsiteX1" fmla="*/ 2911054 w 2965775"/>
                <a:gd name="connsiteY1" fmla="*/ 257442 h 257442"/>
                <a:gd name="connsiteX2" fmla="*/ 0 w 2965775"/>
                <a:gd name="connsiteY2" fmla="*/ 257442 h 257442"/>
                <a:gd name="connsiteX3" fmla="*/ 1 w 2965775"/>
                <a:gd name="connsiteY3" fmla="*/ 0 h 257442"/>
                <a:gd name="connsiteX0" fmla="*/ 2965775 w 2965775"/>
                <a:gd name="connsiteY0" fmla="*/ 0 h 257442"/>
                <a:gd name="connsiteX1" fmla="*/ 2911054 w 2965775"/>
                <a:gd name="connsiteY1" fmla="*/ 257442 h 257442"/>
                <a:gd name="connsiteX2" fmla="*/ 0 w 2965775"/>
                <a:gd name="connsiteY2" fmla="*/ 257442 h 257442"/>
                <a:gd name="connsiteX3" fmla="*/ 1 w 2965775"/>
                <a:gd name="connsiteY3" fmla="*/ 0 h 257442"/>
                <a:gd name="connsiteX0" fmla="*/ 950802 w 2911054"/>
                <a:gd name="connsiteY0" fmla="*/ 0 h 257442"/>
                <a:gd name="connsiteX1" fmla="*/ 2911054 w 2911054"/>
                <a:gd name="connsiteY1" fmla="*/ 257442 h 257442"/>
                <a:gd name="connsiteX2" fmla="*/ 0 w 2911054"/>
                <a:gd name="connsiteY2" fmla="*/ 257442 h 257442"/>
                <a:gd name="connsiteX3" fmla="*/ 1 w 2911054"/>
                <a:gd name="connsiteY3" fmla="*/ 0 h 257442"/>
                <a:gd name="connsiteX0" fmla="*/ 950802 w 950802"/>
                <a:gd name="connsiteY0" fmla="*/ 0 h 257442"/>
                <a:gd name="connsiteX1" fmla="*/ 896081 w 950802"/>
                <a:gd name="connsiteY1" fmla="*/ 257442 h 257442"/>
                <a:gd name="connsiteX2" fmla="*/ 0 w 950802"/>
                <a:gd name="connsiteY2" fmla="*/ 257442 h 257442"/>
                <a:gd name="connsiteX3" fmla="*/ 1 w 950802"/>
                <a:gd name="connsiteY3" fmla="*/ 0 h 257442"/>
                <a:gd name="connsiteX0" fmla="*/ 950801 w 950801"/>
                <a:gd name="connsiteY0" fmla="*/ 0 h 257442"/>
                <a:gd name="connsiteX1" fmla="*/ 896080 w 950801"/>
                <a:gd name="connsiteY1" fmla="*/ 257442 h 257442"/>
                <a:gd name="connsiteX2" fmla="*/ 0 w 950801"/>
                <a:gd name="connsiteY2" fmla="*/ 257442 h 257442"/>
                <a:gd name="connsiteX3" fmla="*/ 0 w 950801"/>
                <a:gd name="connsiteY3" fmla="*/ 0 h 257442"/>
                <a:gd name="connsiteX0" fmla="*/ 950801 w 950801"/>
                <a:gd name="connsiteY0" fmla="*/ 0 h 257442"/>
                <a:gd name="connsiteX1" fmla="*/ 896080 w 950801"/>
                <a:gd name="connsiteY1" fmla="*/ 257442 h 257442"/>
                <a:gd name="connsiteX2" fmla="*/ 0 w 950801"/>
                <a:gd name="connsiteY2" fmla="*/ 257442 h 257442"/>
                <a:gd name="connsiteX3" fmla="*/ 0 w 950801"/>
                <a:gd name="connsiteY3" fmla="*/ 0 h 257442"/>
                <a:gd name="connsiteX0" fmla="*/ 782550 w 896080"/>
                <a:gd name="connsiteY0" fmla="*/ 0 h 257442"/>
                <a:gd name="connsiteX1" fmla="*/ 896080 w 896080"/>
                <a:gd name="connsiteY1" fmla="*/ 257442 h 257442"/>
                <a:gd name="connsiteX2" fmla="*/ 0 w 896080"/>
                <a:gd name="connsiteY2" fmla="*/ 257442 h 257442"/>
                <a:gd name="connsiteX3" fmla="*/ 0 w 896080"/>
                <a:gd name="connsiteY3" fmla="*/ 0 h 257442"/>
                <a:gd name="connsiteX0" fmla="*/ 782550 w 782550"/>
                <a:gd name="connsiteY0" fmla="*/ 0 h 257442"/>
                <a:gd name="connsiteX1" fmla="*/ 727829 w 782550"/>
                <a:gd name="connsiteY1" fmla="*/ 257442 h 257442"/>
                <a:gd name="connsiteX2" fmla="*/ 0 w 782550"/>
                <a:gd name="connsiteY2" fmla="*/ 257442 h 257442"/>
                <a:gd name="connsiteX3" fmla="*/ 0 w 782550"/>
                <a:gd name="connsiteY3" fmla="*/ 0 h 257442"/>
                <a:gd name="connsiteX0" fmla="*/ 782550 w 782550"/>
                <a:gd name="connsiteY0" fmla="*/ 0 h 257442"/>
                <a:gd name="connsiteX1" fmla="*/ 727829 w 782550"/>
                <a:gd name="connsiteY1" fmla="*/ 257442 h 257442"/>
                <a:gd name="connsiteX2" fmla="*/ 0 w 782550"/>
                <a:gd name="connsiteY2" fmla="*/ 257442 h 257442"/>
                <a:gd name="connsiteX3" fmla="*/ 0 w 782550"/>
                <a:gd name="connsiteY3" fmla="*/ 0 h 257442"/>
                <a:gd name="connsiteX0" fmla="*/ 782550 w 782550"/>
                <a:gd name="connsiteY0" fmla="*/ 0 h 257442"/>
                <a:gd name="connsiteX1" fmla="*/ 727829 w 782550"/>
                <a:gd name="connsiteY1" fmla="*/ 257442 h 257442"/>
                <a:gd name="connsiteX2" fmla="*/ 0 w 782550"/>
                <a:gd name="connsiteY2" fmla="*/ 257442 h 257442"/>
                <a:gd name="connsiteX3" fmla="*/ 0 w 782550"/>
                <a:gd name="connsiteY3" fmla="*/ 0 h 257442"/>
                <a:gd name="connsiteX0" fmla="*/ 950801 w 950801"/>
                <a:gd name="connsiteY0" fmla="*/ 0 h 257442"/>
                <a:gd name="connsiteX1" fmla="*/ 727829 w 950801"/>
                <a:gd name="connsiteY1" fmla="*/ 257442 h 257442"/>
                <a:gd name="connsiteX2" fmla="*/ 0 w 950801"/>
                <a:gd name="connsiteY2" fmla="*/ 257442 h 257442"/>
                <a:gd name="connsiteX3" fmla="*/ 0 w 950801"/>
                <a:gd name="connsiteY3" fmla="*/ 0 h 257442"/>
                <a:gd name="connsiteX0" fmla="*/ 950801 w 950801"/>
                <a:gd name="connsiteY0" fmla="*/ 0 h 257442"/>
                <a:gd name="connsiteX1" fmla="*/ 896080 w 950801"/>
                <a:gd name="connsiteY1" fmla="*/ 257442 h 257442"/>
                <a:gd name="connsiteX2" fmla="*/ 0 w 950801"/>
                <a:gd name="connsiteY2" fmla="*/ 257442 h 257442"/>
                <a:gd name="connsiteX3" fmla="*/ 0 w 950801"/>
                <a:gd name="connsiteY3" fmla="*/ 0 h 257442"/>
                <a:gd name="connsiteX0" fmla="*/ 950801 w 950801"/>
                <a:gd name="connsiteY0" fmla="*/ 0 h 257442"/>
                <a:gd name="connsiteX1" fmla="*/ 896080 w 950801"/>
                <a:gd name="connsiteY1" fmla="*/ 257442 h 257442"/>
                <a:gd name="connsiteX2" fmla="*/ 0 w 950801"/>
                <a:gd name="connsiteY2" fmla="*/ 257442 h 257442"/>
                <a:gd name="connsiteX3" fmla="*/ 0 w 950801"/>
                <a:gd name="connsiteY3" fmla="*/ 0 h 257442"/>
                <a:gd name="connsiteX0" fmla="*/ 950801 w 950801"/>
                <a:gd name="connsiteY0" fmla="*/ 0 h 257442"/>
                <a:gd name="connsiteX1" fmla="*/ 896080 w 950801"/>
                <a:gd name="connsiteY1" fmla="*/ 257442 h 257442"/>
                <a:gd name="connsiteX2" fmla="*/ 0 w 950801"/>
                <a:gd name="connsiteY2" fmla="*/ 257442 h 257442"/>
                <a:gd name="connsiteX3" fmla="*/ 0 w 950801"/>
                <a:gd name="connsiteY3" fmla="*/ 0 h 257442"/>
                <a:gd name="connsiteX0" fmla="*/ 1229724 w 1229724"/>
                <a:gd name="connsiteY0" fmla="*/ 0 h 257442"/>
                <a:gd name="connsiteX1" fmla="*/ 896080 w 1229724"/>
                <a:gd name="connsiteY1" fmla="*/ 257442 h 257442"/>
                <a:gd name="connsiteX2" fmla="*/ 0 w 1229724"/>
                <a:gd name="connsiteY2" fmla="*/ 257442 h 257442"/>
                <a:gd name="connsiteX3" fmla="*/ 0 w 1229724"/>
                <a:gd name="connsiteY3" fmla="*/ 0 h 257442"/>
                <a:gd name="connsiteX0" fmla="*/ 1229724 w 1229724"/>
                <a:gd name="connsiteY0" fmla="*/ 0 h 257442"/>
                <a:gd name="connsiteX1" fmla="*/ 1175002 w 1229724"/>
                <a:gd name="connsiteY1" fmla="*/ 257442 h 257442"/>
                <a:gd name="connsiteX2" fmla="*/ 0 w 1229724"/>
                <a:gd name="connsiteY2" fmla="*/ 257442 h 257442"/>
                <a:gd name="connsiteX3" fmla="*/ 0 w 1229724"/>
                <a:gd name="connsiteY3" fmla="*/ 0 h 257442"/>
                <a:gd name="connsiteX0" fmla="*/ 1229725 w 1229725"/>
                <a:gd name="connsiteY0" fmla="*/ 0 h 257442"/>
                <a:gd name="connsiteX1" fmla="*/ 1175003 w 1229725"/>
                <a:gd name="connsiteY1" fmla="*/ 257442 h 257442"/>
                <a:gd name="connsiteX2" fmla="*/ 0 w 1229725"/>
                <a:gd name="connsiteY2" fmla="*/ 257442 h 257442"/>
                <a:gd name="connsiteX3" fmla="*/ 1 w 1229725"/>
                <a:gd name="connsiteY3" fmla="*/ 0 h 257442"/>
                <a:gd name="connsiteX0" fmla="*/ 1229725 w 1229725"/>
                <a:gd name="connsiteY0" fmla="*/ 0 h 257442"/>
                <a:gd name="connsiteX1" fmla="*/ 1175003 w 1229725"/>
                <a:gd name="connsiteY1" fmla="*/ 257442 h 257442"/>
                <a:gd name="connsiteX2" fmla="*/ 0 w 1229725"/>
                <a:gd name="connsiteY2" fmla="*/ 257442 h 257442"/>
                <a:gd name="connsiteX3" fmla="*/ 1 w 1229725"/>
                <a:gd name="connsiteY3" fmla="*/ 0 h 257442"/>
                <a:gd name="connsiteX0" fmla="*/ 1542310 w 1542310"/>
                <a:gd name="connsiteY0" fmla="*/ 0 h 257442"/>
                <a:gd name="connsiteX1" fmla="*/ 1175003 w 1542310"/>
                <a:gd name="connsiteY1" fmla="*/ 257442 h 257442"/>
                <a:gd name="connsiteX2" fmla="*/ 0 w 1542310"/>
                <a:gd name="connsiteY2" fmla="*/ 257442 h 257442"/>
                <a:gd name="connsiteX3" fmla="*/ 1 w 1542310"/>
                <a:gd name="connsiteY3" fmla="*/ 0 h 257442"/>
                <a:gd name="connsiteX0" fmla="*/ 1542310 w 1542310"/>
                <a:gd name="connsiteY0" fmla="*/ 0 h 257442"/>
                <a:gd name="connsiteX1" fmla="*/ 1487588 w 1542310"/>
                <a:gd name="connsiteY1" fmla="*/ 257442 h 257442"/>
                <a:gd name="connsiteX2" fmla="*/ 0 w 1542310"/>
                <a:gd name="connsiteY2" fmla="*/ 257442 h 257442"/>
                <a:gd name="connsiteX3" fmla="*/ 1 w 1542310"/>
                <a:gd name="connsiteY3" fmla="*/ 0 h 257442"/>
                <a:gd name="connsiteX0" fmla="*/ 1542310 w 1542310"/>
                <a:gd name="connsiteY0" fmla="*/ 0 h 257442"/>
                <a:gd name="connsiteX1" fmla="*/ 1487588 w 1542310"/>
                <a:gd name="connsiteY1" fmla="*/ 257442 h 257442"/>
                <a:gd name="connsiteX2" fmla="*/ 0 w 1542310"/>
                <a:gd name="connsiteY2" fmla="*/ 257442 h 257442"/>
                <a:gd name="connsiteX3" fmla="*/ 1 w 1542310"/>
                <a:gd name="connsiteY3" fmla="*/ 0 h 257442"/>
                <a:gd name="connsiteX0" fmla="*/ 1542310 w 1542310"/>
                <a:gd name="connsiteY0" fmla="*/ 0 h 257442"/>
                <a:gd name="connsiteX1" fmla="*/ 1487588 w 1542310"/>
                <a:gd name="connsiteY1" fmla="*/ 257442 h 257442"/>
                <a:gd name="connsiteX2" fmla="*/ 0 w 1542310"/>
                <a:gd name="connsiteY2" fmla="*/ 257442 h 257442"/>
                <a:gd name="connsiteX3" fmla="*/ 0 w 1542310"/>
                <a:gd name="connsiteY3" fmla="*/ 0 h 257442"/>
                <a:gd name="connsiteX0" fmla="*/ 1710625 w 1710625"/>
                <a:gd name="connsiteY0" fmla="*/ 0 h 257442"/>
                <a:gd name="connsiteX1" fmla="*/ 1487588 w 1710625"/>
                <a:gd name="connsiteY1" fmla="*/ 257442 h 257442"/>
                <a:gd name="connsiteX2" fmla="*/ 0 w 1710625"/>
                <a:gd name="connsiteY2" fmla="*/ 257442 h 257442"/>
                <a:gd name="connsiteX3" fmla="*/ 0 w 1710625"/>
                <a:gd name="connsiteY3" fmla="*/ 0 h 257442"/>
                <a:gd name="connsiteX0" fmla="*/ 1710625 w 1710625"/>
                <a:gd name="connsiteY0" fmla="*/ 0 h 257442"/>
                <a:gd name="connsiteX1" fmla="*/ 1655904 w 1710625"/>
                <a:gd name="connsiteY1" fmla="*/ 257442 h 257442"/>
                <a:gd name="connsiteX2" fmla="*/ 0 w 1710625"/>
                <a:gd name="connsiteY2" fmla="*/ 257442 h 257442"/>
                <a:gd name="connsiteX3" fmla="*/ 0 w 1710625"/>
                <a:gd name="connsiteY3" fmla="*/ 0 h 257442"/>
                <a:gd name="connsiteX0" fmla="*/ 1710625 w 1710625"/>
                <a:gd name="connsiteY0" fmla="*/ 0 h 257442"/>
                <a:gd name="connsiteX1" fmla="*/ 1655904 w 1710625"/>
                <a:gd name="connsiteY1" fmla="*/ 257442 h 257442"/>
                <a:gd name="connsiteX2" fmla="*/ 0 w 1710625"/>
                <a:gd name="connsiteY2" fmla="*/ 257442 h 257442"/>
                <a:gd name="connsiteX3" fmla="*/ 0 w 1710625"/>
                <a:gd name="connsiteY3" fmla="*/ 0 h 257442"/>
                <a:gd name="connsiteX0" fmla="*/ 1710625 w 1710625"/>
                <a:gd name="connsiteY0" fmla="*/ 0 h 257442"/>
                <a:gd name="connsiteX1" fmla="*/ 1655904 w 1710625"/>
                <a:gd name="connsiteY1" fmla="*/ 257442 h 257442"/>
                <a:gd name="connsiteX2" fmla="*/ 0 w 1710625"/>
                <a:gd name="connsiteY2" fmla="*/ 257442 h 257442"/>
                <a:gd name="connsiteX3" fmla="*/ 0 w 1710625"/>
                <a:gd name="connsiteY3" fmla="*/ 0 h 257442"/>
                <a:gd name="connsiteX0" fmla="*/ 1878939 w 1878939"/>
                <a:gd name="connsiteY0" fmla="*/ 0 h 257442"/>
                <a:gd name="connsiteX1" fmla="*/ 1655904 w 1878939"/>
                <a:gd name="connsiteY1" fmla="*/ 257442 h 257442"/>
                <a:gd name="connsiteX2" fmla="*/ 0 w 1878939"/>
                <a:gd name="connsiteY2" fmla="*/ 257442 h 257442"/>
                <a:gd name="connsiteX3" fmla="*/ 0 w 1878939"/>
                <a:gd name="connsiteY3" fmla="*/ 0 h 257442"/>
                <a:gd name="connsiteX0" fmla="*/ 1878939 w 1878939"/>
                <a:gd name="connsiteY0" fmla="*/ 0 h 257442"/>
                <a:gd name="connsiteX1" fmla="*/ 1824218 w 1878939"/>
                <a:gd name="connsiteY1" fmla="*/ 257442 h 257442"/>
                <a:gd name="connsiteX2" fmla="*/ 0 w 1878939"/>
                <a:gd name="connsiteY2" fmla="*/ 257442 h 257442"/>
                <a:gd name="connsiteX3" fmla="*/ 0 w 1878939"/>
                <a:gd name="connsiteY3" fmla="*/ 0 h 257442"/>
                <a:gd name="connsiteX0" fmla="*/ 1878939 w 1878939"/>
                <a:gd name="connsiteY0" fmla="*/ 0 h 257442"/>
                <a:gd name="connsiteX1" fmla="*/ 1824218 w 1878939"/>
                <a:gd name="connsiteY1" fmla="*/ 257442 h 257442"/>
                <a:gd name="connsiteX2" fmla="*/ 0 w 1878939"/>
                <a:gd name="connsiteY2" fmla="*/ 257442 h 257442"/>
                <a:gd name="connsiteX3" fmla="*/ 0 w 1878939"/>
                <a:gd name="connsiteY3" fmla="*/ 0 h 257442"/>
                <a:gd name="connsiteX0" fmla="*/ 1878939 w 1878939"/>
                <a:gd name="connsiteY0" fmla="*/ 0 h 257442"/>
                <a:gd name="connsiteX1" fmla="*/ 1824218 w 1878939"/>
                <a:gd name="connsiteY1" fmla="*/ 257442 h 257442"/>
                <a:gd name="connsiteX2" fmla="*/ 0 w 1878939"/>
                <a:gd name="connsiteY2" fmla="*/ 257442 h 257442"/>
                <a:gd name="connsiteX3" fmla="*/ 0 w 1878939"/>
                <a:gd name="connsiteY3" fmla="*/ 0 h 257442"/>
                <a:gd name="connsiteX0" fmla="*/ 2148244 w 2148244"/>
                <a:gd name="connsiteY0" fmla="*/ 0 h 257442"/>
                <a:gd name="connsiteX1" fmla="*/ 1824218 w 2148244"/>
                <a:gd name="connsiteY1" fmla="*/ 257442 h 257442"/>
                <a:gd name="connsiteX2" fmla="*/ 0 w 2148244"/>
                <a:gd name="connsiteY2" fmla="*/ 257442 h 257442"/>
                <a:gd name="connsiteX3" fmla="*/ 0 w 2148244"/>
                <a:gd name="connsiteY3" fmla="*/ 0 h 257442"/>
                <a:gd name="connsiteX0" fmla="*/ 2148244 w 2148244"/>
                <a:gd name="connsiteY0" fmla="*/ 0 h 257442"/>
                <a:gd name="connsiteX1" fmla="*/ 2093522 w 2148244"/>
                <a:gd name="connsiteY1" fmla="*/ 257442 h 257442"/>
                <a:gd name="connsiteX2" fmla="*/ 0 w 2148244"/>
                <a:gd name="connsiteY2" fmla="*/ 257442 h 257442"/>
                <a:gd name="connsiteX3" fmla="*/ 0 w 2148244"/>
                <a:gd name="connsiteY3" fmla="*/ 0 h 257442"/>
                <a:gd name="connsiteX0" fmla="*/ 2148245 w 2148245"/>
                <a:gd name="connsiteY0" fmla="*/ 0 h 257442"/>
                <a:gd name="connsiteX1" fmla="*/ 2093523 w 2148245"/>
                <a:gd name="connsiteY1" fmla="*/ 257442 h 257442"/>
                <a:gd name="connsiteX2" fmla="*/ 0 w 2148245"/>
                <a:gd name="connsiteY2" fmla="*/ 257442 h 257442"/>
                <a:gd name="connsiteX3" fmla="*/ 1 w 2148245"/>
                <a:gd name="connsiteY3" fmla="*/ 0 h 257442"/>
                <a:gd name="connsiteX0" fmla="*/ 2148245 w 2148245"/>
                <a:gd name="connsiteY0" fmla="*/ 0 h 257442"/>
                <a:gd name="connsiteX1" fmla="*/ 2093523 w 2148245"/>
                <a:gd name="connsiteY1" fmla="*/ 257442 h 257442"/>
                <a:gd name="connsiteX2" fmla="*/ 0 w 2148245"/>
                <a:gd name="connsiteY2" fmla="*/ 257442 h 257442"/>
                <a:gd name="connsiteX3" fmla="*/ 1 w 2148245"/>
                <a:gd name="connsiteY3" fmla="*/ 0 h 257442"/>
                <a:gd name="connsiteX0" fmla="*/ 2326179 w 2326179"/>
                <a:gd name="connsiteY0" fmla="*/ 0 h 257442"/>
                <a:gd name="connsiteX1" fmla="*/ 2093523 w 2326179"/>
                <a:gd name="connsiteY1" fmla="*/ 257442 h 257442"/>
                <a:gd name="connsiteX2" fmla="*/ 0 w 2326179"/>
                <a:gd name="connsiteY2" fmla="*/ 257442 h 257442"/>
                <a:gd name="connsiteX3" fmla="*/ 1 w 2326179"/>
                <a:gd name="connsiteY3" fmla="*/ 0 h 257442"/>
                <a:gd name="connsiteX0" fmla="*/ 2326179 w 2326179"/>
                <a:gd name="connsiteY0" fmla="*/ 0 h 257442"/>
                <a:gd name="connsiteX1" fmla="*/ 2271458 w 2326179"/>
                <a:gd name="connsiteY1" fmla="*/ 257442 h 257442"/>
                <a:gd name="connsiteX2" fmla="*/ 0 w 2326179"/>
                <a:gd name="connsiteY2" fmla="*/ 257442 h 257442"/>
                <a:gd name="connsiteX3" fmla="*/ 1 w 2326179"/>
                <a:gd name="connsiteY3" fmla="*/ 0 h 257442"/>
                <a:gd name="connsiteX0" fmla="*/ 2326178 w 2326178"/>
                <a:gd name="connsiteY0" fmla="*/ 0 h 257442"/>
                <a:gd name="connsiteX1" fmla="*/ 2271457 w 2326178"/>
                <a:gd name="connsiteY1" fmla="*/ 257442 h 257442"/>
                <a:gd name="connsiteX2" fmla="*/ 0 w 2326178"/>
                <a:gd name="connsiteY2" fmla="*/ 257442 h 257442"/>
                <a:gd name="connsiteX3" fmla="*/ 0 w 2326178"/>
                <a:gd name="connsiteY3" fmla="*/ 0 h 257442"/>
                <a:gd name="connsiteX0" fmla="*/ 2326179 w 2326179"/>
                <a:gd name="connsiteY0" fmla="*/ 0 h 257442"/>
                <a:gd name="connsiteX1" fmla="*/ 2271458 w 2326179"/>
                <a:gd name="connsiteY1" fmla="*/ 257442 h 257442"/>
                <a:gd name="connsiteX2" fmla="*/ 1 w 2326179"/>
                <a:gd name="connsiteY2" fmla="*/ 257442 h 257442"/>
                <a:gd name="connsiteX3" fmla="*/ 0 w 2326179"/>
                <a:gd name="connsiteY3" fmla="*/ 0 h 2574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26179" h="257442">
                  <a:moveTo>
                    <a:pt x="2326179" y="0"/>
                  </a:moveTo>
                  <a:lnTo>
                    <a:pt x="2271458" y="257442"/>
                  </a:lnTo>
                  <a:lnTo>
                    <a:pt x="1" y="2574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C5C5C"/>
            </a:solidFill>
            <a:ln w="9525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20" name="btfpRunningAgenda1LevelTextLeft331797">
              <a:extLst>
                <a:ext uri="{FF2B5EF4-FFF2-40B4-BE49-F238E27FC236}">
                  <a16:creationId xmlns:a16="http://schemas.microsoft.com/office/drawing/2014/main" id="{8C82075E-FF6C-C344-C830-D449EEC72B2F}"/>
                </a:ext>
              </a:extLst>
            </p:cNvPr>
            <p:cNvSpPr txBox="1"/>
            <p:nvPr/>
          </p:nvSpPr>
          <p:spPr bwMode="gray">
            <a:xfrm>
              <a:off x="0" y="876300"/>
              <a:ext cx="2372445" cy="257442"/>
            </a:xfrm>
            <a:prstGeom prst="rect">
              <a:avLst/>
            </a:prstGeom>
            <a:noFill/>
          </p:spPr>
          <p:txBody>
            <a:bodyPr vert="horz" wrap="none" lIns="360363" tIns="36036" rIns="360363" bIns="36036" rtlCol="0" anchor="t">
              <a:spAutoFit/>
            </a:bodyPr>
            <a:lstStyle/>
            <a:p>
              <a:pPr marL="0" indent="0">
                <a:spcBef>
                  <a:spcPts val="0"/>
                </a:spcBef>
                <a:buNone/>
              </a:pPr>
              <a:r>
                <a:rPr lang="en-US" sz="1200" b="1" cap="all" spc="450" dirty="0">
                  <a:solidFill>
                    <a:srgbClr val="FFFFFF"/>
                  </a:solidFill>
                </a:rPr>
                <a:t>BIOTECH CO.</a:t>
              </a:r>
            </a:p>
          </p:txBody>
        </p:sp>
      </p:grpSp>
      <p:grpSp>
        <p:nvGrpSpPr>
          <p:cNvPr id="38" name="btfpIcon256912">
            <a:extLst>
              <a:ext uri="{FF2B5EF4-FFF2-40B4-BE49-F238E27FC236}">
                <a16:creationId xmlns:a16="http://schemas.microsoft.com/office/drawing/2014/main" id="{5EABC1D3-0F78-D4D6-880A-F9D6C220754D}"/>
              </a:ext>
            </a:extLst>
          </p:cNvPr>
          <p:cNvGrpSpPr>
            <a:grpSpLocks noChangeAspect="1"/>
          </p:cNvGrpSpPr>
          <p:nvPr>
            <p:custDataLst>
              <p:tags r:id="rId7"/>
            </p:custDataLst>
          </p:nvPr>
        </p:nvGrpSpPr>
        <p:grpSpPr>
          <a:xfrm>
            <a:off x="370969" y="2187790"/>
            <a:ext cx="637609" cy="637609"/>
            <a:chOff x="330200" y="1270000"/>
            <a:chExt cx="1081088" cy="1081088"/>
          </a:xfrm>
        </p:grpSpPr>
        <p:sp>
          <p:nvSpPr>
            <p:cNvPr id="37" name="btfpIconCircle256912">
              <a:extLst>
                <a:ext uri="{FF2B5EF4-FFF2-40B4-BE49-F238E27FC236}">
                  <a16:creationId xmlns:a16="http://schemas.microsoft.com/office/drawing/2014/main" id="{F008FB69-8E5C-F5C4-8A95-F8E2192F2C66}"/>
                </a:ext>
              </a:extLst>
            </p:cNvPr>
            <p:cNvSpPr>
              <a:spLocks/>
            </p:cNvSpPr>
            <p:nvPr/>
          </p:nvSpPr>
          <p:spPr bwMode="gray">
            <a:xfrm>
              <a:off x="330200" y="1270000"/>
              <a:ext cx="1081088" cy="1081088"/>
            </a:xfrm>
            <a:prstGeom prst="ellipse">
              <a:avLst/>
            </a:prstGeom>
            <a:solidFill>
              <a:srgbClr val="5C5C5C"/>
            </a:solidFill>
            <a:ln w="9525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pic>
          <p:nvPicPr>
            <p:cNvPr id="36" name="btfpIconLines256912">
              <a:extLst>
                <a:ext uri="{FF2B5EF4-FFF2-40B4-BE49-F238E27FC236}">
                  <a16:creationId xmlns:a16="http://schemas.microsoft.com/office/drawing/2014/main" id="{DC0E00BB-6F5C-BDF6-151F-C6B449D21FA4}"/>
                </a:ext>
              </a:extLst>
            </p:cNvPr>
            <p:cNvPicPr>
              <a:picLocks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330200" y="1270000"/>
              <a:ext cx="1081088" cy="1081088"/>
            </a:xfrm>
            <a:prstGeom prst="rect">
              <a:avLst/>
            </a:prstGeom>
          </p:spPr>
        </p:pic>
      </p:grpSp>
    </p:spTree>
    <p:custDataLst>
      <p:tags r:id="rId1"/>
    </p:custDataLst>
    <p:extLst>
      <p:ext uri="{BB962C8B-B14F-4D97-AF65-F5344CB8AC3E}">
        <p14:creationId xmlns:p14="http://schemas.microsoft.com/office/powerpoint/2010/main" val="16327617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btfpColumnIndicatorGroup2">
            <a:extLst>
              <a:ext uri="{FF2B5EF4-FFF2-40B4-BE49-F238E27FC236}">
                <a16:creationId xmlns:a16="http://schemas.microsoft.com/office/drawing/2014/main" id="{AB002B62-39FB-9A76-69F8-6157ECB8022C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10" name="btfpColumnGapBlocker841672">
              <a:extLst>
                <a:ext uri="{FF2B5EF4-FFF2-40B4-BE49-F238E27FC236}">
                  <a16:creationId xmlns:a16="http://schemas.microsoft.com/office/drawing/2014/main" id="{A4C7866C-EE31-5418-92C3-500CDF3A2080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8" name="btfpColumnGapBlocker111516">
              <a:extLst>
                <a:ext uri="{FF2B5EF4-FFF2-40B4-BE49-F238E27FC236}">
                  <a16:creationId xmlns:a16="http://schemas.microsoft.com/office/drawing/2014/main" id="{2B1AAEC2-DD54-8742-174A-9250BFF3A987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6" name="btfpColumnIndicator219877">
              <a:extLst>
                <a:ext uri="{FF2B5EF4-FFF2-40B4-BE49-F238E27FC236}">
                  <a16:creationId xmlns:a16="http://schemas.microsoft.com/office/drawing/2014/main" id="{4D24C01C-B20E-C89F-4E2A-805CCE253387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btfpColumnIndicator545272">
              <a:extLst>
                <a:ext uri="{FF2B5EF4-FFF2-40B4-BE49-F238E27FC236}">
                  <a16:creationId xmlns:a16="http://schemas.microsoft.com/office/drawing/2014/main" id="{82A36CD4-31F6-5E94-B92C-1DBB4794020D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btfpColumnIndicatorGroup1">
            <a:extLst>
              <a:ext uri="{FF2B5EF4-FFF2-40B4-BE49-F238E27FC236}">
                <a16:creationId xmlns:a16="http://schemas.microsoft.com/office/drawing/2014/main" id="{1B7FAA99-BD96-DF06-6959-68336DEE155B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9" name="btfpColumnGapBlocker350552">
              <a:extLst>
                <a:ext uri="{FF2B5EF4-FFF2-40B4-BE49-F238E27FC236}">
                  <a16:creationId xmlns:a16="http://schemas.microsoft.com/office/drawing/2014/main" id="{7BEE5AF9-8097-145D-C2E1-4F01F4FA07A0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7" name="btfpColumnGapBlocker886202">
              <a:extLst>
                <a:ext uri="{FF2B5EF4-FFF2-40B4-BE49-F238E27FC236}">
                  <a16:creationId xmlns:a16="http://schemas.microsoft.com/office/drawing/2014/main" id="{4461405A-F891-F266-919F-6C5F3968B51C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5" name="btfpColumnIndicator826577">
              <a:extLst>
                <a:ext uri="{FF2B5EF4-FFF2-40B4-BE49-F238E27FC236}">
                  <a16:creationId xmlns:a16="http://schemas.microsoft.com/office/drawing/2014/main" id="{7724EE0E-1589-7933-3119-6A6717A23A6E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btfpColumnIndicator470634">
              <a:extLst>
                <a:ext uri="{FF2B5EF4-FFF2-40B4-BE49-F238E27FC236}">
                  <a16:creationId xmlns:a16="http://schemas.microsoft.com/office/drawing/2014/main" id="{FE461588-A215-DE79-02BA-EA491EB3010F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E93FE3E-0061-711E-DAF2-AE9EDBC61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&lt;one more customer case study to be added&gt;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16815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D97A2-0D65-3F74-D695-705AF340F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btfpColumnIndicatorGroup2">
            <a:extLst>
              <a:ext uri="{FF2B5EF4-FFF2-40B4-BE49-F238E27FC236}">
                <a16:creationId xmlns:a16="http://schemas.microsoft.com/office/drawing/2014/main" id="{C001EE95-9FC3-93B8-68A6-9D6AA0CB456C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55" name="btfpColumnGapBlocker736276">
              <a:extLst>
                <a:ext uri="{FF2B5EF4-FFF2-40B4-BE49-F238E27FC236}">
                  <a16:creationId xmlns:a16="http://schemas.microsoft.com/office/drawing/2014/main" id="{4AC38564-ED57-21F9-3E4B-E0D0994FD7A3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53" name="btfpColumnGapBlocker246117">
              <a:extLst>
                <a:ext uri="{FF2B5EF4-FFF2-40B4-BE49-F238E27FC236}">
                  <a16:creationId xmlns:a16="http://schemas.microsoft.com/office/drawing/2014/main" id="{D7C43900-D2F3-443C-DFC9-297ED0BA4D25}"/>
                </a:ext>
              </a:extLst>
            </p:cNvPr>
            <p:cNvSpPr/>
            <p:nvPr/>
          </p:nvSpPr>
          <p:spPr bwMode="gray">
            <a:xfrm>
              <a:off x="5825728" y="692658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51" name="btfpColumnIndicator547864">
              <a:extLst>
                <a:ext uri="{FF2B5EF4-FFF2-40B4-BE49-F238E27FC236}">
                  <a16:creationId xmlns:a16="http://schemas.microsoft.com/office/drawing/2014/main" id="{174A0BEA-17D5-16B1-6805-EA42C0F9E5CC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btfpColumnIndicator233762">
              <a:extLst>
                <a:ext uri="{FF2B5EF4-FFF2-40B4-BE49-F238E27FC236}">
                  <a16:creationId xmlns:a16="http://schemas.microsoft.com/office/drawing/2014/main" id="{D7CE3BA9-D467-8BC7-13E1-4CB1DD460213}"/>
                </a:ext>
              </a:extLst>
            </p:cNvPr>
            <p:cNvCxnSpPr/>
            <p:nvPr/>
          </p:nvCxnSpPr>
          <p:spPr bwMode="gray">
            <a:xfrm flipV="1">
              <a:off x="6366272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btfpColumnGapBlocker532981">
              <a:extLst>
                <a:ext uri="{FF2B5EF4-FFF2-40B4-BE49-F238E27FC236}">
                  <a16:creationId xmlns:a16="http://schemas.microsoft.com/office/drawing/2014/main" id="{3C6512E4-125E-26C5-E816-698B19F0800E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45" name="btfpColumnIndicator122705">
              <a:extLst>
                <a:ext uri="{FF2B5EF4-FFF2-40B4-BE49-F238E27FC236}">
                  <a16:creationId xmlns:a16="http://schemas.microsoft.com/office/drawing/2014/main" id="{3B1C86FB-FE67-924B-B942-D6D5A929BA03}"/>
                </a:ext>
              </a:extLst>
            </p:cNvPr>
            <p:cNvCxnSpPr/>
            <p:nvPr/>
          </p:nvCxnSpPr>
          <p:spPr bwMode="gray">
            <a:xfrm flipV="1">
              <a:off x="5825728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btfpColumnIndicator936837">
              <a:extLst>
                <a:ext uri="{FF2B5EF4-FFF2-40B4-BE49-F238E27FC236}">
                  <a16:creationId xmlns:a16="http://schemas.microsoft.com/office/drawing/2014/main" id="{FB15C084-E85F-39A3-D77A-56AC310141E7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btfpColumnIndicatorGroup1">
            <a:extLst>
              <a:ext uri="{FF2B5EF4-FFF2-40B4-BE49-F238E27FC236}">
                <a16:creationId xmlns:a16="http://schemas.microsoft.com/office/drawing/2014/main" id="{6D17038A-4918-F7CC-4B54-098AF3E731BD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54" name="btfpColumnGapBlocker647102">
              <a:extLst>
                <a:ext uri="{FF2B5EF4-FFF2-40B4-BE49-F238E27FC236}">
                  <a16:creationId xmlns:a16="http://schemas.microsoft.com/office/drawing/2014/main" id="{2B1DD1E2-B3F5-D86D-A026-23D47806F873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52" name="btfpColumnGapBlocker802093">
              <a:extLst>
                <a:ext uri="{FF2B5EF4-FFF2-40B4-BE49-F238E27FC236}">
                  <a16:creationId xmlns:a16="http://schemas.microsoft.com/office/drawing/2014/main" id="{56A0C56C-FA1C-E867-FBAB-FC0829B506F5}"/>
                </a:ext>
              </a:extLst>
            </p:cNvPr>
            <p:cNvSpPr/>
            <p:nvPr/>
          </p:nvSpPr>
          <p:spPr bwMode="gray">
            <a:xfrm>
              <a:off x="5825728" y="-20574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50" name="btfpColumnIndicator458625">
              <a:extLst>
                <a:ext uri="{FF2B5EF4-FFF2-40B4-BE49-F238E27FC236}">
                  <a16:creationId xmlns:a16="http://schemas.microsoft.com/office/drawing/2014/main" id="{75472496-91F6-2E6B-BB44-C76E99C95AD0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btfpColumnIndicator817810">
              <a:extLst>
                <a:ext uri="{FF2B5EF4-FFF2-40B4-BE49-F238E27FC236}">
                  <a16:creationId xmlns:a16="http://schemas.microsoft.com/office/drawing/2014/main" id="{AF3C1168-D2BF-8246-439F-29497A721D66}"/>
                </a:ext>
              </a:extLst>
            </p:cNvPr>
            <p:cNvCxnSpPr/>
            <p:nvPr/>
          </p:nvCxnSpPr>
          <p:spPr bwMode="gray">
            <a:xfrm flipV="1">
              <a:off x="6366272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btfpColumnGapBlocker527450">
              <a:extLst>
                <a:ext uri="{FF2B5EF4-FFF2-40B4-BE49-F238E27FC236}">
                  <a16:creationId xmlns:a16="http://schemas.microsoft.com/office/drawing/2014/main" id="{4CDE0D6C-CC5B-EDED-3FF8-37A66E2DB207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44" name="btfpColumnIndicator787629">
              <a:extLst>
                <a:ext uri="{FF2B5EF4-FFF2-40B4-BE49-F238E27FC236}">
                  <a16:creationId xmlns:a16="http://schemas.microsoft.com/office/drawing/2014/main" id="{CE066CC0-7137-5F75-5821-D8FF09900269}"/>
                </a:ext>
              </a:extLst>
            </p:cNvPr>
            <p:cNvCxnSpPr/>
            <p:nvPr/>
          </p:nvCxnSpPr>
          <p:spPr bwMode="gray">
            <a:xfrm flipV="1">
              <a:off x="5825728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btfpColumnIndicator668217">
              <a:extLst>
                <a:ext uri="{FF2B5EF4-FFF2-40B4-BE49-F238E27FC236}">
                  <a16:creationId xmlns:a16="http://schemas.microsoft.com/office/drawing/2014/main" id="{25DC183F-DE6B-FB4C-B872-F42C5974F218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5" name="think-cell data - do not delete" hidden="1">
            <a:extLst>
              <a:ext uri="{FF2B5EF4-FFF2-40B4-BE49-F238E27FC236}">
                <a16:creationId xmlns:a16="http://schemas.microsoft.com/office/drawing/2014/main" id="{59F4AFF2-DE4E-5668-6031-32BC9520C8A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606" imgH="608" progId="TCLayout.ActiveDocument.1">
                  <p:embed/>
                </p:oleObj>
              </mc:Choice>
              <mc:Fallback>
                <p:oleObj name="think-cell Slide" r:id="rId8" imgW="606" imgH="608" progId="TCLayout.ActiveDocument.1">
                  <p:embed/>
                  <p:pic>
                    <p:nvPicPr>
                      <p:cNvPr id="1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9F4AFF2-DE4E-5668-6031-32BC9520C8A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E2377BC5-06A9-7E6F-7DEE-486E960E3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b="1"/>
              <a:t>GTM strategy:</a:t>
            </a:r>
            <a:r>
              <a:rPr lang="en-US"/>
              <a:t> GTM roadmap for effective Pharma launch should encompass 2 dimensions – defining the right marketing strategy and optimum team &amp; sales motion </a:t>
            </a:r>
          </a:p>
        </p:txBody>
      </p:sp>
      <p:sp>
        <p:nvSpPr>
          <p:cNvPr id="26" name="btfpNumberBubble191893">
            <a:extLst>
              <a:ext uri="{FF2B5EF4-FFF2-40B4-BE49-F238E27FC236}">
                <a16:creationId xmlns:a16="http://schemas.microsoft.com/office/drawing/2014/main" id="{E51D4523-4A75-5643-D23F-A3921336354F}"/>
              </a:ext>
            </a:extLst>
          </p:cNvPr>
          <p:cNvSpPr/>
          <p:nvPr/>
        </p:nvSpPr>
        <p:spPr bwMode="gray">
          <a:xfrm>
            <a:off x="200083" y="4445671"/>
            <a:ext cx="384175" cy="38417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b="1">
                <a:solidFill>
                  <a:srgbClr val="CC0000"/>
                </a:solidFill>
              </a:rPr>
              <a:t>A</a:t>
            </a:r>
          </a:p>
        </p:txBody>
      </p:sp>
      <p:sp>
        <p:nvSpPr>
          <p:cNvPr id="27" name="btfpNumberBubble191893">
            <a:extLst>
              <a:ext uri="{FF2B5EF4-FFF2-40B4-BE49-F238E27FC236}">
                <a16:creationId xmlns:a16="http://schemas.microsoft.com/office/drawing/2014/main" id="{8394F02E-4062-B6EC-DCA3-DF4541997E2A}"/>
              </a:ext>
            </a:extLst>
          </p:cNvPr>
          <p:cNvSpPr/>
          <p:nvPr/>
        </p:nvSpPr>
        <p:spPr bwMode="gray">
          <a:xfrm>
            <a:off x="6248284" y="4445671"/>
            <a:ext cx="384175" cy="38417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b="1">
                <a:solidFill>
                  <a:srgbClr val="CC0000"/>
                </a:solidFill>
              </a:rPr>
              <a:t>B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8E06174-CE1E-D459-50B9-0007A4F91156}"/>
              </a:ext>
            </a:extLst>
          </p:cNvPr>
          <p:cNvCxnSpPr>
            <a:cxnSpLocks/>
          </p:cNvCxnSpPr>
          <p:nvPr/>
        </p:nvCxnSpPr>
        <p:spPr bwMode="gray">
          <a:xfrm>
            <a:off x="5980763" y="1488260"/>
            <a:ext cx="0" cy="4757755"/>
          </a:xfrm>
          <a:prstGeom prst="line">
            <a:avLst/>
          </a:prstGeom>
          <a:ln w="9525" cap="flat">
            <a:solidFill>
              <a:schemeClr val="tx1"/>
            </a:solidFill>
            <a:prstDash val="dash"/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87FEDD43-D417-0CE0-E4E9-05776B6A32B7}"/>
              </a:ext>
            </a:extLst>
          </p:cNvPr>
          <p:cNvSpPr/>
          <p:nvPr/>
        </p:nvSpPr>
        <p:spPr bwMode="gray">
          <a:xfrm>
            <a:off x="330199" y="5017099"/>
            <a:ext cx="5265251" cy="904656"/>
          </a:xfrm>
          <a:prstGeom prst="rect">
            <a:avLst/>
          </a:prstGeom>
          <a:solidFill>
            <a:schemeClr val="bg1"/>
          </a:solidFill>
          <a:ln w="2857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r>
              <a:rPr lang="en-US" i="1">
                <a:solidFill>
                  <a:schemeClr val="tx1"/>
                </a:solidFill>
              </a:rPr>
              <a:t>Build awareness and credibility with Pharma customers through targeted positioning, thought leadership, conference participation, and ecosystem partnerships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9E669C8-1361-C80F-1262-58DAD66936F8}"/>
              </a:ext>
            </a:extLst>
          </p:cNvPr>
          <p:cNvSpPr/>
          <p:nvPr/>
        </p:nvSpPr>
        <p:spPr bwMode="gray">
          <a:xfrm>
            <a:off x="6340676" y="5017099"/>
            <a:ext cx="5265251" cy="904656"/>
          </a:xfrm>
          <a:prstGeom prst="rect">
            <a:avLst/>
          </a:prstGeom>
          <a:solidFill>
            <a:schemeClr val="bg1"/>
          </a:solidFill>
          <a:ln w="2857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r>
              <a:rPr lang="en-US" i="1">
                <a:solidFill>
                  <a:schemeClr val="tx1"/>
                </a:solidFill>
              </a:rPr>
              <a:t>Establish a dedicated vertical-led sales engine combining industry leadership, domain expertise, and focused hunter-driven account acquisition</a:t>
            </a:r>
          </a:p>
        </p:txBody>
      </p:sp>
      <p:grpSp>
        <p:nvGrpSpPr>
          <p:cNvPr id="31" name="btfpColumnHeaderBox967425">
            <a:extLst>
              <a:ext uri="{FF2B5EF4-FFF2-40B4-BE49-F238E27FC236}">
                <a16:creationId xmlns:a16="http://schemas.microsoft.com/office/drawing/2014/main" id="{3DF72DA7-8A65-7975-D254-0DCA876CEA84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660400" y="4415164"/>
            <a:ext cx="4860722" cy="383636"/>
            <a:chOff x="330200" y="1205361"/>
            <a:chExt cx="11531600" cy="383636"/>
          </a:xfrm>
        </p:grpSpPr>
        <p:sp>
          <p:nvSpPr>
            <p:cNvPr id="29" name="btfpColumnHeaderBoxText967425">
              <a:extLst>
                <a:ext uri="{FF2B5EF4-FFF2-40B4-BE49-F238E27FC236}">
                  <a16:creationId xmlns:a16="http://schemas.microsoft.com/office/drawing/2014/main" id="{92077BBC-DB20-5269-5582-DF5C6A1E8804}"/>
                </a:ext>
              </a:extLst>
            </p:cNvPr>
            <p:cNvSpPr txBox="1"/>
            <p:nvPr/>
          </p:nvSpPr>
          <p:spPr bwMode="gray">
            <a:xfrm>
              <a:off x="330200" y="1205361"/>
              <a:ext cx="11531600" cy="380552"/>
            </a:xfrm>
            <a:prstGeom prst="rect">
              <a:avLst/>
            </a:prstGeom>
            <a:noFill/>
          </p:spPr>
          <p:txBody>
            <a:bodyPr vert="horz" wrap="square" lIns="36036" tIns="36036" rIns="36036" bIns="36036" rtlCol="0" anchor="b">
              <a:spAutoFit/>
            </a:bodyPr>
            <a:lstStyle/>
            <a:p>
              <a:pPr marL="0" indent="0">
                <a:spcBef>
                  <a:spcPts val="0"/>
                </a:spcBef>
                <a:buNone/>
              </a:pPr>
              <a:r>
                <a:rPr lang="en-US" sz="2000" b="1">
                  <a:solidFill>
                    <a:srgbClr val="000000"/>
                  </a:solidFill>
                </a:rPr>
                <a:t>Market Activation and Marketing </a:t>
              </a:r>
            </a:p>
          </p:txBody>
        </p:sp>
        <p:cxnSp>
          <p:nvCxnSpPr>
            <p:cNvPr id="30" name="btfpColumnHeaderBoxLine967425">
              <a:extLst>
                <a:ext uri="{FF2B5EF4-FFF2-40B4-BE49-F238E27FC236}">
                  <a16:creationId xmlns:a16="http://schemas.microsoft.com/office/drawing/2014/main" id="{D93EBBEE-B622-ED30-B308-9FC711B71494}"/>
                </a:ext>
              </a:extLst>
            </p:cNvPr>
            <p:cNvCxnSpPr/>
            <p:nvPr/>
          </p:nvCxnSpPr>
          <p:spPr bwMode="gray">
            <a:xfrm>
              <a:off x="330200" y="1588997"/>
              <a:ext cx="11531600" cy="0"/>
            </a:xfrm>
            <a:prstGeom prst="line">
              <a:avLst/>
            </a:prstGeom>
            <a:ln w="9525" cap="flat">
              <a:solidFill>
                <a:srgbClr val="C00000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btfpColumnHeaderBox967425">
            <a:extLst>
              <a:ext uri="{FF2B5EF4-FFF2-40B4-BE49-F238E27FC236}">
                <a16:creationId xmlns:a16="http://schemas.microsoft.com/office/drawing/2014/main" id="{ACD30E7B-A1F2-C13E-83C9-F89B13AFA548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6670877" y="4432956"/>
            <a:ext cx="4860722" cy="383636"/>
            <a:chOff x="330200" y="1205361"/>
            <a:chExt cx="11531600" cy="383636"/>
          </a:xfrm>
        </p:grpSpPr>
        <p:sp>
          <p:nvSpPr>
            <p:cNvPr id="33" name="btfpColumnHeaderBoxText967425">
              <a:extLst>
                <a:ext uri="{FF2B5EF4-FFF2-40B4-BE49-F238E27FC236}">
                  <a16:creationId xmlns:a16="http://schemas.microsoft.com/office/drawing/2014/main" id="{C3F2C04D-693C-F841-CB45-73900244C398}"/>
                </a:ext>
              </a:extLst>
            </p:cNvPr>
            <p:cNvSpPr txBox="1"/>
            <p:nvPr/>
          </p:nvSpPr>
          <p:spPr bwMode="gray">
            <a:xfrm>
              <a:off x="330200" y="1205361"/>
              <a:ext cx="11531600" cy="380552"/>
            </a:xfrm>
            <a:prstGeom prst="rect">
              <a:avLst/>
            </a:prstGeom>
            <a:noFill/>
          </p:spPr>
          <p:txBody>
            <a:bodyPr vert="horz" wrap="square" lIns="36036" tIns="36036" rIns="36036" bIns="36036" rtlCol="0" anchor="b">
              <a:spAutoFit/>
            </a:bodyPr>
            <a:lstStyle/>
            <a:p>
              <a:pPr marL="0" indent="0">
                <a:spcBef>
                  <a:spcPts val="0"/>
                </a:spcBef>
                <a:buNone/>
              </a:pPr>
              <a:r>
                <a:rPr lang="en-US" sz="2000" b="1">
                  <a:solidFill>
                    <a:srgbClr val="000000"/>
                  </a:solidFill>
                </a:rPr>
                <a:t>GTM Team and Sales Motion </a:t>
              </a:r>
            </a:p>
          </p:txBody>
        </p:sp>
        <p:cxnSp>
          <p:nvCxnSpPr>
            <p:cNvPr id="34" name="btfpColumnHeaderBoxLine967425">
              <a:extLst>
                <a:ext uri="{FF2B5EF4-FFF2-40B4-BE49-F238E27FC236}">
                  <a16:creationId xmlns:a16="http://schemas.microsoft.com/office/drawing/2014/main" id="{3DAB2387-66B5-DC3C-8BF7-061C44A445C1}"/>
                </a:ext>
              </a:extLst>
            </p:cNvPr>
            <p:cNvCxnSpPr/>
            <p:nvPr/>
          </p:nvCxnSpPr>
          <p:spPr bwMode="gray">
            <a:xfrm>
              <a:off x="330200" y="1588997"/>
              <a:ext cx="11531600" cy="0"/>
            </a:xfrm>
            <a:prstGeom prst="line">
              <a:avLst/>
            </a:prstGeom>
            <a:ln w="9525" cap="flat">
              <a:solidFill>
                <a:srgbClr val="C00000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8" name="btfpPhotoGeneric495478">
            <a:extLst>
              <a:ext uri="{FF2B5EF4-FFF2-40B4-BE49-F238E27FC236}">
                <a16:creationId xmlns:a16="http://schemas.microsoft.com/office/drawing/2014/main" id="{0640C6A1-83FB-6201-FAD3-EC2F03AA4142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47" b="9147"/>
          <a:stretch/>
        </p:blipFill>
        <p:spPr>
          <a:xfrm>
            <a:off x="392173" y="1488260"/>
            <a:ext cx="5128983" cy="2773250"/>
          </a:xfrm>
          <a:prstGeom prst="rect">
            <a:avLst/>
          </a:prstGeom>
        </p:spPr>
      </p:pic>
      <p:pic>
        <p:nvPicPr>
          <p:cNvPr id="61" name="btfpPhotoGeneric978712">
            <a:extLst>
              <a:ext uri="{FF2B5EF4-FFF2-40B4-BE49-F238E27FC236}">
                <a16:creationId xmlns:a16="http://schemas.microsoft.com/office/drawing/2014/main" id="{2AADC4D8-FBAE-C8AC-3AD8-5E76E70284C9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686" b="13686"/>
          <a:stretch>
            <a:fillRect/>
          </a:stretch>
        </p:blipFill>
        <p:spPr>
          <a:xfrm>
            <a:off x="6440372" y="1489631"/>
            <a:ext cx="5091228" cy="2773243"/>
          </a:xfrm>
          <a:prstGeom prst="rect">
            <a:avLst/>
          </a:prstGeom>
        </p:spPr>
      </p:pic>
      <p:sp>
        <p:nvSpPr>
          <p:cNvPr id="4" name="btfpNumberBubble399258">
            <a:extLst>
              <a:ext uri="{FF2B5EF4-FFF2-40B4-BE49-F238E27FC236}">
                <a16:creationId xmlns:a16="http://schemas.microsoft.com/office/drawing/2014/main" id="{01BDA2A0-74C5-8F69-FDB8-7C4D7ACF4951}"/>
              </a:ext>
            </a:extLst>
          </p:cNvPr>
          <p:cNvSpPr/>
          <p:nvPr/>
        </p:nvSpPr>
        <p:spPr bwMode="gray">
          <a:xfrm>
            <a:off x="54684" y="82614"/>
            <a:ext cx="288636" cy="28863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400" b="1">
                <a:solidFill>
                  <a:srgbClr val="CC0000"/>
                </a:solidFill>
              </a:rPr>
              <a:t>7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587161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00E6B-B08D-7DBB-E831-19F3CD27E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hink-cell data - do not delete" hidden="1">
            <a:extLst>
              <a:ext uri="{FF2B5EF4-FFF2-40B4-BE49-F238E27FC236}">
                <a16:creationId xmlns:a16="http://schemas.microsoft.com/office/drawing/2014/main" id="{7CFF629A-4226-6F6C-08CC-0BCA2CCAC69A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9751397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84" imgH="486" progId="TCLayout.ActiveDocument.1">
                  <p:embed/>
                </p:oleObj>
              </mc:Choice>
              <mc:Fallback>
                <p:oleObj name="think-cell Slide" r:id="rId9" imgW="484" imgH="486" progId="TCLayout.ActiveDocument.1">
                  <p:embed/>
                  <p:pic>
                    <p:nvPicPr>
                      <p:cNvPr id="1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CFF629A-4226-6F6C-08CC-0BCA2CCAC6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" name="btfpBulletedList436119">
            <a:extLst>
              <a:ext uri="{FF2B5EF4-FFF2-40B4-BE49-F238E27FC236}">
                <a16:creationId xmlns:a16="http://schemas.microsoft.com/office/drawing/2014/main" id="{FC3A7B74-AD06-3831-D885-4EFC50210DC1}"/>
              </a:ext>
            </a:extLst>
          </p:cNvPr>
          <p:cNvSpPr txBox="1"/>
          <p:nvPr/>
        </p:nvSpPr>
        <p:spPr bwMode="gray">
          <a:xfrm>
            <a:off x="9612468" y="1378737"/>
            <a:ext cx="2373607" cy="4950962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sz="1100" b="1"/>
              <a:t>Structured marketing engine: </a:t>
            </a:r>
            <a:r>
              <a:rPr lang="en-US" sz="1100"/>
              <a:t>Anchored in 4-5 flagship conferences via speaking slots, roundtables and pre-scheduled executive meetings to gain direct access to OEM KDMs, improve RFP visibility and perform targeted ABM</a:t>
            </a:r>
            <a:r>
              <a:rPr lang="en-US" sz="1100" baseline="30000"/>
              <a:t>1</a:t>
            </a:r>
            <a:r>
              <a:rPr lang="en-US" sz="1100"/>
              <a:t> for priority buyers </a:t>
            </a:r>
          </a:p>
          <a:p>
            <a:r>
              <a:rPr lang="en-US" sz="1100" b="1"/>
              <a:t>Build sustained share-of-voice in pharma commercial ecosystems: </a:t>
            </a:r>
            <a:r>
              <a:rPr lang="en-US" sz="1100"/>
              <a:t>Maintain a consistent cadence of feature stories, POVs &amp; analyst-aligned narratives in targeted outlets (e.g., PM360, Fierce Pharma, MM+M), positioning </a:t>
            </a:r>
            <a:r>
              <a:rPr lang="en-US" sz="1100" err="1"/>
              <a:t>Sagility</a:t>
            </a:r>
            <a:r>
              <a:rPr lang="en-US" sz="1100"/>
              <a:t> around AI-led commercialization, cost transf. &amp; patient support innovation ahead of buying cycles</a:t>
            </a:r>
          </a:p>
          <a:p>
            <a:r>
              <a:rPr lang="en-US" sz="1100" b="1"/>
              <a:t>Move beyond generic HC positioning: </a:t>
            </a:r>
            <a:r>
              <a:rPr lang="en-US" sz="1100"/>
              <a:t>Consistently communicate a clear wedge (e.g., tech-enabled patient services, GenAI-led engagement ops) to reinforce relevance within pharma commercial org. and differentiate from horizontal IT/ BPO peers</a:t>
            </a:r>
          </a:p>
        </p:txBody>
      </p:sp>
      <p:grpSp>
        <p:nvGrpSpPr>
          <p:cNvPr id="32" name="btfpColumnIndicatorGroup2">
            <a:extLst>
              <a:ext uri="{FF2B5EF4-FFF2-40B4-BE49-F238E27FC236}">
                <a16:creationId xmlns:a16="http://schemas.microsoft.com/office/drawing/2014/main" id="{F1D57BE8-F441-AF9F-27E1-E0994F38830B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29" name="btfpColumnGapBlocker429473">
              <a:extLst>
                <a:ext uri="{FF2B5EF4-FFF2-40B4-BE49-F238E27FC236}">
                  <a16:creationId xmlns:a16="http://schemas.microsoft.com/office/drawing/2014/main" id="{6DDD7E1E-B36F-2000-2AF6-E1D12DEC1FE6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21" name="btfpColumnGapBlocker379248">
              <a:extLst>
                <a:ext uri="{FF2B5EF4-FFF2-40B4-BE49-F238E27FC236}">
                  <a16:creationId xmlns:a16="http://schemas.microsoft.com/office/drawing/2014/main" id="{E465F5FC-C602-8835-1D3E-D12311B9E6C9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17" name="btfpColumnIndicator266066">
              <a:extLst>
                <a:ext uri="{FF2B5EF4-FFF2-40B4-BE49-F238E27FC236}">
                  <a16:creationId xmlns:a16="http://schemas.microsoft.com/office/drawing/2014/main" id="{C32252B5-A712-A4BC-B00F-BF459B6DDB9E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btfpColumnIndicator213552">
              <a:extLst>
                <a:ext uri="{FF2B5EF4-FFF2-40B4-BE49-F238E27FC236}">
                  <a16:creationId xmlns:a16="http://schemas.microsoft.com/office/drawing/2014/main" id="{F78CEEF6-625B-80DE-334F-5E36570847DF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btfpColumnIndicatorGroup1">
            <a:extLst>
              <a:ext uri="{FF2B5EF4-FFF2-40B4-BE49-F238E27FC236}">
                <a16:creationId xmlns:a16="http://schemas.microsoft.com/office/drawing/2014/main" id="{EA45A8BF-2DA0-AFED-C0D9-3BA914ED283C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26" name="btfpColumnGapBlocker579252">
              <a:extLst>
                <a:ext uri="{FF2B5EF4-FFF2-40B4-BE49-F238E27FC236}">
                  <a16:creationId xmlns:a16="http://schemas.microsoft.com/office/drawing/2014/main" id="{A14751F0-3BAF-6B00-AE72-4E4CBE4B49D4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20" name="btfpColumnGapBlocker645008">
              <a:extLst>
                <a:ext uri="{FF2B5EF4-FFF2-40B4-BE49-F238E27FC236}">
                  <a16:creationId xmlns:a16="http://schemas.microsoft.com/office/drawing/2014/main" id="{D005AD3C-A5BA-0833-B53B-34EE5F28C25C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14" name="btfpColumnIndicator992367">
              <a:extLst>
                <a:ext uri="{FF2B5EF4-FFF2-40B4-BE49-F238E27FC236}">
                  <a16:creationId xmlns:a16="http://schemas.microsoft.com/office/drawing/2014/main" id="{9AC2D25B-8424-CC7D-4E68-D30C0E8E0B1C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btfpColumnIndicator894845">
              <a:extLst>
                <a:ext uri="{FF2B5EF4-FFF2-40B4-BE49-F238E27FC236}">
                  <a16:creationId xmlns:a16="http://schemas.microsoft.com/office/drawing/2014/main" id="{3BBD5AAD-7CEC-B17D-EB64-8F6AE17B7464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302A7E0-65CD-B16A-3E55-420B98868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1"/>
            <a:ext cx="11522075" cy="876687"/>
          </a:xfrm>
          <a:solidFill>
            <a:srgbClr val="FFFFFF">
              <a:alpha val="0"/>
            </a:srgbClr>
          </a:solidFill>
        </p:spPr>
        <p:txBody>
          <a:bodyPr vert="horz"/>
          <a:lstStyle/>
          <a:p>
            <a:r>
              <a:rPr lang="en-US" b="1"/>
              <a:t>Marketing: </a:t>
            </a:r>
            <a:r>
              <a:rPr lang="en-US" err="1"/>
              <a:t>Sagility</a:t>
            </a:r>
            <a:r>
              <a:rPr lang="en-US"/>
              <a:t> should invest in establishing credibility/ lead generation using conferences, media publications etc. as it enters Pharma commercialization space </a:t>
            </a:r>
            <a:endParaRPr lang="en-US" b="1"/>
          </a:p>
        </p:txBody>
      </p:sp>
      <p:graphicFrame>
        <p:nvGraphicFramePr>
          <p:cNvPr id="8" name="btfpTable664098">
            <a:extLst>
              <a:ext uri="{FF2B5EF4-FFF2-40B4-BE49-F238E27FC236}">
                <a16:creationId xmlns:a16="http://schemas.microsoft.com/office/drawing/2014/main" id="{463D4A5D-D5FB-F75D-D281-7727982C630C}"/>
              </a:ext>
            </a:extLst>
          </p:cNvPr>
          <p:cNvGraphicFramePr>
            <a:graphicFrameLocks noGrp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8625731"/>
              </p:ext>
            </p:extLst>
          </p:nvPr>
        </p:nvGraphicFramePr>
        <p:xfrm>
          <a:off x="447472" y="1312553"/>
          <a:ext cx="4159548" cy="5275866"/>
        </p:xfrm>
        <a:graphic>
          <a:graphicData uri="http://schemas.openxmlformats.org/drawingml/2006/table">
            <a:tbl>
              <a:tblPr firstRow="1" firstCol="1">
                <a:tableStyleId>{9D7B26C5-4107-4FEC-AEDC-1716B250A1EF}</a:tableStyleId>
              </a:tblPr>
              <a:tblGrid>
                <a:gridCol w="1050588">
                  <a:extLst>
                    <a:ext uri="{9D8B030D-6E8A-4147-A177-3AD203B41FA5}">
                      <a16:colId xmlns:a16="http://schemas.microsoft.com/office/drawing/2014/main" val="31787507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488819916"/>
                    </a:ext>
                  </a:extLst>
                </a:gridCol>
              </a:tblGrid>
              <a:tr h="1127890">
                <a:tc>
                  <a:txBody>
                    <a:bodyPr/>
                    <a:lstStyle/>
                    <a:p>
                      <a:pPr marL="0" marR="0" lvl="0" indent="0" algn="ctr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50">
                          <a:solidFill>
                            <a:schemeClr val="tx1"/>
                          </a:solidFill>
                        </a:rPr>
                        <a:t>Pharma USA</a:t>
                      </a:r>
                    </a:p>
                  </a:txBody>
                  <a:tcPr marL="45720" marR="4572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rgbClr val="D6D6D6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tabLst/>
                        <a:defRPr/>
                      </a:pPr>
                      <a:r>
                        <a:rPr lang="en-US" sz="95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Cross‐functional pharma commercialization summit, spanning commercial strategy, launch excellence, market access &amp; omnichannel engagement</a:t>
                      </a:r>
                    </a:p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tabLst/>
                        <a:defRPr/>
                      </a:pPr>
                      <a:r>
                        <a:rPr lang="en-US" sz="95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Features </a:t>
                      </a:r>
                      <a:r>
                        <a:rPr lang="en-US" sz="950" b="1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1.5K+ </a:t>
                      </a:r>
                      <a:r>
                        <a:rPr lang="en-US" sz="95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attendees, key participants incl. all </a:t>
                      </a:r>
                      <a:r>
                        <a:rPr lang="en-US" sz="950" b="1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top-50 pharma cos. </a:t>
                      </a:r>
                      <a:r>
                        <a:rPr lang="en-US" sz="95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(e.g., Eli Lilly, Novartis, Amgen), and </a:t>
                      </a:r>
                      <a:r>
                        <a:rPr lang="en-US" sz="950" b="1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key vendors</a:t>
                      </a:r>
                      <a:r>
                        <a:rPr lang="en-US" sz="95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(e.g., ZS, Syneos)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55036862"/>
                  </a:ext>
                </a:extLst>
              </a:tr>
              <a:tr h="1033899">
                <a:tc>
                  <a:txBody>
                    <a:bodyPr/>
                    <a:lstStyle/>
                    <a:p>
                      <a:pPr marL="0" marR="0" lvl="0" indent="0" algn="ctr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5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rgbClr val="D6D6D6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tabLst/>
                        <a:defRPr/>
                      </a:pPr>
                      <a:r>
                        <a:rPr lang="en-US" sz="95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Week-long event uniting pharma commercial, marketing, medical affairs and communication leaders to drive strategy discussions</a:t>
                      </a:r>
                    </a:p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tabLst/>
                        <a:defRPr/>
                      </a:pPr>
                      <a:r>
                        <a:rPr lang="en-US" sz="95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Features </a:t>
                      </a:r>
                      <a:r>
                        <a:rPr lang="en-US" sz="950" b="1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3K+</a:t>
                      </a:r>
                      <a:r>
                        <a:rPr lang="en-US" sz="95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attendees, key participants incl. </a:t>
                      </a:r>
                      <a:r>
                        <a:rPr lang="en-US" sz="950" b="1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large</a:t>
                      </a:r>
                      <a:r>
                        <a:rPr lang="en-US" sz="95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950" b="1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pharma cos. </a:t>
                      </a:r>
                      <a:r>
                        <a:rPr lang="en-US" sz="95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(e.g., Roche, GSK, Novartis, J&amp;J), Syneos Health, IQVIA etc.</a:t>
                      </a:r>
                    </a:p>
                  </a:txBody>
                  <a:tcPr marL="45720" marR="45720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70238363"/>
                  </a:ext>
                </a:extLst>
              </a:tr>
              <a:tr h="11278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chemeClr val="tx1"/>
                          </a:solidFill>
                        </a:rPr>
                        <a:t>Commercial Summit</a:t>
                      </a:r>
                      <a:br>
                        <a:rPr lang="en-US" sz="950">
                          <a:solidFill>
                            <a:schemeClr val="tx1"/>
                          </a:solidFill>
                        </a:rPr>
                      </a:br>
                      <a:r>
                        <a:rPr lang="en-US" sz="95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 marL="45720" marR="4572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rgbClr val="D6D6D6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177800" indent="-177800">
                        <a:spcBef>
                          <a:spcPts val="300"/>
                        </a:spcBef>
                      </a:pPr>
                      <a:r>
                        <a:rPr lang="en-US" sz="95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Premier industry forum advancing digital transf., CRM innovation &amp; data-driven commercial execution</a:t>
                      </a:r>
                    </a:p>
                    <a:p>
                      <a:pPr marL="177800" indent="-177800">
                        <a:spcBef>
                          <a:spcPts val="300"/>
                        </a:spcBef>
                      </a:pPr>
                      <a:r>
                        <a:rPr lang="en-US" sz="95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Features </a:t>
                      </a:r>
                      <a:r>
                        <a:rPr lang="en-US" sz="950" b="1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1.7K+ </a:t>
                      </a:r>
                      <a:r>
                        <a:rPr lang="en-US" sz="95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attendees, key participants incl. </a:t>
                      </a:r>
                      <a:r>
                        <a:rPr lang="en-US" sz="950" b="1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large</a:t>
                      </a:r>
                      <a:r>
                        <a:rPr lang="en-US" sz="95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950" b="1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pharma cos. </a:t>
                      </a:r>
                      <a:r>
                        <a:rPr lang="en-US" sz="95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(e.g., Bayer, Genmark, GSK) and </a:t>
                      </a:r>
                      <a:r>
                        <a:rPr lang="en-US" sz="950"/>
                        <a:t>ecosystem partners incl. Accenture, Indegene, Eversana, ZS, </a:t>
                      </a:r>
                      <a:r>
                        <a:rPr lang="en-US" sz="95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etc.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40264931"/>
                  </a:ext>
                </a:extLst>
              </a:tr>
              <a:tr h="1026067">
                <a:tc>
                  <a:txBody>
                    <a:bodyPr/>
                    <a:lstStyle/>
                    <a:p>
                      <a:pPr marL="0" marR="0" lvl="0" indent="0" algn="ctr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50">
                          <a:solidFill>
                            <a:schemeClr val="tx1"/>
                          </a:solidFill>
                        </a:rPr>
                        <a:t>Americas Annual Meetings</a:t>
                      </a:r>
                      <a:br>
                        <a:rPr lang="en-US" sz="950">
                          <a:solidFill>
                            <a:schemeClr val="tx1"/>
                          </a:solidFill>
                        </a:rPr>
                      </a:br>
                      <a:r>
                        <a:rPr lang="en-US" sz="950" b="0" i="1" u="none">
                          <a:solidFill>
                            <a:schemeClr val="tx1"/>
                          </a:solidFill>
                        </a:rPr>
                        <a:t>(Medical Affairs)</a:t>
                      </a:r>
                    </a:p>
                  </a:txBody>
                  <a:tcPr marL="45720" marR="4572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rgbClr val="D6D6D6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tabLst/>
                        <a:defRPr/>
                      </a:pPr>
                      <a:r>
                        <a:rPr lang="en-US" sz="95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Medical Affairs forum spanning discussions on regulatory changes, new healthcare communication strategies &amp; latest technological advances</a:t>
                      </a:r>
                    </a:p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tabLst/>
                        <a:defRPr/>
                      </a:pPr>
                      <a:r>
                        <a:rPr lang="en-US" sz="95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Attendees from top Biotech, Pharma, MedTech cos. &amp; ops vendors (Parexel, Eversana, IQVIA, Indegene) alongside patient groups and academia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50160029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chemeClr val="tx1"/>
                          </a:solidFill>
                        </a:rPr>
                        <a:t>World Drug Safety Congress</a:t>
                      </a:r>
                      <a:br>
                        <a:rPr lang="en-US" sz="950">
                          <a:solidFill>
                            <a:schemeClr val="tx1"/>
                          </a:solidFill>
                        </a:rPr>
                      </a:br>
                      <a:r>
                        <a:rPr lang="en-US" sz="950" b="0" i="1">
                          <a:solidFill>
                            <a:schemeClr val="tx1"/>
                          </a:solidFill>
                        </a:rPr>
                        <a:t>(Pharma-covigilance)</a:t>
                      </a:r>
                    </a:p>
                  </a:txBody>
                  <a:tcPr marL="45720" marR="4572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rgbClr val="D6D6D6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177800" indent="-177800">
                        <a:spcBef>
                          <a:spcPts val="300"/>
                        </a:spcBef>
                      </a:pPr>
                      <a:r>
                        <a:rPr lang="en-US" sz="95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Pharmacovigilance &amp; drug safety meeting covering post-market safety, regulatory frameworks, and innovation; important for safety/ compliance functions</a:t>
                      </a:r>
                    </a:p>
                    <a:p>
                      <a:pPr marL="177800" indent="-177800">
                        <a:spcBef>
                          <a:spcPts val="300"/>
                        </a:spcBef>
                      </a:pPr>
                      <a:r>
                        <a:rPr lang="en-US" sz="95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Features </a:t>
                      </a:r>
                      <a:r>
                        <a:rPr lang="en-US" sz="950" b="1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2K+ </a:t>
                      </a:r>
                      <a:r>
                        <a:rPr lang="en-US" sz="95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attendees</a:t>
                      </a:r>
                      <a:r>
                        <a:rPr lang="en-US" sz="950" b="1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95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incl. IQVIA, Syneos Health, TCS, Parexel, etc.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0634057"/>
                  </a:ext>
                </a:extLst>
              </a:tr>
            </a:tbl>
          </a:graphicData>
        </a:graphic>
      </p:graphicFrame>
      <p:sp>
        <p:nvSpPr>
          <p:cNvPr id="16" name="Rectangle 15">
            <a:extLst>
              <a:ext uri="{FF2B5EF4-FFF2-40B4-BE49-F238E27FC236}">
                <a16:creationId xmlns:a16="http://schemas.microsoft.com/office/drawing/2014/main" id="{DC6BA2DF-FBE0-9742-5010-93E73DE4001A}"/>
              </a:ext>
            </a:extLst>
          </p:cNvPr>
          <p:cNvSpPr/>
          <p:nvPr/>
        </p:nvSpPr>
        <p:spPr bwMode="gray">
          <a:xfrm>
            <a:off x="339928" y="1078247"/>
            <a:ext cx="4275918" cy="243831"/>
          </a:xfrm>
          <a:prstGeom prst="rect">
            <a:avLst/>
          </a:prstGeom>
          <a:solidFill>
            <a:schemeClr val="tx2">
              <a:lumMod val="50000"/>
            </a:schemeClr>
          </a:solidFill>
          <a:ln w="12700" cap="flat" cmpd="sng" algn="ctr">
            <a:noFill/>
            <a:prstDash val="dash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r>
              <a:rPr lang="en-US" sz="1200" b="1">
                <a:solidFill>
                  <a:schemeClr val="bg1"/>
                </a:solidFill>
              </a:rPr>
              <a:t>Conferences</a:t>
            </a:r>
          </a:p>
        </p:txBody>
      </p:sp>
      <p:graphicFrame>
        <p:nvGraphicFramePr>
          <p:cNvPr id="23" name="btfpTable664098">
            <a:extLst>
              <a:ext uri="{FF2B5EF4-FFF2-40B4-BE49-F238E27FC236}">
                <a16:creationId xmlns:a16="http://schemas.microsoft.com/office/drawing/2014/main" id="{4802D53C-E569-2F9B-159E-89FC04930AD8}"/>
              </a:ext>
            </a:extLst>
          </p:cNvPr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828097258"/>
              </p:ext>
            </p:extLst>
          </p:nvPr>
        </p:nvGraphicFramePr>
        <p:xfrm>
          <a:off x="4787616" y="1322079"/>
          <a:ext cx="4463004" cy="2547376"/>
        </p:xfrm>
        <a:graphic>
          <a:graphicData uri="http://schemas.openxmlformats.org/drawingml/2006/table">
            <a:tbl>
              <a:tblPr firstRow="1" firstCol="1">
                <a:tableStyleId>{9D7B26C5-4107-4FEC-AEDC-1716B250A1EF}</a:tableStyleId>
              </a:tblPr>
              <a:tblGrid>
                <a:gridCol w="2658907">
                  <a:extLst>
                    <a:ext uri="{9D8B030D-6E8A-4147-A177-3AD203B41FA5}">
                      <a16:colId xmlns:a16="http://schemas.microsoft.com/office/drawing/2014/main" val="3178750701"/>
                    </a:ext>
                  </a:extLst>
                </a:gridCol>
                <a:gridCol w="1804097">
                  <a:extLst>
                    <a:ext uri="{9D8B030D-6E8A-4147-A177-3AD203B41FA5}">
                      <a16:colId xmlns:a16="http://schemas.microsoft.com/office/drawing/2014/main" val="2722469233"/>
                    </a:ext>
                  </a:extLst>
                </a:gridCol>
              </a:tblGrid>
              <a:tr h="1479121">
                <a:tc>
                  <a:txBody>
                    <a:bodyPr/>
                    <a:lstStyle/>
                    <a:p>
                      <a:pPr marL="0" marR="0" lvl="0" indent="0" algn="ctr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Magazines and Newsletters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rgbClr val="DCE5EA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Analyst Publications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rgbClr val="DCE5EA"/>
                      </a:fgClr>
                      <a:bgClr>
                        <a:srgbClr val="FFFFFF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2046440835"/>
                  </a:ext>
                </a:extLst>
              </a:tr>
              <a:tr h="1068255">
                <a:tc>
                  <a:txBody>
                    <a:bodyPr/>
                    <a:lstStyle/>
                    <a:p>
                      <a:pPr marL="0" marR="0" lvl="0" indent="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/>
                        <a:t>Sponsored articles</a:t>
                      </a:r>
                      <a:r>
                        <a:rPr lang="en-US" sz="900" b="0"/>
                        <a:t>, banner ads, newsletter placements, </a:t>
                      </a:r>
                      <a:r>
                        <a:rPr lang="en-US" sz="900" b="1"/>
                        <a:t>paid thought-leadership features, media sponsorships</a:t>
                      </a:r>
                      <a:r>
                        <a:rPr lang="en-US" sz="900" b="0"/>
                        <a:t>, conference-linked advertorials, etc.</a:t>
                      </a:r>
                      <a:endParaRPr lang="en-US" sz="900" b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Contracted research </a:t>
                      </a: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(co-branded studies), </a:t>
                      </a:r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analyst contracts &amp; briefings, reprint/ licensing rights</a:t>
                      </a: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PR retainer &amp; newswire, co-author proprietary research</a:t>
                      </a:r>
                      <a:endParaRPr kumimoji="0" lang="en-US" sz="9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0634057"/>
                  </a:ext>
                </a:extLst>
              </a:tr>
            </a:tbl>
          </a:graphicData>
        </a:graphic>
      </p:graphicFrame>
      <p:sp>
        <p:nvSpPr>
          <p:cNvPr id="24" name="Rectangle 23">
            <a:extLst>
              <a:ext uri="{FF2B5EF4-FFF2-40B4-BE49-F238E27FC236}">
                <a16:creationId xmlns:a16="http://schemas.microsoft.com/office/drawing/2014/main" id="{2F066DD1-D204-427B-98F5-51983F1A4FE2}"/>
              </a:ext>
            </a:extLst>
          </p:cNvPr>
          <p:cNvSpPr/>
          <p:nvPr/>
        </p:nvSpPr>
        <p:spPr bwMode="gray">
          <a:xfrm>
            <a:off x="4787615" y="1078247"/>
            <a:ext cx="4473753" cy="243831"/>
          </a:xfrm>
          <a:prstGeom prst="rect">
            <a:avLst/>
          </a:prstGeom>
          <a:solidFill>
            <a:srgbClr val="46647B"/>
          </a:solidFill>
          <a:ln w="12700" cap="flat" cmpd="sng" algn="ctr">
            <a:noFill/>
            <a:prstDash val="dash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</a:rPr>
              <a:t>Media Publications</a:t>
            </a:r>
          </a:p>
        </p:txBody>
      </p:sp>
      <p:sp>
        <p:nvSpPr>
          <p:cNvPr id="25" name="btfpNotesBox982587">
            <a:extLst>
              <a:ext uri="{FF2B5EF4-FFF2-40B4-BE49-F238E27FC236}">
                <a16:creationId xmlns:a16="http://schemas.microsoft.com/office/drawing/2014/main" id="{43EC3AFA-95ED-8B17-A92D-AA6FFC41A1DD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gray">
          <a:xfrm>
            <a:off x="330200" y="6666162"/>
            <a:ext cx="9832105" cy="123111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b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800">
                <a:solidFill>
                  <a:srgbClr val="000000"/>
                </a:solidFill>
              </a:rPr>
              <a:t>Note: 1. Account-based marketing | Source: Market participant interviews, Secondary research, Bain analysis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F5F4CE8-D160-CBBF-393E-89EE0D6761CA}"/>
              </a:ext>
            </a:extLst>
          </p:cNvPr>
          <p:cNvSpPr/>
          <p:nvPr/>
        </p:nvSpPr>
        <p:spPr bwMode="gray">
          <a:xfrm>
            <a:off x="4782589" y="3974824"/>
            <a:ext cx="4478779" cy="243831"/>
          </a:xfrm>
          <a:prstGeom prst="rect">
            <a:avLst/>
          </a:prstGeom>
          <a:solidFill>
            <a:srgbClr val="973B74"/>
          </a:solidFill>
          <a:ln w="12700" cap="flat" cmpd="sng" algn="ctr">
            <a:noFill/>
            <a:prstDash val="dash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</a:rPr>
              <a:t>Peer Analogs</a:t>
            </a:r>
          </a:p>
        </p:txBody>
      </p:sp>
      <p:graphicFrame>
        <p:nvGraphicFramePr>
          <p:cNvPr id="28" name="btfpTable664098">
            <a:extLst>
              <a:ext uri="{FF2B5EF4-FFF2-40B4-BE49-F238E27FC236}">
                <a16:creationId xmlns:a16="http://schemas.microsoft.com/office/drawing/2014/main" id="{A3393760-C0F3-1E31-41DD-3FD879571FA6}"/>
              </a:ext>
            </a:extLst>
          </p:cNvPr>
          <p:cNvGraphicFramePr>
            <a:graphicFrameLocks noGrp="1"/>
          </p:cNvGraphicFramePr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1957457722"/>
              </p:ext>
            </p:extLst>
          </p:nvPr>
        </p:nvGraphicFramePr>
        <p:xfrm>
          <a:off x="4787613" y="4298115"/>
          <a:ext cx="4478779" cy="2290304"/>
        </p:xfrm>
        <a:graphic>
          <a:graphicData uri="http://schemas.openxmlformats.org/drawingml/2006/table">
            <a:tbl>
              <a:tblPr firstRow="1" firstCol="1">
                <a:tableStyleId>{9D7B26C5-4107-4FEC-AEDC-1716B250A1EF}</a:tableStyleId>
              </a:tblPr>
              <a:tblGrid>
                <a:gridCol w="1305288">
                  <a:extLst>
                    <a:ext uri="{9D8B030D-6E8A-4147-A177-3AD203B41FA5}">
                      <a16:colId xmlns:a16="http://schemas.microsoft.com/office/drawing/2014/main" val="3178750701"/>
                    </a:ext>
                  </a:extLst>
                </a:gridCol>
                <a:gridCol w="3173491">
                  <a:extLst>
                    <a:ext uri="{9D8B030D-6E8A-4147-A177-3AD203B41FA5}">
                      <a16:colId xmlns:a16="http://schemas.microsoft.com/office/drawing/2014/main" val="488819916"/>
                    </a:ext>
                  </a:extLst>
                </a:gridCol>
              </a:tblGrid>
              <a:tr h="5725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914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rgbClr val="EED6E5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177800" indent="-177800">
                        <a:spcBef>
                          <a:spcPts val="600"/>
                        </a:spcBef>
                      </a:pPr>
                      <a:r>
                        <a:rPr lang="en-US" sz="9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Active in analyst briefings (Gartner, Everest), frequent speaker at major pharma forums (Veeva Summit, Reuters Pharma); proprietary research (New Science)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88988942"/>
                  </a:ext>
                </a:extLst>
              </a:tr>
              <a:tr h="5725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914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rgbClr val="EED6E5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177800" indent="-177800">
                        <a:spcBef>
                          <a:spcPts val="600"/>
                        </a:spcBef>
                      </a:pPr>
                      <a:r>
                        <a:rPr lang="en-US" sz="9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Strong analyst visibility (Everest PEAK Matrix, industry rankings), sponsors major commercial conferences, publishes widely cited IQVIA Institute reports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7791950"/>
                  </a:ext>
                </a:extLst>
              </a:tr>
              <a:tr h="5725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914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rgbClr val="EED6E5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i="0"/>
                        <a:t>Frequent speaker at commercialization events (e.g., Reuters Pharma, Veeva Summit), ranked in Everest PEAK Matrix (Commercial life sciences AI leader)</a:t>
                      </a:r>
                      <a:endParaRPr lang="en-US" sz="900" b="0" i="0"/>
                    </a:p>
                  </a:txBody>
                  <a:tcPr anchor="ctr">
                    <a:lnL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37885786"/>
                  </a:ext>
                </a:extLst>
              </a:tr>
              <a:tr h="5725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0" marB="914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rgbClr val="EED6E5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/>
                        <a:t>Active sponsor at pharma events (e.g., Veeva summit), hosts proprietary industry forums (Indegene Digital Summit), strong LinkedIn thought leadership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45375614"/>
                  </a:ext>
                </a:extLst>
              </a:tr>
            </a:tbl>
          </a:graphicData>
        </a:graphic>
      </p:graphicFrame>
      <p:grpSp>
        <p:nvGrpSpPr>
          <p:cNvPr id="30" name="Group 29">
            <a:extLst>
              <a:ext uri="{FF2B5EF4-FFF2-40B4-BE49-F238E27FC236}">
                <a16:creationId xmlns:a16="http://schemas.microsoft.com/office/drawing/2014/main" id="{189C3DA6-611F-70A9-9771-195D1DABF638}"/>
              </a:ext>
            </a:extLst>
          </p:cNvPr>
          <p:cNvGrpSpPr/>
          <p:nvPr/>
        </p:nvGrpSpPr>
        <p:grpSpPr>
          <a:xfrm>
            <a:off x="9368480" y="1078247"/>
            <a:ext cx="252255" cy="5494196"/>
            <a:chOff x="5967490" y="1886691"/>
            <a:chExt cx="252255" cy="4539509"/>
          </a:xfrm>
        </p:grpSpPr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9F3BA264-852F-B4DF-EB4F-39048F8344EE}"/>
                </a:ext>
              </a:extLst>
            </p:cNvPr>
            <p:cNvCxnSpPr>
              <a:cxnSpLocks/>
            </p:cNvCxnSpPr>
            <p:nvPr/>
          </p:nvCxnSpPr>
          <p:spPr>
            <a:xfrm>
              <a:off x="6093617" y="1886691"/>
              <a:ext cx="1" cy="158503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75000"/>
                </a:schemeClr>
              </a:solidFill>
              <a:prstDash val="dash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btfpSequenceArrow438210">
              <a:extLst>
                <a:ext uri="{FF2B5EF4-FFF2-40B4-BE49-F238E27FC236}">
                  <a16:creationId xmlns:a16="http://schemas.microsoft.com/office/drawing/2014/main" id="{4A361B5A-859B-2AB9-FD71-E685DDCEFCCB}"/>
                </a:ext>
              </a:extLst>
            </p:cNvPr>
            <p:cNvSpPr/>
            <p:nvPr/>
          </p:nvSpPr>
          <p:spPr bwMode="gray">
            <a:xfrm>
              <a:off x="5967490" y="3669956"/>
              <a:ext cx="252255" cy="890932"/>
            </a:xfrm>
            <a:custGeom>
              <a:avLst/>
              <a:gdLst/>
              <a:ahLst/>
              <a:cxnLst/>
              <a:rect l="0" t="0" r="0" b="0"/>
              <a:pathLst>
                <a:path w="252255" h="972980">
                  <a:moveTo>
                    <a:pt x="38100" y="0"/>
                  </a:moveTo>
                  <a:lnTo>
                    <a:pt x="252254" y="486489"/>
                  </a:lnTo>
                  <a:lnTo>
                    <a:pt x="38100" y="972979"/>
                  </a:lnTo>
                  <a:lnTo>
                    <a:pt x="0" y="972979"/>
                  </a:lnTo>
                  <a:lnTo>
                    <a:pt x="214154" y="486489"/>
                  </a:lnTo>
                  <a:lnTo>
                    <a:pt x="0" y="0"/>
                  </a:lnTo>
                </a:path>
              </a:pathLst>
            </a:custGeom>
            <a:solidFill>
              <a:srgbClr val="CC0000"/>
            </a:solidFill>
            <a:ln w="9525" cap="flat">
              <a:solidFill>
                <a:srgbClr val="CC0000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lnSpc>
                  <a:spcPct val="0"/>
                </a:lnSpc>
              </a:pPr>
              <a:endParaRPr lang="en-US"/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E1654EB4-7D41-3CCD-F9AE-C09B12C99E37}"/>
                </a:ext>
              </a:extLst>
            </p:cNvPr>
            <p:cNvCxnSpPr>
              <a:cxnSpLocks/>
            </p:cNvCxnSpPr>
            <p:nvPr/>
          </p:nvCxnSpPr>
          <p:spPr>
            <a:xfrm>
              <a:off x="6093617" y="4762351"/>
              <a:ext cx="0" cy="1663849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75000"/>
                </a:schemeClr>
              </a:solidFill>
              <a:prstDash val="dash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E0AE1A59-05BC-5155-953E-C0E82067BF26}"/>
              </a:ext>
            </a:extLst>
          </p:cNvPr>
          <p:cNvSpPr/>
          <p:nvPr/>
        </p:nvSpPr>
        <p:spPr bwMode="gray">
          <a:xfrm>
            <a:off x="9612468" y="1078247"/>
            <a:ext cx="2291461" cy="243831"/>
          </a:xfrm>
          <a:prstGeom prst="rect">
            <a:avLst/>
          </a:prstGeom>
          <a:solidFill>
            <a:srgbClr val="CC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</a:rPr>
              <a:t>Implications for Sagility</a:t>
            </a:r>
          </a:p>
        </p:txBody>
      </p:sp>
      <p:pic>
        <p:nvPicPr>
          <p:cNvPr id="2086" name="Picture 2">
            <a:extLst>
              <a:ext uri="{FF2B5EF4-FFF2-40B4-BE49-F238E27FC236}">
                <a16:creationId xmlns:a16="http://schemas.microsoft.com/office/drawing/2014/main" id="{F00BAE07-C6DF-74B4-E372-774EE57777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3715" y="2111814"/>
            <a:ext cx="883815" cy="201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7" name="Picture 4" descr="PEAK Matrix - Everest Group">
            <a:extLst>
              <a:ext uri="{FF2B5EF4-FFF2-40B4-BE49-F238E27FC236}">
                <a16:creationId xmlns:a16="http://schemas.microsoft.com/office/drawing/2014/main" id="{2DC051B3-ECE3-8507-BE68-8102763ED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2905" y="1612391"/>
            <a:ext cx="1194669" cy="320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9" name="Picture 8" descr="International Data Corporation (IDC ...">
            <a:extLst>
              <a:ext uri="{FF2B5EF4-FFF2-40B4-BE49-F238E27FC236}">
                <a16:creationId xmlns:a16="http://schemas.microsoft.com/office/drawing/2014/main" id="{7C51C7EB-4BC6-99AE-C491-6B6DD86003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6353" y="2538068"/>
            <a:ext cx="638541" cy="191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27" name="Picture 42">
            <a:extLst>
              <a:ext uri="{FF2B5EF4-FFF2-40B4-BE49-F238E27FC236}">
                <a16:creationId xmlns:a16="http://schemas.microsoft.com/office/drawing/2014/main" id="{E2552F7C-EBC0-7E5D-A672-9FF60D2C1E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1157" y="4417675"/>
            <a:ext cx="947735" cy="249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30" name="Picture 44" descr="IQVIA - InsideScientific">
            <a:extLst>
              <a:ext uri="{FF2B5EF4-FFF2-40B4-BE49-F238E27FC236}">
                <a16:creationId xmlns:a16="http://schemas.microsoft.com/office/drawing/2014/main" id="{215B6731-F64D-EC18-5008-3184B08EA5F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63" t="30872" r="8122" b="28540"/>
          <a:stretch/>
        </p:blipFill>
        <p:spPr bwMode="auto">
          <a:xfrm>
            <a:off x="4984492" y="5068626"/>
            <a:ext cx="914400" cy="26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33" name="Picture 46">
            <a:extLst>
              <a:ext uri="{FF2B5EF4-FFF2-40B4-BE49-F238E27FC236}">
                <a16:creationId xmlns:a16="http://schemas.microsoft.com/office/drawing/2014/main" id="{C0B9D963-2A6A-8C66-B220-AC8F071793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9734" y="6219229"/>
            <a:ext cx="1100066" cy="222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btfpNumberBubble133627">
            <a:extLst>
              <a:ext uri="{FF2B5EF4-FFF2-40B4-BE49-F238E27FC236}">
                <a16:creationId xmlns:a16="http://schemas.microsoft.com/office/drawing/2014/main" id="{14169566-78C0-A7E1-EAFC-7C683D26FC7B}"/>
              </a:ext>
            </a:extLst>
          </p:cNvPr>
          <p:cNvSpPr/>
          <p:nvPr/>
        </p:nvSpPr>
        <p:spPr bwMode="gray">
          <a:xfrm>
            <a:off x="9578980" y="1430470"/>
            <a:ext cx="206166" cy="206166"/>
          </a:xfrm>
          <a:prstGeom prst="ellipse">
            <a:avLst/>
          </a:prstGeom>
          <a:solidFill>
            <a:srgbClr val="FFFFFF"/>
          </a:solidFill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</a:t>
            </a:r>
          </a:p>
        </p:txBody>
      </p:sp>
      <p:sp>
        <p:nvSpPr>
          <p:cNvPr id="54" name="btfpNumberBubble133627">
            <a:extLst>
              <a:ext uri="{FF2B5EF4-FFF2-40B4-BE49-F238E27FC236}">
                <a16:creationId xmlns:a16="http://schemas.microsoft.com/office/drawing/2014/main" id="{4563F833-777A-08AD-D88F-C68362C312F9}"/>
              </a:ext>
            </a:extLst>
          </p:cNvPr>
          <p:cNvSpPr/>
          <p:nvPr/>
        </p:nvSpPr>
        <p:spPr bwMode="gray">
          <a:xfrm>
            <a:off x="9578980" y="2927882"/>
            <a:ext cx="206166" cy="206166"/>
          </a:xfrm>
          <a:prstGeom prst="ellipse">
            <a:avLst/>
          </a:prstGeom>
          <a:solidFill>
            <a:srgbClr val="FFFFFF"/>
          </a:solidFill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>
                <a:solidFill>
                  <a:srgbClr val="C00000"/>
                </a:solidFill>
                <a:latin typeface="Arial"/>
              </a:rPr>
              <a:t>2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5" name="btfpNumberBubble133627">
            <a:extLst>
              <a:ext uri="{FF2B5EF4-FFF2-40B4-BE49-F238E27FC236}">
                <a16:creationId xmlns:a16="http://schemas.microsoft.com/office/drawing/2014/main" id="{D2D9F7DA-FA8C-2C00-1312-C0A4696F0072}"/>
              </a:ext>
            </a:extLst>
          </p:cNvPr>
          <p:cNvSpPr/>
          <p:nvPr/>
        </p:nvSpPr>
        <p:spPr bwMode="gray">
          <a:xfrm>
            <a:off x="9578980" y="4878892"/>
            <a:ext cx="206166" cy="206166"/>
          </a:xfrm>
          <a:prstGeom prst="ellipse">
            <a:avLst/>
          </a:prstGeom>
          <a:solidFill>
            <a:srgbClr val="FFFFFF"/>
          </a:solidFill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60D646AA-A640-75F5-B2DF-225AA0AD933F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29953" y="1620846"/>
            <a:ext cx="1034947" cy="304015"/>
          </a:xfrm>
          <a:prstGeom prst="rect">
            <a:avLst/>
          </a:prstGeom>
        </p:spPr>
      </p:pic>
      <p:sp>
        <p:nvSpPr>
          <p:cNvPr id="4" name="AutoShape 2" descr="Home">
            <a:extLst>
              <a:ext uri="{FF2B5EF4-FFF2-40B4-BE49-F238E27FC236}">
                <a16:creationId xmlns:a16="http://schemas.microsoft.com/office/drawing/2014/main" id="{AED4B140-A344-7D76-EF37-F18FE287088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2455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8" name="Picture 4" descr="FPW 2025 | Viscadia">
            <a:extLst>
              <a:ext uri="{FF2B5EF4-FFF2-40B4-BE49-F238E27FC236}">
                <a16:creationId xmlns:a16="http://schemas.microsoft.com/office/drawing/2014/main" id="{CB90D31D-9758-7514-3DDA-1478D3CE51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908" y="2785066"/>
            <a:ext cx="918730" cy="397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BBFE583-7F62-3D5D-23A3-D507DA7E029B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41542"/>
          <a:stretch/>
        </p:blipFill>
        <p:spPr>
          <a:xfrm>
            <a:off x="507722" y="4589947"/>
            <a:ext cx="925803" cy="523843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98686FB5-D21F-4A22-A797-1E175C63073B}"/>
              </a:ext>
            </a:extLst>
          </p:cNvPr>
          <p:cNvPicPr>
            <a:picLocks noChangeAspect="1"/>
          </p:cNvPicPr>
          <p:nvPr/>
        </p:nvPicPr>
        <p:blipFill>
          <a:blip r:embed="rId2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06908" y="5676552"/>
            <a:ext cx="935671" cy="254108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CFB79301-F43A-1772-5617-216D836F79AE}"/>
              </a:ext>
            </a:extLst>
          </p:cNvPr>
          <p:cNvPicPr>
            <a:picLocks noChangeAspect="1"/>
          </p:cNvPicPr>
          <p:nvPr/>
        </p:nvPicPr>
        <p:blipFill>
          <a:blip r:embed="rId2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0489" t="36722" b="36264"/>
          <a:stretch/>
        </p:blipFill>
        <p:spPr>
          <a:xfrm>
            <a:off x="444680" y="3701975"/>
            <a:ext cx="1374224" cy="279519"/>
          </a:xfrm>
          <a:prstGeom prst="rect">
            <a:avLst/>
          </a:prstGeom>
        </p:spPr>
      </p:pic>
      <p:pic>
        <p:nvPicPr>
          <p:cNvPr id="2257" name="Picture 2256">
            <a:extLst>
              <a:ext uri="{FF2B5EF4-FFF2-40B4-BE49-F238E27FC236}">
                <a16:creationId xmlns:a16="http://schemas.microsoft.com/office/drawing/2014/main" id="{35A94D6D-F8C8-6C6E-B1E8-2AAA48DA730F}"/>
              </a:ext>
            </a:extLst>
          </p:cNvPr>
          <p:cNvPicPr>
            <a:picLocks noChangeAspect="1"/>
          </p:cNvPicPr>
          <p:nvPr/>
        </p:nvPicPr>
        <p:blipFill>
          <a:blip r:embed="rId2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229350" y="1612391"/>
            <a:ext cx="1037362" cy="321242"/>
          </a:xfrm>
          <a:prstGeom prst="rect">
            <a:avLst/>
          </a:prstGeom>
        </p:spPr>
      </p:pic>
      <p:pic>
        <p:nvPicPr>
          <p:cNvPr id="2260" name="Picture 2259">
            <a:extLst>
              <a:ext uri="{FF2B5EF4-FFF2-40B4-BE49-F238E27FC236}">
                <a16:creationId xmlns:a16="http://schemas.microsoft.com/office/drawing/2014/main" id="{BB08964E-BD36-8010-50E1-22E7C3459894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053248" y="2504778"/>
            <a:ext cx="634943" cy="190483"/>
          </a:xfrm>
          <a:prstGeom prst="rect">
            <a:avLst/>
          </a:prstGeom>
        </p:spPr>
      </p:pic>
      <p:pic>
        <p:nvPicPr>
          <p:cNvPr id="1030" name="Picture 6" descr="Fierce Pharma | Fierce Biotech">
            <a:extLst>
              <a:ext uri="{FF2B5EF4-FFF2-40B4-BE49-F238E27FC236}">
                <a16:creationId xmlns:a16="http://schemas.microsoft.com/office/drawing/2014/main" id="{099885F6-4797-4257-A032-8E76595B9F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0929" y="1637480"/>
            <a:ext cx="786935" cy="314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71" name="Picture 2270">
            <a:extLst>
              <a:ext uri="{FF2B5EF4-FFF2-40B4-BE49-F238E27FC236}">
                <a16:creationId xmlns:a16="http://schemas.microsoft.com/office/drawing/2014/main" id="{D1CC59BA-478C-1ECC-543B-FA25D565200B}"/>
              </a:ext>
            </a:extLst>
          </p:cNvPr>
          <p:cNvPicPr>
            <a:picLocks noChangeAspect="1"/>
          </p:cNvPicPr>
          <p:nvPr/>
        </p:nvPicPr>
        <p:blipFill>
          <a:blip r:embed="rId2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2903" t="31031" r="12278" b="35321"/>
          <a:stretch/>
        </p:blipFill>
        <p:spPr>
          <a:xfrm>
            <a:off x="4912917" y="2065113"/>
            <a:ext cx="992610" cy="297597"/>
          </a:xfrm>
          <a:prstGeom prst="rect">
            <a:avLst/>
          </a:prstGeom>
        </p:spPr>
      </p:pic>
      <p:pic>
        <p:nvPicPr>
          <p:cNvPr id="2282" name="Picture 2281">
            <a:extLst>
              <a:ext uri="{FF2B5EF4-FFF2-40B4-BE49-F238E27FC236}">
                <a16:creationId xmlns:a16="http://schemas.microsoft.com/office/drawing/2014/main" id="{9D2C58AD-AD2D-5B0C-CE00-3C52DE1C4705}"/>
              </a:ext>
            </a:extLst>
          </p:cNvPr>
          <p:cNvPicPr>
            <a:picLocks noChangeAspect="1"/>
          </p:cNvPicPr>
          <p:nvPr/>
        </p:nvPicPr>
        <p:blipFill>
          <a:blip r:embed="rId2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229350" y="2439539"/>
            <a:ext cx="1077614" cy="320959"/>
          </a:xfrm>
          <a:prstGeom prst="rect">
            <a:avLst/>
          </a:prstGeom>
        </p:spPr>
      </p:pic>
      <p:pic>
        <p:nvPicPr>
          <p:cNvPr id="1059" name="Picture 10" descr="ZS Associates - Wikipedia">
            <a:extLst>
              <a:ext uri="{FF2B5EF4-FFF2-40B4-BE49-F238E27FC236}">
                <a16:creationId xmlns:a16="http://schemas.microsoft.com/office/drawing/2014/main" id="{C4DF1369-211A-3B76-C49D-4055E43AC4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2638" y="5492881"/>
            <a:ext cx="610714" cy="483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1084">
            <a:extLst>
              <a:ext uri="{FF2B5EF4-FFF2-40B4-BE49-F238E27FC236}">
                <a16:creationId xmlns:a16="http://schemas.microsoft.com/office/drawing/2014/main" id="{A83DAF2B-65E4-261A-4638-6ECAEF25E974}"/>
              </a:ext>
            </a:extLst>
          </p:cNvPr>
          <p:cNvPicPr>
            <a:picLocks noChangeAspect="1"/>
          </p:cNvPicPr>
          <p:nvPr/>
        </p:nvPicPr>
        <p:blipFill>
          <a:blip r:embed="rId2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34841" b="39493"/>
          <a:stretch/>
        </p:blipFill>
        <p:spPr>
          <a:xfrm>
            <a:off x="6162934" y="2146595"/>
            <a:ext cx="1170193" cy="166860"/>
          </a:xfrm>
          <a:prstGeom prst="rect">
            <a:avLst/>
          </a:prstGeom>
        </p:spPr>
      </p:pic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1C6A0B6-9435-81CD-D9D7-EF76DE7294C4}"/>
              </a:ext>
            </a:extLst>
          </p:cNvPr>
          <p:cNvCxnSpPr>
            <a:cxnSpLocks/>
          </p:cNvCxnSpPr>
          <p:nvPr/>
        </p:nvCxnSpPr>
        <p:spPr bwMode="gray">
          <a:xfrm>
            <a:off x="205923" y="1344744"/>
            <a:ext cx="0" cy="3103805"/>
          </a:xfrm>
          <a:prstGeom prst="straightConnector1">
            <a:avLst/>
          </a:prstGeom>
          <a:ln w="9525" cap="flat">
            <a:solidFill>
              <a:schemeClr val="tx1"/>
            </a:solidFill>
            <a:miter lim="800000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6EA3703E-6ABE-8365-25F1-7F1E3C7541E3}"/>
              </a:ext>
            </a:extLst>
          </p:cNvPr>
          <p:cNvSpPr txBox="1"/>
          <p:nvPr/>
        </p:nvSpPr>
        <p:spPr bwMode="gray">
          <a:xfrm>
            <a:off x="99153" y="1889458"/>
            <a:ext cx="211203" cy="1950511"/>
          </a:xfrm>
          <a:prstGeom prst="rect">
            <a:avLst/>
          </a:prstGeom>
          <a:solidFill>
            <a:srgbClr val="FFFFFF"/>
          </a:solidFill>
        </p:spPr>
        <p:txBody>
          <a:bodyPr vert="vert270" wrap="square" lIns="36000" tIns="36000" rIns="36000" bIns="36000" rtlCol="0">
            <a:sp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000000"/>
                </a:solidFill>
              </a:rPr>
              <a:t>Cross-functional Pharma events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50BB7193-CA9A-2998-2D73-E006DF92D1C9}"/>
              </a:ext>
            </a:extLst>
          </p:cNvPr>
          <p:cNvCxnSpPr>
            <a:cxnSpLocks/>
          </p:cNvCxnSpPr>
          <p:nvPr/>
        </p:nvCxnSpPr>
        <p:spPr bwMode="gray">
          <a:xfrm>
            <a:off x="205923" y="4614427"/>
            <a:ext cx="0" cy="1927219"/>
          </a:xfrm>
          <a:prstGeom prst="straightConnector1">
            <a:avLst/>
          </a:prstGeom>
          <a:ln w="9525" cap="flat">
            <a:solidFill>
              <a:schemeClr val="tx1"/>
            </a:solidFill>
            <a:miter lim="800000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1F58381A-BA68-6918-7A7E-940F4EE81FB8}"/>
              </a:ext>
            </a:extLst>
          </p:cNvPr>
          <p:cNvSpPr txBox="1"/>
          <p:nvPr/>
        </p:nvSpPr>
        <p:spPr bwMode="gray">
          <a:xfrm>
            <a:off x="99153" y="4804048"/>
            <a:ext cx="211203" cy="1465448"/>
          </a:xfrm>
          <a:prstGeom prst="rect">
            <a:avLst/>
          </a:prstGeom>
          <a:solidFill>
            <a:srgbClr val="FFFFFF"/>
          </a:solidFill>
        </p:spPr>
        <p:txBody>
          <a:bodyPr vert="vert270" wrap="square" lIns="36000" tIns="36000" rIns="36000" bIns="36000" rtlCol="0">
            <a:sp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000000"/>
                </a:solidFill>
              </a:rPr>
              <a:t>Focused Pharma events</a:t>
            </a:r>
          </a:p>
        </p:txBody>
      </p:sp>
      <p:sp>
        <p:nvSpPr>
          <p:cNvPr id="58" name="btfpCallout863585">
            <a:extLst>
              <a:ext uri="{FF2B5EF4-FFF2-40B4-BE49-F238E27FC236}">
                <a16:creationId xmlns:a16="http://schemas.microsoft.com/office/drawing/2014/main" id="{91ED57D6-8DF2-C692-0F2E-9434634EA56C}"/>
              </a:ext>
            </a:extLst>
          </p:cNvPr>
          <p:cNvSpPr/>
          <p:nvPr/>
        </p:nvSpPr>
        <p:spPr bwMode="gray">
          <a:xfrm>
            <a:off x="3211434" y="893252"/>
            <a:ext cx="1941204" cy="268213"/>
          </a:xfrm>
          <a:prstGeom prst="wedgeRectCallout">
            <a:avLst>
              <a:gd name="adj1" fmla="val -36032"/>
              <a:gd name="adj2" fmla="val 76206"/>
            </a:avLst>
          </a:prstGeom>
          <a:solidFill>
            <a:srgbClr val="FFFFFF"/>
          </a:solidFill>
          <a:ln w="9525">
            <a:solidFill>
              <a:srgbClr val="5C5C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73" tIns="72073" rIns="72073" bIns="7207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1" indent="0">
              <a:spcBef>
                <a:spcPts val="0"/>
              </a:spcBef>
              <a:buNone/>
            </a:pPr>
            <a:r>
              <a:rPr lang="en-US" sz="850">
                <a:solidFill>
                  <a:srgbClr val="5C5C5C"/>
                </a:solidFill>
              </a:rPr>
              <a:t>Indegene typically participates in 30+ pharma conferences annually</a:t>
            </a:r>
          </a:p>
        </p:txBody>
      </p:sp>
      <p:sp>
        <p:nvSpPr>
          <p:cNvPr id="7" name="btfpNumberBubble399258">
            <a:extLst>
              <a:ext uri="{FF2B5EF4-FFF2-40B4-BE49-F238E27FC236}">
                <a16:creationId xmlns:a16="http://schemas.microsoft.com/office/drawing/2014/main" id="{BBAA29A9-5646-0538-1C3A-A80C9534A8C2}"/>
              </a:ext>
            </a:extLst>
          </p:cNvPr>
          <p:cNvSpPr/>
          <p:nvPr/>
        </p:nvSpPr>
        <p:spPr bwMode="gray">
          <a:xfrm>
            <a:off x="54684" y="82614"/>
            <a:ext cx="288636" cy="28863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400" b="1">
                <a:solidFill>
                  <a:srgbClr val="CC0000"/>
                </a:solidFill>
              </a:rPr>
              <a:t>7A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199075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115CA-0C81-64C7-9CA4-5D5E6FE61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hink-cell data - do not delete" hidden="1">
            <a:extLst>
              <a:ext uri="{FF2B5EF4-FFF2-40B4-BE49-F238E27FC236}">
                <a16:creationId xmlns:a16="http://schemas.microsoft.com/office/drawing/2014/main" id="{117EDCEB-E67B-A835-DF74-13B9A40F1D1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484" imgH="486" progId="TCLayout.ActiveDocument.1">
                  <p:embed/>
                </p:oleObj>
              </mc:Choice>
              <mc:Fallback>
                <p:oleObj name="think-cell Slide" r:id="rId7" imgW="484" imgH="486" progId="TCLayout.ActiveDocument.1">
                  <p:embed/>
                  <p:pic>
                    <p:nvPicPr>
                      <p:cNvPr id="1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17EDCEB-E67B-A835-DF74-13B9A40F1D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btfpColumnIndicatorGroup2">
            <a:extLst>
              <a:ext uri="{FF2B5EF4-FFF2-40B4-BE49-F238E27FC236}">
                <a16:creationId xmlns:a16="http://schemas.microsoft.com/office/drawing/2014/main" id="{A3C733C0-4ED8-ADF6-797B-C085AAC86EDE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11" name="btfpColumnGapBlocker282806">
              <a:extLst>
                <a:ext uri="{FF2B5EF4-FFF2-40B4-BE49-F238E27FC236}">
                  <a16:creationId xmlns:a16="http://schemas.microsoft.com/office/drawing/2014/main" id="{CF441195-03BF-1100-B979-DB28672207BF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9" name="btfpColumnGapBlocker569408">
              <a:extLst>
                <a:ext uri="{FF2B5EF4-FFF2-40B4-BE49-F238E27FC236}">
                  <a16:creationId xmlns:a16="http://schemas.microsoft.com/office/drawing/2014/main" id="{8181A827-91A5-7258-F3F2-628DE33581BC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6" name="btfpColumnIndicator511752">
              <a:extLst>
                <a:ext uri="{FF2B5EF4-FFF2-40B4-BE49-F238E27FC236}">
                  <a16:creationId xmlns:a16="http://schemas.microsoft.com/office/drawing/2014/main" id="{ABF8921F-3C3A-8532-70E2-A38DAFC5D709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btfpColumnIndicator909063">
              <a:extLst>
                <a:ext uri="{FF2B5EF4-FFF2-40B4-BE49-F238E27FC236}">
                  <a16:creationId xmlns:a16="http://schemas.microsoft.com/office/drawing/2014/main" id="{9EE927E2-846A-D78E-76CA-54C1F2556EDE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btfpColumnIndicatorGroup1">
            <a:extLst>
              <a:ext uri="{FF2B5EF4-FFF2-40B4-BE49-F238E27FC236}">
                <a16:creationId xmlns:a16="http://schemas.microsoft.com/office/drawing/2014/main" id="{2C4205E3-C757-7EB8-EBCF-549A9B18D62D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10" name="btfpColumnGapBlocker403959">
              <a:extLst>
                <a:ext uri="{FF2B5EF4-FFF2-40B4-BE49-F238E27FC236}">
                  <a16:creationId xmlns:a16="http://schemas.microsoft.com/office/drawing/2014/main" id="{CB431B80-7648-BBEA-835D-5BB30F4904B3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8" name="btfpColumnGapBlocker668594">
              <a:extLst>
                <a:ext uri="{FF2B5EF4-FFF2-40B4-BE49-F238E27FC236}">
                  <a16:creationId xmlns:a16="http://schemas.microsoft.com/office/drawing/2014/main" id="{E5C19C7B-9A70-0CC4-E226-C5ED0579AAEE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5" name="btfpColumnIndicator999634">
              <a:extLst>
                <a:ext uri="{FF2B5EF4-FFF2-40B4-BE49-F238E27FC236}">
                  <a16:creationId xmlns:a16="http://schemas.microsoft.com/office/drawing/2014/main" id="{2224F733-C406-9F0F-8359-04B75AE81D58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btfpColumnIndicator155403">
              <a:extLst>
                <a:ext uri="{FF2B5EF4-FFF2-40B4-BE49-F238E27FC236}">
                  <a16:creationId xmlns:a16="http://schemas.microsoft.com/office/drawing/2014/main" id="{8A050C48-92AF-3977-73EC-3A566489A6B7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8FBD246-571A-C007-8A8A-308AD65AF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1"/>
            <a:ext cx="11857036" cy="876687"/>
          </a:xfrm>
        </p:spPr>
        <p:txBody>
          <a:bodyPr vert="horz"/>
          <a:lstStyle/>
          <a:p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GTM Team and Sales Enablement: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Pharma commercialization will require dedicated GTM team including vertical leadership, domain SMEs, hunters and senior advisor(s)</a:t>
            </a:r>
          </a:p>
        </p:txBody>
      </p:sp>
      <p:sp>
        <p:nvSpPr>
          <p:cNvPr id="30" name="btfpNotesBox878883">
            <a:extLst>
              <a:ext uri="{FF2B5EF4-FFF2-40B4-BE49-F238E27FC236}">
                <a16:creationId xmlns:a16="http://schemas.microsoft.com/office/drawing/2014/main" id="{FC53285A-3C7E-E69F-E62A-5A52142069ED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gray">
          <a:xfrm>
            <a:off x="330200" y="6655011"/>
            <a:ext cx="6092859" cy="123111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b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Source: Research, market inputs, Bain analysis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76E358F-1539-7343-23E8-33343086A349}"/>
              </a:ext>
            </a:extLst>
          </p:cNvPr>
          <p:cNvSpPr/>
          <p:nvPr/>
        </p:nvSpPr>
        <p:spPr bwMode="gray">
          <a:xfrm>
            <a:off x="376066" y="1585708"/>
            <a:ext cx="1537596" cy="655088"/>
          </a:xfrm>
          <a:prstGeom prst="rect">
            <a:avLst/>
          </a:prstGeom>
          <a:solidFill>
            <a:schemeClr val="tx1"/>
          </a:solidFill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rial" panose="020B0604020202020204" pitchFamily="34" charset="0"/>
              </a:rPr>
              <a:t>Commercial Lead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E091E28-2F79-7420-0E16-4AD18C62FA70}"/>
              </a:ext>
            </a:extLst>
          </p:cNvPr>
          <p:cNvSpPr/>
          <p:nvPr/>
        </p:nvSpPr>
        <p:spPr bwMode="gray">
          <a:xfrm>
            <a:off x="376066" y="3562963"/>
            <a:ext cx="1537596" cy="655088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rial" panose="020B0604020202020204" pitchFamily="34" charset="0"/>
              </a:rPr>
              <a:t>Hunter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25F7D0D6-1C4B-4F6F-1984-CB580E7A0504}"/>
              </a:ext>
            </a:extLst>
          </p:cNvPr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419753514"/>
              </p:ext>
            </p:extLst>
          </p:nvPr>
        </p:nvGraphicFramePr>
        <p:xfrm>
          <a:off x="1991363" y="1113928"/>
          <a:ext cx="9773918" cy="383803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78242">
                  <a:extLst>
                    <a:ext uri="{9D8B030D-6E8A-4147-A177-3AD203B41FA5}">
                      <a16:colId xmlns:a16="http://schemas.microsoft.com/office/drawing/2014/main" val="3283091593"/>
                    </a:ext>
                  </a:extLst>
                </a:gridCol>
                <a:gridCol w="4795676">
                  <a:extLst>
                    <a:ext uri="{9D8B030D-6E8A-4147-A177-3AD203B41FA5}">
                      <a16:colId xmlns:a16="http://schemas.microsoft.com/office/drawing/2014/main" val="3669752534"/>
                    </a:ext>
                  </a:extLst>
                </a:gridCol>
              </a:tblGrid>
              <a:tr h="271871">
                <a:tc>
                  <a:txBody>
                    <a:bodyPr/>
                    <a:lstStyle/>
                    <a:p>
                      <a:pPr marL="0" lvl="0" indent="0" algn="l" defTabSz="711200" rtl="0" eaLnBrk="1" latinLnBrk="0" hangingPunct="1">
                        <a:spcBef>
                          <a:spcPts val="600"/>
                        </a:spcBef>
                        <a:buFontTx/>
                        <a:buNone/>
                      </a:pPr>
                      <a:r>
                        <a:rPr lang="en-US" sz="1050" b="1" i="0" u="none" baseline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Role</a:t>
                      </a:r>
                    </a:p>
                  </a:txBody>
                  <a:tcPr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defTabSz="711200" rtl="0" eaLnBrk="1" latinLnBrk="0" hangingPunct="1">
                        <a:spcBef>
                          <a:spcPts val="600"/>
                        </a:spcBef>
                        <a:buFontTx/>
                        <a:buNone/>
                      </a:pPr>
                      <a:r>
                        <a:rPr lang="en-US" sz="1050" b="1" i="0" u="none" baseline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Target profile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5661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77800" lvl="0" indent="-177800" algn="l" defTabSz="711200" rtl="0" eaLnBrk="1" latinLnBrk="0" hangingPunct="1">
                        <a:spcBef>
                          <a:spcPts val="600"/>
                        </a:spcBef>
                        <a:buChar char="•"/>
                      </a:pPr>
                      <a:r>
                        <a:rPr lang="en-US" sz="900" b="1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Own pharma commercialization entry strategy</a:t>
                      </a:r>
                      <a:r>
                        <a:rPr lang="en-US" sz="900" b="0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, defining and sequencing Sagility’s execution wedge (e.g., CRM ops, content factory, PV support), aligning with brand narrative</a:t>
                      </a:r>
                    </a:p>
                    <a:p>
                      <a:pPr marL="177800" lvl="0" indent="-177800" algn="l" defTabSz="711200" rtl="0" eaLnBrk="1" latinLnBrk="0" hangingPunct="1">
                        <a:spcBef>
                          <a:spcPts val="600"/>
                        </a:spcBef>
                        <a:buChar char="•"/>
                      </a:pPr>
                      <a:r>
                        <a:rPr lang="en-US" sz="900" b="1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Build &amp; anchor senior relationships </a:t>
                      </a:r>
                      <a:r>
                        <a:rPr lang="en-US" sz="900" b="0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with VP/SVP Commercial/Sales Ops in mid-size pharma &amp; biotech, leading complex, long-cycle (12-18 months) pursuits</a:t>
                      </a:r>
                    </a:p>
                    <a:p>
                      <a:pPr marL="177800" lvl="0" indent="-177800" algn="l" defTabSz="711200" rtl="0" eaLnBrk="1" latinLnBrk="0" hangingPunct="1">
                        <a:spcBef>
                          <a:spcPts val="600"/>
                        </a:spcBef>
                        <a:buChar char="•"/>
                      </a:pPr>
                      <a:r>
                        <a:rPr lang="en-US" sz="900" b="1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Govern</a:t>
                      </a:r>
                      <a:r>
                        <a:rPr lang="en-US" sz="900" b="0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 pipeline, qualification rigor, and deal shaping with delivery and hunters</a:t>
                      </a: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rgbClr val="DCE5EA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177800" lvl="0" indent="-177800" algn="l" defTabSz="711200" rtl="0" eaLnBrk="1" latinLnBrk="0" hangingPunct="1">
                        <a:spcBef>
                          <a:spcPts val="600"/>
                        </a:spcBef>
                        <a:buChar char="•"/>
                      </a:pPr>
                      <a:r>
                        <a:rPr lang="en-US" sz="900" b="1" i="0" u="sng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Experience</a:t>
                      </a:r>
                      <a:r>
                        <a:rPr lang="en-US" sz="900" b="1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:</a:t>
                      </a:r>
                      <a:r>
                        <a:rPr lang="en-US" sz="900" b="0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 15-20 yrs. in US pharma commercialization; led Commercial/Sales Ops P&amp;L, CRM programs, measurable outcomes &amp; enterprise pursuits with VP/SVP relationships</a:t>
                      </a:r>
                    </a:p>
                    <a:p>
                      <a:pPr marL="177800" lvl="0" indent="-177800" algn="l" defTabSz="711200" rtl="0" eaLnBrk="1" latinLnBrk="0" hangingPunct="1">
                        <a:spcBef>
                          <a:spcPts val="600"/>
                        </a:spcBef>
                        <a:buChar char="•"/>
                      </a:pPr>
                      <a:r>
                        <a:rPr lang="en-US" sz="900" b="1" i="0" u="sng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Example Archetype</a:t>
                      </a:r>
                      <a:r>
                        <a:rPr lang="en-US" sz="900" b="1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: </a:t>
                      </a:r>
                      <a:r>
                        <a:rPr lang="en-US" sz="900" b="0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VP/ Director of Commercial Ops/ Solutions either at competitors (e.g., Indegene, IQVIA) or at mid-size pharma/ biotech firms</a:t>
                      </a: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rgbClr val="DCE5EA"/>
                      </a:fgClr>
                      <a:bgClr>
                        <a:srgbClr val="FFFFFF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32817124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77800" lvl="0" indent="-177800" algn="l" defTabSz="711200" rtl="0" eaLnBrk="1" latinLnBrk="0" hangingPunct="1">
                        <a:spcBef>
                          <a:spcPts val="600"/>
                        </a:spcBef>
                        <a:buFontTx/>
                        <a:buChar char="•"/>
                      </a:pPr>
                      <a:r>
                        <a:rPr lang="en-US" sz="900" b="1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Shape solution offerings</a:t>
                      </a:r>
                      <a:r>
                        <a:rPr lang="en-US" sz="900" b="0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, ensuring operational and regulatory credibility</a:t>
                      </a:r>
                    </a:p>
                    <a:p>
                      <a:pPr marL="177800" lvl="0" indent="-177800" algn="l" defTabSz="711200" rtl="0" eaLnBrk="1" latinLnBrk="0" hangingPunct="1">
                        <a:spcBef>
                          <a:spcPts val="600"/>
                        </a:spcBef>
                        <a:buFontTx/>
                        <a:buChar char="•"/>
                      </a:pPr>
                      <a:r>
                        <a:rPr lang="en-US" sz="900" b="1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Lead client solutioning</a:t>
                      </a:r>
                      <a:r>
                        <a:rPr lang="en-US" sz="900" b="0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, turning pain points into workflows, delivery models, and ROI-backed proposals; </a:t>
                      </a:r>
                      <a:r>
                        <a:rPr lang="en-US" sz="900" b="1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provide depth in commercial ops workflows</a:t>
                      </a:r>
                      <a:r>
                        <a:rPr lang="en-US" sz="900" b="0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 (call planning, CRM hygiene, incentive governance, launch readiness, KPI reporting, etc.)</a:t>
                      </a:r>
                    </a:p>
                    <a:p>
                      <a:pPr marL="177800" lvl="0" indent="-177800" algn="l" defTabSz="711200" rtl="0" eaLnBrk="1" latinLnBrk="0" hangingPunct="1">
                        <a:spcBef>
                          <a:spcPts val="600"/>
                        </a:spcBef>
                        <a:buFontTx/>
                        <a:buChar char="•"/>
                      </a:pPr>
                      <a:r>
                        <a:rPr lang="en-US" sz="900" b="1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Design compliant frameworks</a:t>
                      </a:r>
                      <a:r>
                        <a:rPr lang="en-US" sz="900" b="0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, incl. processes, escalation paths, quality controls, oversight</a:t>
                      </a: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rgbClr val="DCE5EA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177800" lvl="0" indent="-177800" algn="l" defTabSz="711200" rtl="0" eaLnBrk="1" latinLnBrk="0" hangingPunct="1">
                        <a:spcBef>
                          <a:spcPts val="600"/>
                        </a:spcBef>
                        <a:buChar char="•"/>
                      </a:pPr>
                      <a:r>
                        <a:rPr lang="en-US" sz="900" b="1" i="0" u="sng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Experience</a:t>
                      </a:r>
                      <a:r>
                        <a:rPr lang="en-US" sz="900" b="1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: </a:t>
                      </a:r>
                      <a:r>
                        <a:rPr lang="en-US" sz="900" b="0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10-15 years in pharma commercial ops with strong credentials; owned CRM transformations, territory design, incentive governance, call planning, launch programs, and analytics</a:t>
                      </a:r>
                    </a:p>
                    <a:p>
                      <a:pPr marL="177800" lvl="0" indent="-177800" algn="l" defTabSz="711200" rtl="0" eaLnBrk="1" latinLnBrk="0" hangingPunct="1">
                        <a:spcBef>
                          <a:spcPts val="600"/>
                        </a:spcBef>
                        <a:buChar char="•"/>
                      </a:pPr>
                      <a:r>
                        <a:rPr lang="en-US" sz="900" b="1" i="0" u="sng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Example archetype</a:t>
                      </a:r>
                      <a:r>
                        <a:rPr lang="en-US" sz="900" b="1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: </a:t>
                      </a:r>
                      <a:r>
                        <a:rPr lang="en-US" sz="900" b="0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Director of Sales Ops at mid-size pharma/ biotech; or Solution Lead from ecosystem partners (e.g., IQVIA, Veeva, etc.) with PharmD/ PhD qualifications</a:t>
                      </a: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rgbClr val="DCE5EA"/>
                      </a:fgClr>
                      <a:bgClr>
                        <a:srgbClr val="FFFFFF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6208524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77800" lvl="0" indent="-177800" algn="l" defTabSz="711200" rtl="0" eaLnBrk="1" latinLnBrk="0" hangingPunct="1">
                        <a:spcBef>
                          <a:spcPts val="600"/>
                        </a:spcBef>
                        <a:buChar char="•"/>
                      </a:pPr>
                      <a:r>
                        <a:rPr lang="en-US" sz="900" b="1"/>
                        <a:t>Drive new logo acquisition aligned to Sagility’s wedge</a:t>
                      </a:r>
                      <a:r>
                        <a:rPr lang="en-US" sz="900" b="0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, targeting Commercial/Sales Ops leaders in growth-stage pharma and specialty biotech</a:t>
                      </a:r>
                    </a:p>
                    <a:p>
                      <a:pPr marL="177800" lvl="0" indent="-177800" algn="l" defTabSz="711200" rtl="0" eaLnBrk="1" latinLnBrk="0" hangingPunct="1">
                        <a:spcBef>
                          <a:spcPts val="600"/>
                        </a:spcBef>
                        <a:buChar char="•"/>
                      </a:pPr>
                      <a:r>
                        <a:rPr lang="en-US" sz="900" b="1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Own pursuit execution</a:t>
                      </a:r>
                      <a:r>
                        <a:rPr lang="en-US" sz="900" b="0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, qualifying opp., mapping buying centers, coordinating proposals, and advancing deals to closure with Commercial Lead</a:t>
                      </a: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rgbClr val="DCE5EA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177800" lvl="0" indent="-177800" algn="l" defTabSz="711200" rtl="0" eaLnBrk="1" latinLnBrk="0" hangingPunct="1">
                        <a:spcBef>
                          <a:spcPts val="600"/>
                        </a:spcBef>
                        <a:buChar char="•"/>
                      </a:pPr>
                      <a:r>
                        <a:rPr lang="en-US" sz="900" b="1" i="0" u="sng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Experience</a:t>
                      </a:r>
                      <a:r>
                        <a:rPr lang="en-US" sz="900" b="1" i="0" u="none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:</a:t>
                      </a:r>
                      <a:r>
                        <a:rPr lang="en-US" sz="900" b="0" i="0" u="none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 8-12 years in pharma services/commercialization sales; experience selling CRM, analytics, or ops solutions with relevant deal cycle exposure</a:t>
                      </a:r>
                    </a:p>
                    <a:p>
                      <a:pPr marL="177800" lvl="0" indent="-177800" algn="l" defTabSz="711200" rtl="0" eaLnBrk="1" latinLnBrk="0" hangingPunct="1">
                        <a:spcBef>
                          <a:spcPts val="600"/>
                        </a:spcBef>
                        <a:buChar char="•"/>
                      </a:pPr>
                      <a:r>
                        <a:rPr lang="en-US" sz="900" b="1" i="0" u="sng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Example Archetype</a:t>
                      </a:r>
                      <a:r>
                        <a:rPr lang="en-US" sz="900" b="1" i="0" u="none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: </a:t>
                      </a:r>
                      <a:r>
                        <a:rPr lang="en-US" sz="900" b="0" i="0" u="none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BD Manager/Account Executive in pharma-focused services or transformation firm</a:t>
                      </a: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rgbClr val="DCE5EA"/>
                      </a:fgClr>
                      <a:bgClr>
                        <a:srgbClr val="FFFFFF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21967820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77800" lvl="0" indent="-177800" algn="l" defTabSz="711200" rtl="0" eaLnBrk="1" latinLnBrk="0" hangingPunct="1">
                        <a:spcBef>
                          <a:spcPts val="600"/>
                        </a:spcBef>
                        <a:buChar char="•"/>
                      </a:pPr>
                      <a:r>
                        <a:rPr lang="en-US" sz="900" b="1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Accelerate access to senior buying centers through established CXO-level relationships </a:t>
                      </a:r>
                      <a:r>
                        <a:rPr lang="en-US" sz="900" b="0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across MedTech OEMs</a:t>
                      </a:r>
                    </a:p>
                    <a:p>
                      <a:pPr marL="177800" lvl="0" indent="-177800" algn="l" defTabSz="711200" rtl="0" eaLnBrk="1" latinLnBrk="0" hangingPunct="1">
                        <a:spcBef>
                          <a:spcPts val="600"/>
                        </a:spcBef>
                        <a:buChar char="•"/>
                      </a:pPr>
                      <a:r>
                        <a:rPr lang="en-US" sz="900" b="1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Refine sales narratives and positioning ensuring alignment </a:t>
                      </a:r>
                      <a:r>
                        <a:rPr lang="en-US" sz="900" b="0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with C-suite priorities (ROI, growth)</a:t>
                      </a: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rgbClr val="DCE5EA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177800" lvl="0" indent="-177800" algn="l" defTabSz="711200" rtl="0" eaLnBrk="1" latinLnBrk="0" hangingPunct="1">
                        <a:spcBef>
                          <a:spcPts val="600"/>
                        </a:spcBef>
                        <a:buChar char="•"/>
                      </a:pPr>
                      <a:r>
                        <a:rPr lang="en-US" sz="900" b="1" i="0" u="sng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Experience:</a:t>
                      </a:r>
                      <a:r>
                        <a:rPr lang="en-US" sz="900" b="0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 25-30 years in Pharma, leading functions across scaled pharma players </a:t>
                      </a:r>
                    </a:p>
                    <a:p>
                      <a:pPr marL="177800" lvl="0" indent="-177800" algn="l" defTabSz="711200" rtl="0" eaLnBrk="1" latinLnBrk="0" hangingPunct="1">
                        <a:spcBef>
                          <a:spcPts val="600"/>
                        </a:spcBef>
                        <a:buChar char="•"/>
                      </a:pPr>
                      <a:r>
                        <a:rPr lang="en-US" sz="900" b="1" i="0" u="sng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Example archetype:</a:t>
                      </a:r>
                      <a:r>
                        <a:rPr lang="en-US" sz="900" b="0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 Former CXO (e.g., COO, Chief Commercial Officer) with deep industry networks </a:t>
                      </a: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rgbClr val="DCE5EA"/>
                      </a:fgClr>
                      <a:bgClr>
                        <a:srgbClr val="FFFFFF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3946789194"/>
                  </a:ext>
                </a:extLst>
              </a:tr>
            </a:tbl>
          </a:graphicData>
        </a:graphic>
      </p:graphicFrame>
      <p:sp>
        <p:nvSpPr>
          <p:cNvPr id="22" name="Rectangle 21">
            <a:extLst>
              <a:ext uri="{FF2B5EF4-FFF2-40B4-BE49-F238E27FC236}">
                <a16:creationId xmlns:a16="http://schemas.microsoft.com/office/drawing/2014/main" id="{6B7415E7-3144-7220-DD36-354ACFB204F1}"/>
              </a:ext>
            </a:extLst>
          </p:cNvPr>
          <p:cNvSpPr/>
          <p:nvPr/>
        </p:nvSpPr>
        <p:spPr bwMode="gray">
          <a:xfrm>
            <a:off x="376066" y="2643670"/>
            <a:ext cx="1537596" cy="65508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rial" panose="020B0604020202020204" pitchFamily="34" charset="0"/>
              </a:rPr>
              <a:t>Domain SME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4C027F4-4724-6A28-F8B1-147CF00D1DC8}"/>
              </a:ext>
            </a:extLst>
          </p:cNvPr>
          <p:cNvSpPr/>
          <p:nvPr/>
        </p:nvSpPr>
        <p:spPr bwMode="gray">
          <a:xfrm>
            <a:off x="376066" y="1113928"/>
            <a:ext cx="1537596" cy="288319"/>
          </a:xfrm>
          <a:prstGeom prst="rect">
            <a:avLst/>
          </a:prstGeom>
          <a:solidFill>
            <a:srgbClr val="B4B4B4"/>
          </a:solidFill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Arial" panose="020B0604020202020204" pitchFamily="34" charset="0"/>
              </a:rPr>
              <a:t>Illustrative structure</a:t>
            </a:r>
          </a:p>
        </p:txBody>
      </p:sp>
      <p:sp>
        <p:nvSpPr>
          <p:cNvPr id="31" name="btfpNumberBubble399258">
            <a:extLst>
              <a:ext uri="{FF2B5EF4-FFF2-40B4-BE49-F238E27FC236}">
                <a16:creationId xmlns:a16="http://schemas.microsoft.com/office/drawing/2014/main" id="{C61E5395-8C71-A058-F5F4-02B413E1E028}"/>
              </a:ext>
            </a:extLst>
          </p:cNvPr>
          <p:cNvSpPr/>
          <p:nvPr/>
        </p:nvSpPr>
        <p:spPr bwMode="gray">
          <a:xfrm>
            <a:off x="54684" y="82614"/>
            <a:ext cx="288636" cy="28863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400" b="1">
                <a:solidFill>
                  <a:srgbClr val="CC0000"/>
                </a:solidFill>
              </a:rPr>
              <a:t>7B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54D6E42-196E-5582-DC48-6568C74E872F}"/>
              </a:ext>
            </a:extLst>
          </p:cNvPr>
          <p:cNvSpPr/>
          <p:nvPr/>
        </p:nvSpPr>
        <p:spPr bwMode="gray">
          <a:xfrm>
            <a:off x="376066" y="4296871"/>
            <a:ext cx="1537596" cy="655088"/>
          </a:xfrm>
          <a:prstGeom prst="rect">
            <a:avLst/>
          </a:prstGeom>
          <a:solidFill>
            <a:schemeClr val="accent6"/>
          </a:solidFill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rial" panose="020B0604020202020204" pitchFamily="34" charset="0"/>
              </a:rPr>
              <a:t>Advisor 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BFFD501-195B-8290-911A-C0803F626655}"/>
              </a:ext>
            </a:extLst>
          </p:cNvPr>
          <p:cNvSpPr/>
          <p:nvPr/>
        </p:nvSpPr>
        <p:spPr bwMode="gray">
          <a:xfrm>
            <a:off x="165099" y="6081505"/>
            <a:ext cx="11820415" cy="367752"/>
          </a:xfrm>
          <a:prstGeom prst="rect">
            <a:avLst/>
          </a:prstGeom>
          <a:solidFill>
            <a:srgbClr val="858585"/>
          </a:solid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r>
              <a:rPr lang="en-US" sz="1100" b="1" i="1">
                <a:solidFill>
                  <a:schemeClr val="bg1"/>
                </a:solidFill>
              </a:rPr>
              <a:t>Hiring can be sequenced – begin with Commercial Lead and domain SME in the short-term to co-sell and validate the wedge, add dedicated hunters as pipeline scales in the medium-term, and institutionalize delivery leadership once anchor accounts are secured longer-term</a:t>
            </a:r>
          </a:p>
        </p:txBody>
      </p:sp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91F3A105-D094-1BAC-40B6-20BE4F0DBC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5994057"/>
              </p:ext>
            </p:extLst>
          </p:nvPr>
        </p:nvGraphicFramePr>
        <p:xfrm>
          <a:off x="334963" y="5048712"/>
          <a:ext cx="11522075" cy="781375"/>
        </p:xfrm>
        <a:graphic>
          <a:graphicData uri="http://schemas.openxmlformats.org/drawingml/2006/table">
            <a:tbl>
              <a:tblPr firstRow="1" firstCol="1">
                <a:tableStyleId>{9D7B26C5-4107-4FEC-AEDC-1716B250A1EF}</a:tableStyleId>
              </a:tblPr>
              <a:tblGrid>
                <a:gridCol w="2606094">
                  <a:extLst>
                    <a:ext uri="{9D8B030D-6E8A-4147-A177-3AD203B41FA5}">
                      <a16:colId xmlns:a16="http://schemas.microsoft.com/office/drawing/2014/main" val="733853062"/>
                    </a:ext>
                  </a:extLst>
                </a:gridCol>
                <a:gridCol w="5019534">
                  <a:extLst>
                    <a:ext uri="{9D8B030D-6E8A-4147-A177-3AD203B41FA5}">
                      <a16:colId xmlns:a16="http://schemas.microsoft.com/office/drawing/2014/main" val="4272457150"/>
                    </a:ext>
                  </a:extLst>
                </a:gridCol>
                <a:gridCol w="3896447">
                  <a:extLst>
                    <a:ext uri="{9D8B030D-6E8A-4147-A177-3AD203B41FA5}">
                      <a16:colId xmlns:a16="http://schemas.microsoft.com/office/drawing/2014/main" val="3683769876"/>
                    </a:ext>
                  </a:extLst>
                </a:gridCol>
              </a:tblGrid>
              <a:tr h="156275">
                <a:tc gridSpan="3"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US" sz="900" b="1" i="0">
                          <a:solidFill>
                            <a:srgbClr val="FFFFFF"/>
                          </a:solidFill>
                          <a:latin typeface="+mn-lt"/>
                        </a:rPr>
                        <a:t>Select sample profiles for Advisors</a:t>
                      </a:r>
                    </a:p>
                  </a:txBody>
                  <a:tcPr marT="0" marB="0" anchor="ctr"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FontTx/>
                        <a:buNone/>
                      </a:pPr>
                      <a:endParaRPr lang="en-US" sz="1000" b="1" i="0">
                        <a:solidFill>
                          <a:srgbClr val="FFFFFF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FontTx/>
                        <a:buNone/>
                      </a:pPr>
                      <a:endParaRPr lang="en-US" sz="1000" b="0" i="0">
                        <a:solidFill>
                          <a:srgbClr val="FFFFFF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7809370"/>
                  </a:ext>
                </a:extLst>
              </a:tr>
              <a:tr h="156275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US" sz="900" b="1" i="0">
                          <a:solidFill>
                            <a:srgbClr val="FFFFFF"/>
                          </a:solidFill>
                          <a:latin typeface="+mn-lt"/>
                        </a:rPr>
                        <a:t>Name </a:t>
                      </a:r>
                    </a:p>
                  </a:txBody>
                  <a:tcPr marT="0" marB="0" anchor="ctr">
                    <a:solidFill>
                      <a:srgbClr val="5C5C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US" sz="900" b="1" i="0">
                          <a:solidFill>
                            <a:srgbClr val="FFFFFF"/>
                          </a:solidFill>
                          <a:latin typeface="+mn-lt"/>
                        </a:rPr>
                        <a:t>Relevant experience</a:t>
                      </a:r>
                    </a:p>
                  </a:txBody>
                  <a:tcPr marT="0" marB="0" anchor="ctr">
                    <a:solidFill>
                      <a:srgbClr val="5C5C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US" sz="900" i="0">
                          <a:solidFill>
                            <a:srgbClr val="FFFFFF"/>
                          </a:solidFill>
                          <a:latin typeface="+mn-lt"/>
                        </a:rPr>
                        <a:t>Yrs.</a:t>
                      </a:r>
                      <a:r>
                        <a:rPr lang="en-US" sz="900" i="0" baseline="0">
                          <a:solidFill>
                            <a:srgbClr val="FFFFFF"/>
                          </a:solidFill>
                          <a:latin typeface="+mn-lt"/>
                        </a:rPr>
                        <a:t> served </a:t>
                      </a:r>
                      <a:r>
                        <a:rPr lang="en-US" sz="900" b="0" i="0" baseline="0">
                          <a:solidFill>
                            <a:srgbClr val="FFFFFF"/>
                          </a:solidFill>
                          <a:latin typeface="+mn-lt"/>
                        </a:rPr>
                        <a:t>(Exit)</a:t>
                      </a:r>
                      <a:endParaRPr lang="en-US" sz="900" b="0" i="0">
                        <a:solidFill>
                          <a:srgbClr val="FFFFFF"/>
                        </a:solidFill>
                        <a:latin typeface="+mn-lt"/>
                      </a:endParaRPr>
                    </a:p>
                  </a:txBody>
                  <a:tcPr marT="0" marB="0" anchor="ctr">
                    <a:solidFill>
                      <a:srgbClr val="5C5C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5712655"/>
                  </a:ext>
                </a:extLst>
              </a:tr>
              <a:tr h="156275">
                <a:tc>
                  <a:txBody>
                    <a:bodyPr/>
                    <a:lstStyle/>
                    <a:p>
                      <a:pPr marL="0" marR="0" lvl="0" indent="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>
                          <a:effectLst/>
                          <a:latin typeface="+mn-lt"/>
                          <a:ea typeface="Calibri" panose="020F0502020204030204" pitchFamily="34" charset="0"/>
                        </a:rPr>
                        <a:t>Marv Richardson</a:t>
                      </a:r>
                    </a:p>
                  </a:txBody>
                  <a:tcPr marT="0" marB="0"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rgbClr val="DCE2D6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>
                          <a:effectLst/>
                          <a:latin typeface="+mn-lt"/>
                          <a:ea typeface="Calibri" panose="020F0502020204030204" pitchFamily="34" charset="0"/>
                        </a:rPr>
                        <a:t>Former CIO, </a:t>
                      </a:r>
                      <a:r>
                        <a:rPr lang="en-US" sz="900" b="1" i="0">
                          <a:effectLst/>
                          <a:latin typeface="+mn-lt"/>
                          <a:ea typeface="Calibri" panose="020F0502020204030204" pitchFamily="34" charset="0"/>
                        </a:rPr>
                        <a:t>HCSC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rgbClr val="DCE2D6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US" sz="900" i="0">
                          <a:latin typeface="+mn-lt"/>
                        </a:rPr>
                        <a:t>6+ years (2022)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rgbClr val="DCE2D6"/>
                      </a:fgClr>
                      <a:bgClr>
                        <a:srgbClr val="FFFFFF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333770233"/>
                  </a:ext>
                </a:extLst>
              </a:tr>
              <a:tr h="156275">
                <a:tc>
                  <a:txBody>
                    <a:bodyPr/>
                    <a:lstStyle/>
                    <a:p>
                      <a:pPr marL="0" marR="0" lvl="0" indent="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>
                          <a:effectLst/>
                          <a:latin typeface="+mn-lt"/>
                          <a:ea typeface="Calibri" panose="020F0502020204030204" pitchFamily="34" charset="0"/>
                        </a:rPr>
                        <a:t>Chris C. Price</a:t>
                      </a:r>
                    </a:p>
                  </a:txBody>
                  <a:tcPr marT="0" marB="0"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pattFill prst="ltUpDiag">
                      <a:fgClr>
                        <a:srgbClr val="DCE2D6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>
                          <a:effectLst/>
                          <a:latin typeface="+mn-lt"/>
                          <a:ea typeface="Calibri" panose="020F0502020204030204" pitchFamily="34" charset="0"/>
                        </a:rPr>
                        <a:t>Former COO, </a:t>
                      </a:r>
                      <a:r>
                        <a:rPr lang="en-US" sz="900" b="1" i="0">
                          <a:effectLst/>
                          <a:latin typeface="+mn-lt"/>
                          <a:ea typeface="Calibri" panose="020F0502020204030204" pitchFamily="34" charset="0"/>
                        </a:rPr>
                        <a:t>WellCare Health Plans (Centene)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pattFill prst="ltUpDiag">
                      <a:fgClr>
                        <a:srgbClr val="DCE2D6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US" sz="900" i="0">
                          <a:latin typeface="+mn-lt"/>
                        </a:rPr>
                        <a:t>14+ years (2023)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pattFill prst="ltUpDiag">
                      <a:fgClr>
                        <a:srgbClr val="DCE2D6"/>
                      </a:fgClr>
                      <a:bgClr>
                        <a:srgbClr val="FFFFFF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2415353141"/>
                  </a:ext>
                </a:extLst>
              </a:tr>
              <a:tr h="156275">
                <a:tc>
                  <a:txBody>
                    <a:bodyPr/>
                    <a:lstStyle/>
                    <a:p>
                      <a:pPr marL="0" marR="0" lvl="0" indent="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>
                          <a:effectLst/>
                          <a:latin typeface="+mn-lt"/>
                          <a:ea typeface="Calibri" panose="020F0502020204030204" pitchFamily="34" charset="0"/>
                        </a:rPr>
                        <a:t>Diana McKenzie</a:t>
                      </a:r>
                    </a:p>
                  </a:txBody>
                  <a:tcPr marT="0" marB="0"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rgbClr val="DCE5EA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+mn-cs"/>
                        </a:rPr>
                        <a:t>Board member, </a:t>
                      </a:r>
                      <a:r>
                        <a:rPr lang="en-US" sz="9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+mn-cs"/>
                        </a:rPr>
                        <a:t>Vertex </a:t>
                      </a:r>
                      <a:r>
                        <a:rPr lang="en-US" sz="9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+mn-cs"/>
                        </a:rPr>
                        <a:t>(Former CIO, </a:t>
                      </a:r>
                      <a:r>
                        <a:rPr lang="en-US" sz="9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+mn-cs"/>
                        </a:rPr>
                        <a:t>Amgen)</a:t>
                      </a:r>
                      <a:endParaRPr lang="en-US" sz="900" b="1" i="0"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rgbClr val="DCE5EA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US" sz="900" i="0">
                          <a:latin typeface="+mn-lt"/>
                        </a:rPr>
                        <a:t>5+ years (Present)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rgbClr val="DCE5EA"/>
                      </a:fgClr>
                      <a:bgClr>
                        <a:srgbClr val="FFFFFF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536480678"/>
                  </a:ext>
                </a:extLst>
              </a:tr>
            </a:tbl>
          </a:graphicData>
        </a:graphic>
      </p:graphicFrame>
      <p:sp>
        <p:nvSpPr>
          <p:cNvPr id="35" name="Rectangle 34">
            <a:extLst>
              <a:ext uri="{FF2B5EF4-FFF2-40B4-BE49-F238E27FC236}">
                <a16:creationId xmlns:a16="http://schemas.microsoft.com/office/drawing/2014/main" id="{88CF7CD4-DB8D-1809-14B3-3DAF26C24116}"/>
              </a:ext>
            </a:extLst>
          </p:cNvPr>
          <p:cNvSpPr/>
          <p:nvPr/>
        </p:nvSpPr>
        <p:spPr bwMode="gray">
          <a:xfrm>
            <a:off x="337089" y="5048712"/>
            <a:ext cx="11519948" cy="781375"/>
          </a:xfrm>
          <a:prstGeom prst="rect">
            <a:avLst/>
          </a:prstGeom>
          <a:solidFill>
            <a:schemeClr val="bg1">
              <a:alpha val="7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r>
              <a:rPr lang="en-US" sz="1800" b="1">
                <a:solidFill>
                  <a:schemeClr val="tx1"/>
                </a:solidFill>
              </a:rPr>
              <a:t>TBU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18418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5E6F6-E621-8384-AC5A-EE5094E29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hink-cell data - do not delete" hidden="1">
            <a:extLst>
              <a:ext uri="{FF2B5EF4-FFF2-40B4-BE49-F238E27FC236}">
                <a16:creationId xmlns:a16="http://schemas.microsoft.com/office/drawing/2014/main" id="{B955725F-722A-6FA0-026D-76C2BC3B3C16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8265853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484" imgH="486" progId="TCLayout.ActiveDocument.1">
                  <p:embed/>
                </p:oleObj>
              </mc:Choice>
              <mc:Fallback>
                <p:oleObj name="think-cell Slide" r:id="rId6" imgW="484" imgH="486" progId="TCLayout.ActiveDocument.1">
                  <p:embed/>
                  <p:pic>
                    <p:nvPicPr>
                      <p:cNvPr id="2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955725F-722A-6FA0-026D-76C2BC3B3C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btfpColumnIndicatorGroup2">
            <a:extLst>
              <a:ext uri="{FF2B5EF4-FFF2-40B4-BE49-F238E27FC236}">
                <a16:creationId xmlns:a16="http://schemas.microsoft.com/office/drawing/2014/main" id="{44274F47-97E0-759D-2715-F7E3EF622C32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10" name="btfpColumnGapBlocker441445">
              <a:extLst>
                <a:ext uri="{FF2B5EF4-FFF2-40B4-BE49-F238E27FC236}">
                  <a16:creationId xmlns:a16="http://schemas.microsoft.com/office/drawing/2014/main" id="{C25B250A-D738-F4FF-E674-BC046C9A2966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8" name="btfpColumnGapBlocker378221">
              <a:extLst>
                <a:ext uri="{FF2B5EF4-FFF2-40B4-BE49-F238E27FC236}">
                  <a16:creationId xmlns:a16="http://schemas.microsoft.com/office/drawing/2014/main" id="{445539E9-56AC-CAC5-7D1F-33009271B2DD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6" name="btfpColumnIndicator210049">
              <a:extLst>
                <a:ext uri="{FF2B5EF4-FFF2-40B4-BE49-F238E27FC236}">
                  <a16:creationId xmlns:a16="http://schemas.microsoft.com/office/drawing/2014/main" id="{55D0EB3E-9230-C182-5284-B821D4D0F7D8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btfpColumnIndicator153338">
              <a:extLst>
                <a:ext uri="{FF2B5EF4-FFF2-40B4-BE49-F238E27FC236}">
                  <a16:creationId xmlns:a16="http://schemas.microsoft.com/office/drawing/2014/main" id="{2DA6E3C9-5EEF-1D0E-816E-DDBAE2A48295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btfpColumnIndicatorGroup1">
            <a:extLst>
              <a:ext uri="{FF2B5EF4-FFF2-40B4-BE49-F238E27FC236}">
                <a16:creationId xmlns:a16="http://schemas.microsoft.com/office/drawing/2014/main" id="{C09CE817-4250-60B8-CB51-F56DB6D8551B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9" name="btfpColumnGapBlocker654062">
              <a:extLst>
                <a:ext uri="{FF2B5EF4-FFF2-40B4-BE49-F238E27FC236}">
                  <a16:creationId xmlns:a16="http://schemas.microsoft.com/office/drawing/2014/main" id="{F676DC99-35F7-208B-BB40-7FEDD0080AE6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7" name="btfpColumnGapBlocker238373">
              <a:extLst>
                <a:ext uri="{FF2B5EF4-FFF2-40B4-BE49-F238E27FC236}">
                  <a16:creationId xmlns:a16="http://schemas.microsoft.com/office/drawing/2014/main" id="{D190BD4E-A980-CD41-90E2-0D65D5932F48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5" name="btfpColumnIndicator640928">
              <a:extLst>
                <a:ext uri="{FF2B5EF4-FFF2-40B4-BE49-F238E27FC236}">
                  <a16:creationId xmlns:a16="http://schemas.microsoft.com/office/drawing/2014/main" id="{2A5FAAC5-D4DF-BDA3-5811-22B0F03F6FB0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btfpColumnIndicator931819">
              <a:extLst>
                <a:ext uri="{FF2B5EF4-FFF2-40B4-BE49-F238E27FC236}">
                  <a16:creationId xmlns:a16="http://schemas.microsoft.com/office/drawing/2014/main" id="{7386CD0E-9B7A-A0AB-8A0E-F42A90AB8537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4655B3A-2BAE-5B9E-7D57-A99E5B4FF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b="1">
                <a:solidFill>
                  <a:srgbClr val="000000"/>
                </a:solidFill>
                <a:latin typeface="Arial" panose="020B0604020202020204" pitchFamily="34" charset="0"/>
              </a:rPr>
              <a:t>Delivery Talent by SL:</a:t>
            </a:r>
            <a:r>
              <a:rPr lang="en-US">
                <a:solidFill>
                  <a:srgbClr val="000000"/>
                </a:solidFill>
                <a:latin typeface="Arial" panose="020B0604020202020204" pitchFamily="34" charset="0"/>
              </a:rPr>
              <a:t> Strong domain and regulatory expertise is essential, with Sr. Pharma leadership, AI-trained talent, and TA expertise providing differentiation (1/4)</a:t>
            </a:r>
          </a:p>
        </p:txBody>
      </p:sp>
      <p:graphicFrame>
        <p:nvGraphicFramePr>
          <p:cNvPr id="20" name="btfpTable963805">
            <a:extLst>
              <a:ext uri="{FF2B5EF4-FFF2-40B4-BE49-F238E27FC236}">
                <a16:creationId xmlns:a16="http://schemas.microsoft.com/office/drawing/2014/main" id="{43AF44D5-CF99-53CB-9736-E7E9DDD78442}"/>
              </a:ext>
            </a:extLst>
          </p:cNvPr>
          <p:cNvGraphicFramePr>
            <a:graphicFrameLocks noGrp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364484691"/>
              </p:ext>
            </p:extLst>
          </p:nvPr>
        </p:nvGraphicFramePr>
        <p:xfrm>
          <a:off x="330200" y="1247947"/>
          <a:ext cx="11522712" cy="4785322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098552">
                  <a:extLst>
                    <a:ext uri="{9D8B030D-6E8A-4147-A177-3AD203B41FA5}">
                      <a16:colId xmlns:a16="http://schemas.microsoft.com/office/drawing/2014/main" val="768394406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37528416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3831465255"/>
                    </a:ext>
                  </a:extLst>
                </a:gridCol>
                <a:gridCol w="2566516">
                  <a:extLst>
                    <a:ext uri="{9D8B030D-6E8A-4147-A177-3AD203B41FA5}">
                      <a16:colId xmlns:a16="http://schemas.microsoft.com/office/drawing/2014/main" val="4141530595"/>
                    </a:ext>
                  </a:extLst>
                </a:gridCol>
                <a:gridCol w="3194204">
                  <a:extLst>
                    <a:ext uri="{9D8B030D-6E8A-4147-A177-3AD203B41FA5}">
                      <a16:colId xmlns:a16="http://schemas.microsoft.com/office/drawing/2014/main" val="1185349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defTabSz="711200" rtl="0" eaLnBrk="1" latinLnBrk="0" hangingPunct="1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US" sz="1000" b="1" i="0" u="none" baseline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Service Line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711200" rtl="0" eaLnBrk="1" latinLnBrk="0" hangingPunct="1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US" sz="1000" b="1" i="0" u="none" baseline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Key activities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711200" rtl="0" eaLnBrk="1" latinLnBrk="0" hangingPunct="1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US" sz="1000" b="1" i="0" u="none" baseline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Delivery model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711200" rtl="0" eaLnBrk="1" latinLnBrk="0" hangingPunct="1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US" sz="1000" b="1" i="0" u="none" baseline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Essentials/ table stakes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711200" rtl="0" eaLnBrk="1" latinLnBrk="0" hangingPunct="1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US" sz="1000" b="1" i="0" u="none" baseline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Differentiators/ opportunities to delight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726863"/>
                  </a:ext>
                </a:extLst>
              </a:tr>
              <a:tr h="4541482">
                <a:tc>
                  <a:txBody>
                    <a:bodyPr/>
                    <a:lstStyle/>
                    <a:p>
                      <a:pPr marL="0" lvl="0" indent="0" algn="l" defTabSz="711200" rtl="0" eaLnBrk="1" latinLnBrk="0" hangingPunct="1">
                        <a:spcBef>
                          <a:spcPts val="1200"/>
                        </a:spcBef>
                        <a:buFontTx/>
                        <a:buNone/>
                      </a:pPr>
                      <a:r>
                        <a:rPr lang="en-US" sz="1200" b="1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Medical Affairs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0" lvl="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</a:pPr>
                      <a:r>
                        <a:rPr lang="en-US" sz="1000" b="1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KOL / MSL Enablement: </a:t>
                      </a:r>
                      <a:r>
                        <a:rPr lang="en-US" sz="1000" b="0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Operational support for MSLs (documentation, briefing materials, insight capture)</a:t>
                      </a:r>
                    </a:p>
                    <a:p>
                      <a:pPr marL="177800" lvl="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</a:pPr>
                      <a:r>
                        <a:rPr lang="en-US" sz="1000" b="1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Medical Research &amp; RWE</a:t>
                      </a:r>
                      <a:r>
                        <a:rPr lang="en-US" sz="1000" b="0" i="0" u="none" baseline="3000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1</a:t>
                      </a:r>
                      <a:r>
                        <a:rPr lang="en-US" sz="1000" b="1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 Analysis: </a:t>
                      </a:r>
                      <a:r>
                        <a:rPr lang="en-US" sz="1000" b="0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Literature review, evidence synthesis, and RWE/ HEOR</a:t>
                      </a:r>
                      <a:r>
                        <a:rPr lang="en-US" sz="1000" b="0" i="0" u="none" baseline="3000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2</a:t>
                      </a:r>
                      <a:r>
                        <a:rPr lang="en-US" sz="1000" b="0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 analytics (claims/ EHR analyses, structured outputs) under sponsor oversight</a:t>
                      </a:r>
                    </a:p>
                    <a:p>
                      <a:pPr marL="177800" lvl="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</a:pPr>
                      <a:r>
                        <a:rPr lang="en-US" sz="1000" b="1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Medical Content Creation: </a:t>
                      </a:r>
                      <a:r>
                        <a:rPr lang="en-US" sz="1000" b="0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Non-promotional materials (manuscripts, abstracts, posters, FAQs, summaries, training, congress materials) aligned to sponsor narrative</a:t>
                      </a:r>
                    </a:p>
                    <a:p>
                      <a:pPr marL="177800" lvl="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</a:pPr>
                      <a:r>
                        <a:rPr lang="en-US" sz="1000" b="1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Medical Content Approval (MLR</a:t>
                      </a:r>
                      <a:r>
                        <a:rPr lang="en-US" sz="1000" b="0" i="0" u="none" baseline="3000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3</a:t>
                      </a:r>
                      <a:r>
                        <a:rPr lang="en-US" sz="1000" b="1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) &amp; MI Support: </a:t>
                      </a:r>
                      <a:r>
                        <a:rPr lang="en-US" sz="1000" b="0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Medical Information drafting and MLR workflow coordination: routing, version control, reconciliation, approval tracking, audit documentation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0" lvl="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</a:pPr>
                      <a:r>
                        <a:rPr lang="en-US" sz="1000" b="1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Onshore:</a:t>
                      </a:r>
                      <a:r>
                        <a:rPr lang="en-US" sz="1000" b="0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 Sponsor interface, KOL/MSL support, therapeutic interpretation, strategic content review, RWE/ HEOR insights, compliance, and scientific sign-off</a:t>
                      </a:r>
                    </a:p>
                    <a:p>
                      <a:pPr marL="177800" lvl="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</a:pPr>
                      <a:r>
                        <a:rPr lang="en-US" sz="1000" b="1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Offshore:</a:t>
                      </a:r>
                      <a:r>
                        <a:rPr lang="en-US" sz="1000" b="0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 SOP-driven execution incl. publication/ congress asset support, literature reviews, Medical Information drafting, content production, RWE/HEOR analytics, and MLR coordination under QA oversight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0" lvl="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</a:pPr>
                      <a:r>
                        <a:rPr lang="en-US" sz="1000" b="1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MI &amp; Content Engine: </a:t>
                      </a:r>
                      <a:r>
                        <a:rPr lang="en-US" sz="1000" b="0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FDA-trained MI specialists, literature search, AE triage, Veeva documentation. Content teams skilled in congress assets, formatting, and visualization within SLA-driven frameworks</a:t>
                      </a:r>
                    </a:p>
                    <a:p>
                      <a:pPr marL="177800" lvl="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</a:pPr>
                      <a:r>
                        <a:rPr lang="en-US" sz="1000" b="1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MLR &amp; Governance: </a:t>
                      </a:r>
                      <a:r>
                        <a:rPr lang="en-US" sz="1000" b="0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PromoMats coordinators managing routing, reconciliation, version control, and audit trails</a:t>
                      </a:r>
                    </a:p>
                    <a:p>
                      <a:pPr marL="177800" lvl="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</a:pPr>
                      <a:r>
                        <a:rPr lang="en-US" sz="1000" b="1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RWE / HEOR Execution: </a:t>
                      </a:r>
                      <a:r>
                        <a:rPr lang="en-US" sz="1000" b="0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Analysts supporting claims/ EHR analytics, AMCP</a:t>
                      </a:r>
                      <a:r>
                        <a:rPr lang="en-US" sz="1000" b="0" i="0" u="none" baseline="3000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4</a:t>
                      </a:r>
                      <a:r>
                        <a:rPr lang="en-US" sz="1000" b="0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 inputs, and structured outputs under sponsor oversight, ensuring data execution and interpretation separation </a:t>
                      </a:r>
                      <a:r>
                        <a:rPr lang="en-US" sz="1000" b="0" i="1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(latter retained inhouse)</a:t>
                      </a:r>
                    </a:p>
                    <a:p>
                      <a:pPr marL="177800" lvl="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</a:pPr>
                      <a:r>
                        <a:rPr lang="en-US" sz="1000" b="1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GxP Leadership &amp; Scalable Workforce: </a:t>
                      </a:r>
                      <a:r>
                        <a:rPr lang="en-US" sz="1000" b="0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Governance leads ensure GxP, inspection readiness, HIPAA compliance, and deviation management, backed by multi-region staffing for surges and 24x7 delivery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0" lvl="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</a:pPr>
                      <a:r>
                        <a:rPr lang="en-US" sz="1000" b="1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Therapeutic Expertise: </a:t>
                      </a:r>
                      <a:r>
                        <a:rPr lang="en-US" sz="1000" b="0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Focused TA expertise (oncology, CNS, rare disease) establishes specialization over generalization</a:t>
                      </a:r>
                    </a:p>
                    <a:p>
                      <a:pPr marL="177800" lvl="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</a:pPr>
                      <a:r>
                        <a:rPr lang="en-US" sz="1000" b="1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Anchored Leadership Bench: </a:t>
                      </a:r>
                      <a:r>
                        <a:rPr lang="en-US" sz="1000" b="0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Senior PhD/PharmD leadership minimizes rework, speeds approvals, and navigates complex interpretation</a:t>
                      </a:r>
                    </a:p>
                    <a:p>
                      <a:pPr marL="355600" lvl="1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</a:pPr>
                      <a:r>
                        <a:rPr lang="en-US" sz="800" b="0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For e.g., PhDs make up 20%+ of Open Health talent, ~10% for Eversana, Parexel, and Syneos</a:t>
                      </a:r>
                    </a:p>
                    <a:p>
                      <a:pPr marL="177800" lvl="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</a:pPr>
                      <a:r>
                        <a:rPr lang="en-US" sz="1000" b="1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Operational &amp; QA Discipline: </a:t>
                      </a:r>
                      <a:r>
                        <a:rPr lang="en-US" sz="1000" b="0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Low error rates, fast reviews, and audit-ready processes highlight governance maturity</a:t>
                      </a:r>
                    </a:p>
                    <a:p>
                      <a:pPr marL="177800" lvl="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</a:pPr>
                      <a:r>
                        <a:rPr lang="en-US" sz="1000" b="1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Scalable Content Engine: </a:t>
                      </a:r>
                      <a:r>
                        <a:rPr lang="en-US" sz="1000" b="0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Supports launch peaks, congress cycles, and multi-region execution without quality loss</a:t>
                      </a:r>
                    </a:p>
                    <a:p>
                      <a:pPr marL="177800" lvl="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</a:pPr>
                      <a:r>
                        <a:rPr lang="en-US" sz="1000" b="1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Advanced RWE, HEOR &amp; Insights: </a:t>
                      </a:r>
                      <a:r>
                        <a:rPr lang="en-US" sz="1000" b="0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Analysts deliver structured RWE/HEOR outputs; MSL analytics turn field input into intelligence under sponsor oversight</a:t>
                      </a:r>
                    </a:p>
                    <a:p>
                      <a:pPr marL="177800" lvl="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</a:pPr>
                      <a:r>
                        <a:rPr lang="en-US" sz="1000" b="1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Multi-Partner Fluency &amp; Deployment: </a:t>
                      </a:r>
                      <a:r>
                        <a:rPr lang="en-US" sz="1000" b="0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Operational fluency integrating into sponsor-owned Veeva / MedComms environments without workflow disruption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95431"/>
                  </a:ext>
                </a:extLst>
              </a:tr>
            </a:tbl>
          </a:graphicData>
        </a:graphic>
      </p:graphicFrame>
      <p:sp>
        <p:nvSpPr>
          <p:cNvPr id="15" name="btfpNotesBox982587">
            <a:extLst>
              <a:ext uri="{FF2B5EF4-FFF2-40B4-BE49-F238E27FC236}">
                <a16:creationId xmlns:a16="http://schemas.microsoft.com/office/drawing/2014/main" id="{C4720269-EBBC-FC52-9A85-6A6397CD1558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gray">
          <a:xfrm>
            <a:off x="370645" y="6460871"/>
            <a:ext cx="10815316" cy="123111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b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Note: 1. Real-World Evidence, 2. Health Economics and Outcomes Research, 3. Medical-Legal-Regulatory, 4. Academy of Managed Care Pharmacy | Source: Market participant interviews, Secondary research, Bain analysis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99B13F0-5F19-9F33-4BAB-C1DF534DEE3F}"/>
              </a:ext>
            </a:extLst>
          </p:cNvPr>
          <p:cNvSpPr/>
          <p:nvPr/>
        </p:nvSpPr>
        <p:spPr bwMode="gray">
          <a:xfrm>
            <a:off x="8857235" y="945269"/>
            <a:ext cx="2999803" cy="216730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rgbClr val="C00000"/>
                </a:solidFill>
                <a:latin typeface="Arial" panose="020B0604020202020204" pitchFamily="34" charset="0"/>
              </a:rPr>
              <a:t>Sree/ Karthik to help identify </a:t>
            </a:r>
            <a:r>
              <a:rPr lang="en-US" sz="800" b="1" err="1">
                <a:solidFill>
                  <a:srgbClr val="C00000"/>
                </a:solidFill>
                <a:latin typeface="Arial" panose="020B0604020202020204" pitchFamily="34" charset="0"/>
              </a:rPr>
              <a:t>Sagility’s</a:t>
            </a:r>
            <a:r>
              <a:rPr lang="en-US" sz="800" b="1">
                <a:solidFill>
                  <a:srgbClr val="C00000"/>
                </a:solidFill>
                <a:latin typeface="Arial" panose="020B0604020202020204" pitchFamily="34" charset="0"/>
              </a:rPr>
              <a:t> existing capabilities</a:t>
            </a:r>
          </a:p>
        </p:txBody>
      </p:sp>
      <p:sp>
        <p:nvSpPr>
          <p:cNvPr id="21" name="btfpNumberBubble399258">
            <a:extLst>
              <a:ext uri="{FF2B5EF4-FFF2-40B4-BE49-F238E27FC236}">
                <a16:creationId xmlns:a16="http://schemas.microsoft.com/office/drawing/2014/main" id="{9E1C0546-AFA4-3700-4770-FB36FBE97B0C}"/>
              </a:ext>
            </a:extLst>
          </p:cNvPr>
          <p:cNvSpPr/>
          <p:nvPr/>
        </p:nvSpPr>
        <p:spPr bwMode="gray">
          <a:xfrm>
            <a:off x="54684" y="82614"/>
            <a:ext cx="288636" cy="28863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400" b="1">
                <a:solidFill>
                  <a:srgbClr val="CC0000"/>
                </a:solidFill>
              </a:rPr>
              <a:t>5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481247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A94A0-6D91-644C-2F30-B498258D6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" name="think-cell data - do not delete" hidden="1">
            <a:extLst>
              <a:ext uri="{FF2B5EF4-FFF2-40B4-BE49-F238E27FC236}">
                <a16:creationId xmlns:a16="http://schemas.microsoft.com/office/drawing/2014/main" id="{5C215C4B-F2E9-51A4-C5F2-7D69B23C63AE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3719018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484" imgH="486" progId="TCLayout.ActiveDocument.1">
                  <p:embed/>
                </p:oleObj>
              </mc:Choice>
              <mc:Fallback>
                <p:oleObj name="think-cell Slide" r:id="rId6" imgW="484" imgH="486" progId="TCLayout.ActiveDocument.1">
                  <p:embed/>
                  <p:pic>
                    <p:nvPicPr>
                      <p:cNvPr id="3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C215C4B-F2E9-51A4-C5F2-7D69B23C63A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btfpColumnIndicatorGroup2">
            <a:extLst>
              <a:ext uri="{FF2B5EF4-FFF2-40B4-BE49-F238E27FC236}">
                <a16:creationId xmlns:a16="http://schemas.microsoft.com/office/drawing/2014/main" id="{39BEE23C-6BFC-86EE-D034-C7DD285C374D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10" name="btfpColumnGapBlocker441445">
              <a:extLst>
                <a:ext uri="{FF2B5EF4-FFF2-40B4-BE49-F238E27FC236}">
                  <a16:creationId xmlns:a16="http://schemas.microsoft.com/office/drawing/2014/main" id="{FA1C7531-6E88-5F32-56E7-E7CD12182DC7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8" name="btfpColumnGapBlocker378221">
              <a:extLst>
                <a:ext uri="{FF2B5EF4-FFF2-40B4-BE49-F238E27FC236}">
                  <a16:creationId xmlns:a16="http://schemas.microsoft.com/office/drawing/2014/main" id="{B4B467F9-DE92-766E-FDEB-518072E51142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6" name="btfpColumnIndicator210049">
              <a:extLst>
                <a:ext uri="{FF2B5EF4-FFF2-40B4-BE49-F238E27FC236}">
                  <a16:creationId xmlns:a16="http://schemas.microsoft.com/office/drawing/2014/main" id="{8E06B057-A681-9C3A-A796-EEBCEC9F3D9C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btfpColumnIndicator153338">
              <a:extLst>
                <a:ext uri="{FF2B5EF4-FFF2-40B4-BE49-F238E27FC236}">
                  <a16:creationId xmlns:a16="http://schemas.microsoft.com/office/drawing/2014/main" id="{67730FE3-7D07-C104-AD4D-A32D94131C42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btfpColumnIndicatorGroup1">
            <a:extLst>
              <a:ext uri="{FF2B5EF4-FFF2-40B4-BE49-F238E27FC236}">
                <a16:creationId xmlns:a16="http://schemas.microsoft.com/office/drawing/2014/main" id="{B2DE98FA-CE6E-29E2-C247-ADC77BADF2C2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9" name="btfpColumnGapBlocker654062">
              <a:extLst>
                <a:ext uri="{FF2B5EF4-FFF2-40B4-BE49-F238E27FC236}">
                  <a16:creationId xmlns:a16="http://schemas.microsoft.com/office/drawing/2014/main" id="{FAB436F3-CA16-6FC6-5780-6948511F2FC7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7" name="btfpColumnGapBlocker238373">
              <a:extLst>
                <a:ext uri="{FF2B5EF4-FFF2-40B4-BE49-F238E27FC236}">
                  <a16:creationId xmlns:a16="http://schemas.microsoft.com/office/drawing/2014/main" id="{B2C114C8-33DF-304B-18DA-0F484A7EC345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5" name="btfpColumnIndicator640928">
              <a:extLst>
                <a:ext uri="{FF2B5EF4-FFF2-40B4-BE49-F238E27FC236}">
                  <a16:creationId xmlns:a16="http://schemas.microsoft.com/office/drawing/2014/main" id="{CE473F2A-D534-626A-121E-48A792B5C825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btfpColumnIndicator931819">
              <a:extLst>
                <a:ext uri="{FF2B5EF4-FFF2-40B4-BE49-F238E27FC236}">
                  <a16:creationId xmlns:a16="http://schemas.microsoft.com/office/drawing/2014/main" id="{4F3C8837-EE6D-1BFC-F041-11C4E3B40471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9E790BC-AF2D-56C5-FFAD-DB6179AB2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b="1">
                <a:solidFill>
                  <a:srgbClr val="000000"/>
                </a:solidFill>
                <a:latin typeface="Arial" panose="020B0604020202020204" pitchFamily="34" charset="0"/>
              </a:rPr>
              <a:t>Delivery Talent by SL:</a:t>
            </a:r>
            <a:r>
              <a:rPr lang="en-US">
                <a:solidFill>
                  <a:srgbClr val="000000"/>
                </a:solidFill>
                <a:latin typeface="Arial" panose="020B0604020202020204" pitchFamily="34" charset="0"/>
              </a:rPr>
              <a:t> Strong domain and regulatory expertise is essential, with Sr. Pharma leadership, AI-trained talent, and TA expertise providing differentiation (2/4)</a:t>
            </a:r>
          </a:p>
        </p:txBody>
      </p:sp>
      <p:graphicFrame>
        <p:nvGraphicFramePr>
          <p:cNvPr id="20" name="btfpTable963805">
            <a:extLst>
              <a:ext uri="{FF2B5EF4-FFF2-40B4-BE49-F238E27FC236}">
                <a16:creationId xmlns:a16="http://schemas.microsoft.com/office/drawing/2014/main" id="{60727A13-58BD-9626-8E44-C8AEB90036A2}"/>
              </a:ext>
            </a:extLst>
          </p:cNvPr>
          <p:cNvGraphicFramePr>
            <a:graphicFrameLocks noGrp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317907513"/>
              </p:ext>
            </p:extLst>
          </p:nvPr>
        </p:nvGraphicFramePr>
        <p:xfrm>
          <a:off x="330198" y="1269999"/>
          <a:ext cx="11522712" cy="4785322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098552">
                  <a:extLst>
                    <a:ext uri="{9D8B030D-6E8A-4147-A177-3AD203B41FA5}">
                      <a16:colId xmlns:a16="http://schemas.microsoft.com/office/drawing/2014/main" val="768394406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37528416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3831465255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4141530595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1185349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defTabSz="711200" rtl="0" eaLnBrk="1" latinLnBrk="0" hangingPunct="1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US" sz="1000" b="1" i="0" u="none" baseline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Service Line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711200" rtl="0" eaLnBrk="1" latinLnBrk="0" hangingPunct="1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US" sz="1000" b="1" i="0" u="none" baseline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Key activities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711200" rtl="0" eaLnBrk="1" latinLnBrk="0" hangingPunct="1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US" sz="1000" b="1" i="0" u="none" baseline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Delivery model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711200" rtl="0" eaLnBrk="1" latinLnBrk="0" hangingPunct="1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US" sz="1000" b="1" i="0" u="none" baseline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Essentials/ table stakes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711200" rtl="0" eaLnBrk="1" latinLnBrk="0" hangingPunct="1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US" sz="1000" b="1" i="0" u="none" baseline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Differentiators/ opportunities to delight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726863"/>
                  </a:ext>
                </a:extLst>
              </a:tr>
              <a:tr h="4541482">
                <a:tc>
                  <a:txBody>
                    <a:bodyPr/>
                    <a:lstStyle/>
                    <a:p>
                      <a:pPr marL="0" lvl="0" indent="0" algn="l" defTabSz="711200" rtl="0" eaLnBrk="1" latinLnBrk="0" hangingPunct="1">
                        <a:spcBef>
                          <a:spcPts val="1200"/>
                        </a:spcBef>
                        <a:buFontTx/>
                        <a:buNone/>
                      </a:pPr>
                      <a:r>
                        <a:rPr lang="en-US" sz="1200" b="1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Pharmaco-vigilance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0" lvl="0" indent="-177800" algn="l">
                        <a:spcBef>
                          <a:spcPts val="1200"/>
                        </a:spcBef>
                      </a:pPr>
                      <a:r>
                        <a:rPr lang="en-US" sz="1000" b="1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ICSR</a:t>
                      </a:r>
                      <a:r>
                        <a:rPr lang="en-US" sz="1000" b="1" i="0" u="none" baseline="3000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1</a:t>
                      </a:r>
                      <a:r>
                        <a:rPr lang="en-US" sz="1000" b="1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 intake, triage, and data entry </a:t>
                      </a:r>
                      <a:r>
                        <a:rPr lang="en-US" sz="1000" b="0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into safety databases (e.g., Argus, ArisGlobal) with narrative drafting, seriousness and expectedness checks under sponsor protocols</a:t>
                      </a:r>
                    </a:p>
                    <a:p>
                      <a:pPr marL="177800" lvl="0" indent="-177800" algn="l">
                        <a:spcBef>
                          <a:spcPts val="1200"/>
                        </a:spcBef>
                      </a:pPr>
                      <a:r>
                        <a:rPr lang="en-US" sz="1000" b="1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MedDRA and WHO Drug coding </a:t>
                      </a:r>
                      <a:r>
                        <a:rPr lang="en-US" sz="1000" b="0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with coding governance and inter-coder consistency controls</a:t>
                      </a:r>
                    </a:p>
                    <a:p>
                      <a:pPr marL="177800" lvl="0" indent="-177800" algn="l">
                        <a:spcBef>
                          <a:spcPts val="1200"/>
                        </a:spcBef>
                      </a:pPr>
                      <a:r>
                        <a:rPr lang="en-US" sz="1000" b="1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Independent QC review </a:t>
                      </a:r>
                      <a:r>
                        <a:rPr lang="en-US" sz="1000" b="0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incl. completeness validation, duplicate detection, documentation integrity, literature screening, and case identification under sponsor workflows</a:t>
                      </a:r>
                    </a:p>
                    <a:p>
                      <a:pPr marL="177800" lvl="0" indent="-177800" algn="l">
                        <a:spcBef>
                          <a:spcPts val="1200"/>
                        </a:spcBef>
                      </a:pPr>
                      <a:r>
                        <a:rPr lang="en-US" sz="1000" b="1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Ops support for expedited FDA safety submissions</a:t>
                      </a:r>
                      <a:r>
                        <a:rPr lang="en-US" sz="1000" b="0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, aggregate safety reports (e.g., IND safety reports, DSUR</a:t>
                      </a:r>
                      <a:r>
                        <a:rPr lang="en-US" sz="1000" b="0" i="0" u="none" baseline="3000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2</a:t>
                      </a:r>
                      <a:r>
                        <a:rPr lang="en-US" sz="1000" b="0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), and regulatory interactions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0" lvl="0" indent="-177800" algn="l" defTabSz="711200" rtl="0" eaLnBrk="1" latinLnBrk="0" hangingPunct="1">
                        <a:spcBef>
                          <a:spcPts val="1800"/>
                        </a:spcBef>
                        <a:buChar char="•"/>
                      </a:pPr>
                      <a:r>
                        <a:rPr lang="en-US" sz="1000" b="0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Offshore delivery handles </a:t>
                      </a:r>
                      <a:r>
                        <a:rPr lang="en-US" sz="1000" b="1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high-volume, process-driven pharmacovigilance tasks</a:t>
                      </a:r>
                      <a:r>
                        <a:rPr lang="en-US" sz="1000" b="0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 – ICSR intake, data entry, coding, narrative drafting, QC, and literature screening – under strict SLAs and QA controls</a:t>
                      </a:r>
                    </a:p>
                    <a:p>
                      <a:pPr marL="355600" lvl="1" indent="-177800" algn="l" defTabSz="711200" rtl="0" eaLnBrk="1" latinLnBrk="0" hangingPunct="1">
                        <a:spcBef>
                          <a:spcPts val="900"/>
                        </a:spcBef>
                        <a:buChar char="–"/>
                      </a:pPr>
                      <a:r>
                        <a:rPr lang="en-US" sz="800" b="0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Offshore execution relevant in pharmacovigilance as workflows are structured, repeatable, and rule-based, provided robust quality and documentation discipline is maintained</a:t>
                      </a:r>
                    </a:p>
                    <a:p>
                      <a:pPr marL="177800" lvl="0" indent="-177800" algn="l" defTabSz="711200" rtl="0" eaLnBrk="1" latinLnBrk="0" hangingPunct="1">
                        <a:spcBef>
                          <a:spcPts val="1800"/>
                        </a:spcBef>
                        <a:buChar char="•"/>
                      </a:pPr>
                      <a:r>
                        <a:rPr lang="en-US" sz="1000" b="1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Onshore governance layer</a:t>
                      </a:r>
                      <a:r>
                        <a:rPr lang="en-US" sz="1000" b="0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 (retained by sponsor or CRO) responsible for medical review, final causality determination, signal validation, safety governance, regulatory interactions, and safety strategy sign-off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1000" b="1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Certified PV case processors: </a:t>
                      </a:r>
                      <a:r>
                        <a:rPr lang="en-US" sz="1000" b="0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Trained ICSR processors experienced in FDA reporting timelines; proficient in safety databases like Argus or ArisGlobal, including narrative writing and seriousness/ expectedness checks</a:t>
                      </a:r>
                    </a:p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1000" b="1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MedDRA and WHO-DD coders: </a:t>
                      </a:r>
                      <a:r>
                        <a:rPr lang="en-US" sz="1000" b="0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Highly skilled coders with low inter-coder variability and SMQ familiarity</a:t>
                      </a:r>
                    </a:p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1000" b="1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Independent QC Reviewers: </a:t>
                      </a:r>
                      <a:r>
                        <a:rPr lang="en-US" sz="1000" b="0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Trained in completeness checks, duplicate detection, and validation; operating under SOP frameworks and supporting inspection-readiness documentation</a:t>
                      </a:r>
                    </a:p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1000" b="1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Operational Leads: </a:t>
                      </a:r>
                      <a:r>
                        <a:rPr lang="en-US" sz="1000" b="0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Experienced in managing case spikes post-launch, SLA tracking, workload balancing, and CAPA</a:t>
                      </a:r>
                      <a:r>
                        <a:rPr lang="en-US" sz="1000" b="0" i="0" u="none" baseline="3000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3</a:t>
                      </a:r>
                      <a:r>
                        <a:rPr lang="en-US" sz="1000" b="0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 management in regulated PV environments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0" lvl="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</a:pPr>
                      <a:r>
                        <a:rPr lang="en-US" sz="1000" b="1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AI-assisted coding and triage: </a:t>
                      </a:r>
                      <a:r>
                        <a:rPr lang="en-US" sz="1000" b="0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Talent skilled in AI-supported coding with human validation and audit logic</a:t>
                      </a:r>
                    </a:p>
                    <a:p>
                      <a:pPr marL="177800" lvl="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</a:pPr>
                      <a:r>
                        <a:rPr lang="en-US" sz="1000" b="1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Predictive surge elasticity modeling: </a:t>
                      </a:r>
                      <a:r>
                        <a:rPr lang="en-US" sz="1000" b="0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Proactive staffing adjustments during label expansions or post-launch volume spikes</a:t>
                      </a:r>
                    </a:p>
                    <a:p>
                      <a:pPr marL="177800" lvl="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</a:pPr>
                      <a:r>
                        <a:rPr lang="en-US" sz="1000" b="1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Inspection-Grade Operational Discipline:</a:t>
                      </a:r>
                      <a:r>
                        <a:rPr lang="en-US" sz="1000" b="0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 Talent demonstrating inspection-grade documentation discipline and preparedness is a purchase trigger (“Can you survive an audit?” is a typical KPC) and key differentiator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95431"/>
                  </a:ext>
                </a:extLst>
              </a:tr>
            </a:tbl>
          </a:graphicData>
        </a:graphic>
      </p:graphicFrame>
      <p:sp>
        <p:nvSpPr>
          <p:cNvPr id="15" name="btfpNotesBox982587">
            <a:extLst>
              <a:ext uri="{FF2B5EF4-FFF2-40B4-BE49-F238E27FC236}">
                <a16:creationId xmlns:a16="http://schemas.microsoft.com/office/drawing/2014/main" id="{571288FB-5CFD-D5E6-3EAE-50DCB27FF41A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gray">
          <a:xfrm>
            <a:off x="330200" y="6341442"/>
            <a:ext cx="9832105" cy="246221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b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Note: 1. Individual Case Safety Report, 2. Development Safety Update Report, 3. Corrective and Preventive Action</a:t>
            </a:r>
            <a:b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Source: Market participant interviews, Secondary research, Bain analysis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AB74E71-C817-E5AE-627A-07E616FD2FF5}"/>
              </a:ext>
            </a:extLst>
          </p:cNvPr>
          <p:cNvSpPr/>
          <p:nvPr/>
        </p:nvSpPr>
        <p:spPr bwMode="gray">
          <a:xfrm>
            <a:off x="8857235" y="945269"/>
            <a:ext cx="2999803" cy="216730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rgbClr val="C00000"/>
                </a:solidFill>
                <a:latin typeface="Arial" panose="020B0604020202020204" pitchFamily="34" charset="0"/>
              </a:rPr>
              <a:t>Sree/ Karthik to help identify </a:t>
            </a:r>
            <a:r>
              <a:rPr lang="en-US" sz="800" b="1" err="1">
                <a:solidFill>
                  <a:srgbClr val="C00000"/>
                </a:solidFill>
                <a:latin typeface="Arial" panose="020B0604020202020204" pitchFamily="34" charset="0"/>
              </a:rPr>
              <a:t>Sagility’s</a:t>
            </a:r>
            <a:r>
              <a:rPr lang="en-US" sz="800" b="1">
                <a:solidFill>
                  <a:srgbClr val="C00000"/>
                </a:solidFill>
                <a:latin typeface="Arial" panose="020B0604020202020204" pitchFamily="34" charset="0"/>
              </a:rPr>
              <a:t> existing capabilities</a:t>
            </a:r>
          </a:p>
        </p:txBody>
      </p:sp>
      <p:sp>
        <p:nvSpPr>
          <p:cNvPr id="19" name="btfpNumberBubble399258">
            <a:extLst>
              <a:ext uri="{FF2B5EF4-FFF2-40B4-BE49-F238E27FC236}">
                <a16:creationId xmlns:a16="http://schemas.microsoft.com/office/drawing/2014/main" id="{DB1B51FD-8331-761A-BACB-B493154C599B}"/>
              </a:ext>
            </a:extLst>
          </p:cNvPr>
          <p:cNvSpPr/>
          <p:nvPr/>
        </p:nvSpPr>
        <p:spPr bwMode="gray">
          <a:xfrm>
            <a:off x="54684" y="82614"/>
            <a:ext cx="288636" cy="28863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400" b="1">
                <a:solidFill>
                  <a:srgbClr val="CC0000"/>
                </a:solidFill>
              </a:rPr>
              <a:t>5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729718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6F711-6F1F-3B0A-79C9-8A35DA6EA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think-cell data - do not delete" hidden="1">
            <a:extLst>
              <a:ext uri="{FF2B5EF4-FFF2-40B4-BE49-F238E27FC236}">
                <a16:creationId xmlns:a16="http://schemas.microsoft.com/office/drawing/2014/main" id="{3F520D23-CC46-C304-AA66-817554811340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5615626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484" imgH="486" progId="TCLayout.ActiveDocument.1">
                  <p:embed/>
                </p:oleObj>
              </mc:Choice>
              <mc:Fallback>
                <p:oleObj name="think-cell Slide" r:id="rId6" imgW="484" imgH="486" progId="TCLayout.ActiveDocument.1">
                  <p:embed/>
                  <p:pic>
                    <p:nvPicPr>
                      <p:cNvPr id="3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F520D23-CC46-C304-AA66-81755481134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btfpColumnIndicatorGroup2">
            <a:extLst>
              <a:ext uri="{FF2B5EF4-FFF2-40B4-BE49-F238E27FC236}">
                <a16:creationId xmlns:a16="http://schemas.microsoft.com/office/drawing/2014/main" id="{2D63883B-41CC-12A7-A032-AA96C8F6CE72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10" name="btfpColumnGapBlocker441445">
              <a:extLst>
                <a:ext uri="{FF2B5EF4-FFF2-40B4-BE49-F238E27FC236}">
                  <a16:creationId xmlns:a16="http://schemas.microsoft.com/office/drawing/2014/main" id="{853B1897-9305-D837-916F-E3EBEB506D4D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8" name="btfpColumnGapBlocker378221">
              <a:extLst>
                <a:ext uri="{FF2B5EF4-FFF2-40B4-BE49-F238E27FC236}">
                  <a16:creationId xmlns:a16="http://schemas.microsoft.com/office/drawing/2014/main" id="{02A341F5-7EED-E7B7-97A8-04BC0BF6E846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6" name="btfpColumnIndicator210049">
              <a:extLst>
                <a:ext uri="{FF2B5EF4-FFF2-40B4-BE49-F238E27FC236}">
                  <a16:creationId xmlns:a16="http://schemas.microsoft.com/office/drawing/2014/main" id="{A24E10E3-47AC-A4E4-298D-82B6A3E6109B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btfpColumnIndicator153338">
              <a:extLst>
                <a:ext uri="{FF2B5EF4-FFF2-40B4-BE49-F238E27FC236}">
                  <a16:creationId xmlns:a16="http://schemas.microsoft.com/office/drawing/2014/main" id="{EB1CBCAC-7987-2A86-2712-FA1BDDD02CC5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btfpColumnIndicatorGroup1">
            <a:extLst>
              <a:ext uri="{FF2B5EF4-FFF2-40B4-BE49-F238E27FC236}">
                <a16:creationId xmlns:a16="http://schemas.microsoft.com/office/drawing/2014/main" id="{3EA4F957-C7C1-CCB2-5B5A-2A43637BE440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9" name="btfpColumnGapBlocker654062">
              <a:extLst>
                <a:ext uri="{FF2B5EF4-FFF2-40B4-BE49-F238E27FC236}">
                  <a16:creationId xmlns:a16="http://schemas.microsoft.com/office/drawing/2014/main" id="{75AC991B-B529-A419-0446-CC244315AAEA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7" name="btfpColumnGapBlocker238373">
              <a:extLst>
                <a:ext uri="{FF2B5EF4-FFF2-40B4-BE49-F238E27FC236}">
                  <a16:creationId xmlns:a16="http://schemas.microsoft.com/office/drawing/2014/main" id="{D95D1754-7961-7EE6-49C0-5774DB40CC9A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5" name="btfpColumnIndicator640928">
              <a:extLst>
                <a:ext uri="{FF2B5EF4-FFF2-40B4-BE49-F238E27FC236}">
                  <a16:creationId xmlns:a16="http://schemas.microsoft.com/office/drawing/2014/main" id="{56B6664A-37E0-40A2-0651-1980ECFA5E38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btfpColumnIndicator931819">
              <a:extLst>
                <a:ext uri="{FF2B5EF4-FFF2-40B4-BE49-F238E27FC236}">
                  <a16:creationId xmlns:a16="http://schemas.microsoft.com/office/drawing/2014/main" id="{34E086D1-5514-4233-42CD-583B7B3F809A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0" name="btfpTable963805">
            <a:extLst>
              <a:ext uri="{FF2B5EF4-FFF2-40B4-BE49-F238E27FC236}">
                <a16:creationId xmlns:a16="http://schemas.microsoft.com/office/drawing/2014/main" id="{3266F837-DAD3-2BAD-66BB-604C1C0999FC}"/>
              </a:ext>
            </a:extLst>
          </p:cNvPr>
          <p:cNvGraphicFramePr>
            <a:graphicFrameLocks noGrp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818734404"/>
              </p:ext>
            </p:extLst>
          </p:nvPr>
        </p:nvGraphicFramePr>
        <p:xfrm>
          <a:off x="330198" y="1287583"/>
          <a:ext cx="11570655" cy="4785322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095930">
                  <a:extLst>
                    <a:ext uri="{9D8B030D-6E8A-4147-A177-3AD203B41FA5}">
                      <a16:colId xmlns:a16="http://schemas.microsoft.com/office/drawing/2014/main" val="768394406"/>
                    </a:ext>
                  </a:extLst>
                </a:gridCol>
                <a:gridCol w="3022780">
                  <a:extLst>
                    <a:ext uri="{9D8B030D-6E8A-4147-A177-3AD203B41FA5}">
                      <a16:colId xmlns:a16="http://schemas.microsoft.com/office/drawing/2014/main" val="375284160"/>
                    </a:ext>
                  </a:extLst>
                </a:gridCol>
                <a:gridCol w="2416975">
                  <a:extLst>
                    <a:ext uri="{9D8B030D-6E8A-4147-A177-3AD203B41FA5}">
                      <a16:colId xmlns:a16="http://schemas.microsoft.com/office/drawing/2014/main" val="3831465255"/>
                    </a:ext>
                  </a:extLst>
                </a:gridCol>
                <a:gridCol w="2427889">
                  <a:extLst>
                    <a:ext uri="{9D8B030D-6E8A-4147-A177-3AD203B41FA5}">
                      <a16:colId xmlns:a16="http://schemas.microsoft.com/office/drawing/2014/main" val="4141530595"/>
                    </a:ext>
                  </a:extLst>
                </a:gridCol>
                <a:gridCol w="2607081">
                  <a:extLst>
                    <a:ext uri="{9D8B030D-6E8A-4147-A177-3AD203B41FA5}">
                      <a16:colId xmlns:a16="http://schemas.microsoft.com/office/drawing/2014/main" val="1185349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defTabSz="711200" rtl="0" eaLnBrk="1" latinLnBrk="0" hangingPunct="1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US" sz="1000" b="1" i="0" u="none" baseline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Service Line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711200" rtl="0" eaLnBrk="1" latinLnBrk="0" hangingPunct="1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US" sz="1000" b="1" i="0" u="none" baseline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Key activities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711200" rtl="0" eaLnBrk="1" latinLnBrk="0" hangingPunct="1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US" sz="1000" b="1" i="0" u="none" baseline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Delivery model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711200" rtl="0" eaLnBrk="1" latinLnBrk="0" hangingPunct="1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US" sz="1000" b="1" i="0" u="none" baseline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Essentials/ table stakes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711200" rtl="0" eaLnBrk="1" latinLnBrk="0" hangingPunct="1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US" sz="1000" b="1" i="0" u="none" baseline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Differentiators/ opportunities to delight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726863"/>
                  </a:ext>
                </a:extLst>
              </a:tr>
              <a:tr h="4541482">
                <a:tc>
                  <a:txBody>
                    <a:bodyPr/>
                    <a:lstStyle/>
                    <a:p>
                      <a:pPr marL="0" lvl="0" indent="0" algn="l" defTabSz="711200" rtl="0" eaLnBrk="1" latinLnBrk="0" hangingPunct="1">
                        <a:spcBef>
                          <a:spcPts val="1200"/>
                        </a:spcBef>
                        <a:buFontTx/>
                        <a:buNone/>
                      </a:pPr>
                      <a:r>
                        <a:rPr lang="en-US" sz="1200" b="1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Commercial (S&amp;M)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1000" b="1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Campaign asset production and lifecycle mgmt.</a:t>
                      </a:r>
                      <a:r>
                        <a:rPr lang="en-US" sz="1000" b="0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: Creation &amp; governance of detail aids, email templates, modular assets, congress materials, and promotional collateral</a:t>
                      </a:r>
                    </a:p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1000" b="1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MLR workflow coordination &amp; asset routing:</a:t>
                      </a:r>
                      <a:r>
                        <a:rPr lang="en-US" sz="1000" b="0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 Submission packaging, claim annotation, reviewer comment reconciliation, version control, approval tracking, and expiry mgmt.</a:t>
                      </a:r>
                    </a:p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1000" b="1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CRM admin and commercial ops enablement:</a:t>
                      </a:r>
                      <a:r>
                        <a:rPr lang="en-US" sz="1000" b="0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 Territory updates, call reporting setup, data hygiene, rep onboarding, sample tracking, incentive compensation, and dashboarding</a:t>
                      </a:r>
                    </a:p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1000" b="1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Omnichannel campaign deployment ops:</a:t>
                      </a:r>
                      <a:r>
                        <a:rPr lang="en-US" sz="1000" b="0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 Email activation, rep follow-ups, digital content orchestration, and performance reporting within sponsor ecosystems (e.g., Veeva CRM, Salesforce Health Cloud)</a:t>
                      </a:r>
                    </a:p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1000" b="1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Sales performance analytics/ reporting support</a:t>
                      </a:r>
                      <a:r>
                        <a:rPr lang="en-US" sz="1000" b="0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: Dashboards tracking NRx/ TRx</a:t>
                      </a:r>
                      <a:r>
                        <a:rPr lang="en-US" sz="1000" b="0" i="0" u="none" baseline="3000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1</a:t>
                      </a:r>
                      <a:r>
                        <a:rPr lang="en-US" sz="1000" b="0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 trends, engagement metrics, field activity, territory performance, and campaign ROI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0" lvl="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</a:pPr>
                      <a:r>
                        <a:rPr lang="en-US" sz="1000" b="1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Offshore delivery centers handle high-volume, process-driven commercial operations tasks</a:t>
                      </a:r>
                      <a:r>
                        <a:rPr lang="en-US" sz="1000" b="0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, including content production, modular asset assembly, CRM data maintenance, dashboard generation, MLR routing support, and omnichannel deployment coordination. These workflows are structured, repeatable, SLA-driven, and suited for offshore scale under strict SOP and QA frameworks</a:t>
                      </a:r>
                    </a:p>
                    <a:p>
                      <a:pPr marL="355600" lvl="1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</a:pPr>
                      <a:r>
                        <a:rPr lang="en-US" sz="800" b="0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Offshore teams operate directly within sponsor-owned systems (e.g., Veeva CRM, PromoMats, Salesforce) through controlled-access environments, preserving audit trails and change logs</a:t>
                      </a:r>
                    </a:p>
                    <a:p>
                      <a:pPr marL="177800" lvl="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</a:pPr>
                      <a:r>
                        <a:rPr lang="en-US" sz="1000" b="1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Onshore governance layer </a:t>
                      </a:r>
                      <a:r>
                        <a:rPr lang="en-US" sz="1000" b="0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needed for brand team interface, launch readiness coordination, field force enablement oversight, escalations involving promotional interpretation or compliance nuance, and territory and incentive model approvals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1000" b="1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Deep CRM operations capability</a:t>
                      </a:r>
                      <a:r>
                        <a:rPr lang="en-US" sz="1000" b="0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 (admin + data stewardship + workflow discipline): Certified CRM administrators (Veeva CRM, Salesforce Health Cloud) experienced in territory alignment, call reporting, and data hygiene in regulated pharma environments</a:t>
                      </a:r>
                    </a:p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1000" b="1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Commercial content factory leaders:</a:t>
                      </a:r>
                      <a:r>
                        <a:rPr lang="en-US" sz="1000" b="0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 Talent</a:t>
                      </a:r>
                      <a:r>
                        <a:rPr lang="en-US" sz="1000" b="1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1000" b="0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trained in rapid asset creation, strict version control, and pharmaceutical compliance standards, including claim substantiation, fair balance, and annotation management for MLR submission</a:t>
                      </a:r>
                    </a:p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1000" b="1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Omnichannel execution ops specialists:</a:t>
                      </a:r>
                      <a:r>
                        <a:rPr lang="en-US" sz="1000" b="0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 Experts in email/ digital campaign deployment and reporting</a:t>
                      </a:r>
                    </a:p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1000" b="1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Commercial analytics</a:t>
                      </a:r>
                      <a:r>
                        <a:rPr lang="en-US" sz="1000" b="0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1000" b="1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professionals:</a:t>
                      </a:r>
                      <a:r>
                        <a:rPr lang="en-US" sz="1000" b="0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 Skilled in KPI dashboards (NRx, TRx, engagement metrics, channel effectiveness)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1000" b="1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AI-skills:</a:t>
                      </a:r>
                      <a:r>
                        <a:rPr lang="en-US" sz="1000" b="0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 Expertise in AI-assisted claim annotation preparation under compliance-reviewed frameworks</a:t>
                      </a:r>
                    </a:p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1000" b="1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Field force effectiveness teams:</a:t>
                      </a:r>
                      <a:r>
                        <a:rPr lang="en-US" sz="1000" b="0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 Expertise in operational performance reporting and territory alignment analytics</a:t>
                      </a:r>
                    </a:p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1000" b="1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Advanced omnichannel orchestration talent:</a:t>
                      </a:r>
                      <a:r>
                        <a:rPr lang="en-US" sz="1000" b="0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 Teams integrating CRM triggers, email deployment, digital content, and dashboards into unified frameworks</a:t>
                      </a:r>
                    </a:p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1000" b="1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Launch ops readiness:</a:t>
                      </a:r>
                      <a:r>
                        <a:rPr lang="en-US" sz="1000" b="0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 Talent for field onboarding, ramp tracking, sample governance, and territory modeling, often missing in vendor pitches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95431"/>
                  </a:ext>
                </a:extLst>
              </a:tr>
            </a:tbl>
          </a:graphicData>
        </a:graphic>
      </p:graphicFrame>
      <p:sp>
        <p:nvSpPr>
          <p:cNvPr id="15" name="btfpNotesBox982587">
            <a:extLst>
              <a:ext uri="{FF2B5EF4-FFF2-40B4-BE49-F238E27FC236}">
                <a16:creationId xmlns:a16="http://schemas.microsoft.com/office/drawing/2014/main" id="{5A184124-97CD-E4E1-8CBE-7F35E34921C4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gray">
          <a:xfrm>
            <a:off x="330200" y="6465046"/>
            <a:ext cx="9832105" cy="123111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b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Note: 1. New-to-Brand Prescriptions/ Total Prescriptions | Source: Market participant interviews, Secondary research, Bain analysis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A3F39DF5-B07A-9180-D054-B01C7BA32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1"/>
            <a:ext cx="11522075" cy="876687"/>
          </a:xfrm>
        </p:spPr>
        <p:txBody>
          <a:bodyPr vert="horz"/>
          <a:lstStyle/>
          <a:p>
            <a:r>
              <a:rPr lang="en-US" b="1">
                <a:solidFill>
                  <a:srgbClr val="000000"/>
                </a:solidFill>
                <a:latin typeface="Arial" panose="020B0604020202020204" pitchFamily="34" charset="0"/>
              </a:rPr>
              <a:t>Delivery Talent by SL:</a:t>
            </a:r>
            <a:r>
              <a:rPr lang="en-US">
                <a:solidFill>
                  <a:srgbClr val="000000"/>
                </a:solidFill>
                <a:latin typeface="Arial" panose="020B0604020202020204" pitchFamily="34" charset="0"/>
              </a:rPr>
              <a:t> Strong domain and regulatory expertise is essential, with Sr. Pharma leadership, AI-trained talent, and TA expertise providing differentiation (3/4)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69735EF-1C98-9887-F8FB-5776673091E0}"/>
              </a:ext>
            </a:extLst>
          </p:cNvPr>
          <p:cNvSpPr/>
          <p:nvPr/>
        </p:nvSpPr>
        <p:spPr bwMode="gray">
          <a:xfrm>
            <a:off x="8857235" y="945269"/>
            <a:ext cx="2999803" cy="216730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rgbClr val="C00000"/>
                </a:solidFill>
                <a:latin typeface="Arial" panose="020B0604020202020204" pitchFamily="34" charset="0"/>
              </a:rPr>
              <a:t>Sree/ Karthik to help identify </a:t>
            </a:r>
            <a:r>
              <a:rPr lang="en-US" sz="800" b="1" err="1">
                <a:solidFill>
                  <a:srgbClr val="C00000"/>
                </a:solidFill>
                <a:latin typeface="Arial" panose="020B0604020202020204" pitchFamily="34" charset="0"/>
              </a:rPr>
              <a:t>Sagility’s</a:t>
            </a:r>
            <a:r>
              <a:rPr lang="en-US" sz="800" b="1">
                <a:solidFill>
                  <a:srgbClr val="C00000"/>
                </a:solidFill>
                <a:latin typeface="Arial" panose="020B0604020202020204" pitchFamily="34" charset="0"/>
              </a:rPr>
              <a:t> existing capabilities</a:t>
            </a:r>
          </a:p>
        </p:txBody>
      </p:sp>
      <p:sp>
        <p:nvSpPr>
          <p:cNvPr id="33" name="btfpNumberBubble399258">
            <a:extLst>
              <a:ext uri="{FF2B5EF4-FFF2-40B4-BE49-F238E27FC236}">
                <a16:creationId xmlns:a16="http://schemas.microsoft.com/office/drawing/2014/main" id="{050293D2-071D-7369-5812-33D7EA272185}"/>
              </a:ext>
            </a:extLst>
          </p:cNvPr>
          <p:cNvSpPr/>
          <p:nvPr/>
        </p:nvSpPr>
        <p:spPr bwMode="gray">
          <a:xfrm>
            <a:off x="54684" y="82614"/>
            <a:ext cx="288636" cy="28863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400" b="1">
                <a:solidFill>
                  <a:srgbClr val="CC0000"/>
                </a:solidFill>
              </a:rPr>
              <a:t>5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685323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9765F-26E7-B48E-4BEE-246D7B9D9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hink-cell data - do not delete" hidden="1">
            <a:extLst>
              <a:ext uri="{FF2B5EF4-FFF2-40B4-BE49-F238E27FC236}">
                <a16:creationId xmlns:a16="http://schemas.microsoft.com/office/drawing/2014/main" id="{B14CF0F6-2BBA-E22A-9ECA-9AE7712435DA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199610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484" imgH="486" progId="TCLayout.ActiveDocument.1">
                  <p:embed/>
                </p:oleObj>
              </mc:Choice>
              <mc:Fallback>
                <p:oleObj name="think-cell Slide" r:id="rId6" imgW="484" imgH="486" progId="TCLayout.ActiveDocument.1">
                  <p:embed/>
                  <p:pic>
                    <p:nvPicPr>
                      <p:cNvPr id="2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14CF0F6-2BBA-E22A-9ECA-9AE7712435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btfpColumnIndicatorGroup2">
            <a:extLst>
              <a:ext uri="{FF2B5EF4-FFF2-40B4-BE49-F238E27FC236}">
                <a16:creationId xmlns:a16="http://schemas.microsoft.com/office/drawing/2014/main" id="{BFCBEBA1-B696-B03B-8F78-2B0E91ABFAD8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10" name="btfpColumnGapBlocker441445">
              <a:extLst>
                <a:ext uri="{FF2B5EF4-FFF2-40B4-BE49-F238E27FC236}">
                  <a16:creationId xmlns:a16="http://schemas.microsoft.com/office/drawing/2014/main" id="{D07920A7-6367-D5DD-871A-867093D6DA05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8" name="btfpColumnGapBlocker378221">
              <a:extLst>
                <a:ext uri="{FF2B5EF4-FFF2-40B4-BE49-F238E27FC236}">
                  <a16:creationId xmlns:a16="http://schemas.microsoft.com/office/drawing/2014/main" id="{3197C479-E5E2-FC93-2416-22C58F86280E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6" name="btfpColumnIndicator210049">
              <a:extLst>
                <a:ext uri="{FF2B5EF4-FFF2-40B4-BE49-F238E27FC236}">
                  <a16:creationId xmlns:a16="http://schemas.microsoft.com/office/drawing/2014/main" id="{18ACADFD-5CD4-22B2-8F16-D3F6935CC600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btfpColumnIndicator153338">
              <a:extLst>
                <a:ext uri="{FF2B5EF4-FFF2-40B4-BE49-F238E27FC236}">
                  <a16:creationId xmlns:a16="http://schemas.microsoft.com/office/drawing/2014/main" id="{9346B67B-85E2-0499-8B8B-409BD0FA75D4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btfpColumnIndicatorGroup1">
            <a:extLst>
              <a:ext uri="{FF2B5EF4-FFF2-40B4-BE49-F238E27FC236}">
                <a16:creationId xmlns:a16="http://schemas.microsoft.com/office/drawing/2014/main" id="{A2C71CBE-B8AC-910E-7813-D35A7B4F16F7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9" name="btfpColumnGapBlocker654062">
              <a:extLst>
                <a:ext uri="{FF2B5EF4-FFF2-40B4-BE49-F238E27FC236}">
                  <a16:creationId xmlns:a16="http://schemas.microsoft.com/office/drawing/2014/main" id="{B120E541-45BB-4375-7E7C-725016A727B4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7" name="btfpColumnGapBlocker238373">
              <a:extLst>
                <a:ext uri="{FF2B5EF4-FFF2-40B4-BE49-F238E27FC236}">
                  <a16:creationId xmlns:a16="http://schemas.microsoft.com/office/drawing/2014/main" id="{57875231-F8DC-9CAE-9EBF-12CC15C2C2F2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5" name="btfpColumnIndicator640928">
              <a:extLst>
                <a:ext uri="{FF2B5EF4-FFF2-40B4-BE49-F238E27FC236}">
                  <a16:creationId xmlns:a16="http://schemas.microsoft.com/office/drawing/2014/main" id="{D95FFB13-E08A-413D-869B-DCEAFF582ED6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btfpColumnIndicator931819">
              <a:extLst>
                <a:ext uri="{FF2B5EF4-FFF2-40B4-BE49-F238E27FC236}">
                  <a16:creationId xmlns:a16="http://schemas.microsoft.com/office/drawing/2014/main" id="{DDD80C1F-FCB5-EABD-3CEA-669927267A17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0" name="btfpTable963805">
            <a:extLst>
              <a:ext uri="{FF2B5EF4-FFF2-40B4-BE49-F238E27FC236}">
                <a16:creationId xmlns:a16="http://schemas.microsoft.com/office/drawing/2014/main" id="{D0A641F8-BD18-9B5D-6615-F77833647560}"/>
              </a:ext>
            </a:extLst>
          </p:cNvPr>
          <p:cNvGraphicFramePr>
            <a:graphicFrameLocks noGrp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563702649"/>
              </p:ext>
            </p:extLst>
          </p:nvPr>
        </p:nvGraphicFramePr>
        <p:xfrm>
          <a:off x="330198" y="1263943"/>
          <a:ext cx="11522712" cy="4864101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098552">
                  <a:extLst>
                    <a:ext uri="{9D8B030D-6E8A-4147-A177-3AD203B41FA5}">
                      <a16:colId xmlns:a16="http://schemas.microsoft.com/office/drawing/2014/main" val="768394406"/>
                    </a:ext>
                  </a:extLst>
                </a:gridCol>
                <a:gridCol w="2932235">
                  <a:extLst>
                    <a:ext uri="{9D8B030D-6E8A-4147-A177-3AD203B41FA5}">
                      <a16:colId xmlns:a16="http://schemas.microsoft.com/office/drawing/2014/main" val="375284160"/>
                    </a:ext>
                  </a:extLst>
                </a:gridCol>
                <a:gridCol w="1932239">
                  <a:extLst>
                    <a:ext uri="{9D8B030D-6E8A-4147-A177-3AD203B41FA5}">
                      <a16:colId xmlns:a16="http://schemas.microsoft.com/office/drawing/2014/main" val="3831465255"/>
                    </a:ext>
                  </a:extLst>
                </a:gridCol>
                <a:gridCol w="2725046">
                  <a:extLst>
                    <a:ext uri="{9D8B030D-6E8A-4147-A177-3AD203B41FA5}">
                      <a16:colId xmlns:a16="http://schemas.microsoft.com/office/drawing/2014/main" val="4141530595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118534948"/>
                    </a:ext>
                  </a:extLst>
                </a:gridCol>
              </a:tblGrid>
              <a:tr h="322619">
                <a:tc>
                  <a:txBody>
                    <a:bodyPr/>
                    <a:lstStyle/>
                    <a:p>
                      <a:pPr marL="0" lvl="0" indent="0" algn="ctr" defTabSz="711200" rtl="0" eaLnBrk="1" latinLnBrk="0" hangingPunct="1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US" sz="1000" b="1" i="0" u="none" baseline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Service Line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711200" rtl="0" eaLnBrk="1" latinLnBrk="0" hangingPunct="1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US" sz="1000" b="1" i="0" u="none" baseline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Key activities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711200" rtl="0" eaLnBrk="1" latinLnBrk="0" hangingPunct="1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US" sz="1000" b="1" i="0" u="none" baseline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Delivery model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711200" rtl="0" eaLnBrk="1" latinLnBrk="0" hangingPunct="1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US" sz="1000" b="1" i="0" u="none" baseline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Essentials/ table stakes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711200" rtl="0" eaLnBrk="1" latinLnBrk="0" hangingPunct="1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US" sz="1000" b="1" i="0" u="none" baseline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Differentiators/ opportunities to delight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726863"/>
                  </a:ext>
                </a:extLst>
              </a:tr>
              <a:tr h="4541482">
                <a:tc>
                  <a:txBody>
                    <a:bodyPr/>
                    <a:lstStyle/>
                    <a:p>
                      <a:pPr marL="0" lvl="0" indent="0" algn="l" defTabSz="711200" rtl="0" eaLnBrk="1" latinLnBrk="0" hangingPunct="1">
                        <a:spcBef>
                          <a:spcPts val="1200"/>
                        </a:spcBef>
                        <a:buFontTx/>
                        <a:buNone/>
                      </a:pPr>
                      <a:r>
                        <a:rPr lang="en-US" sz="1200" b="1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Patient Engagement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1000" b="1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Patient adherence outreach programs:</a:t>
                      </a:r>
                      <a:r>
                        <a:rPr lang="en-US" sz="1000" b="0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 Outbound reminders (phone, SMS, email), refill alerts, and therapy tracking under sponsor-approved scripts and compliance; includes </a:t>
                      </a:r>
                      <a:r>
                        <a:rPr lang="en-US" sz="1000" b="1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adherence documentation and reporting</a:t>
                      </a:r>
                      <a:r>
                        <a:rPr lang="en-US" sz="1000" b="0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, tracking missed refills, outreach attempts, engagement responses, and persistence metrics under SLAs</a:t>
                      </a:r>
                    </a:p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1000" b="1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Call center support for patient inquiries</a:t>
                      </a:r>
                      <a:r>
                        <a:rPr lang="en-US" sz="1000" b="0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, covering prescription clarification, dosing schedules, application navigation (e.g., copay enrollment), therapy initiation, product-related non-medical questions, and structured documentation of all interactions in sponsor CRM systems</a:t>
                      </a:r>
                    </a:p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1000" b="1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Basic case tracking and patient follow-up coordination</a:t>
                      </a:r>
                      <a:r>
                        <a:rPr lang="en-US" sz="1000" b="0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, ensuring all outreach attempts, interactions, and logs are audit-traceable and compliant with sponsor SOPs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0" lvl="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</a:pPr>
                      <a:r>
                        <a:rPr lang="en-US" sz="1000" b="1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Offshore centers handle high-volume outreach and inbound support</a:t>
                      </a:r>
                      <a:r>
                        <a:rPr lang="en-US" sz="1000" b="0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, including adherence reminder calls, digital reminders, scripted prescription/dosage Q&amp;A, CRM documentation, and case logging</a:t>
                      </a:r>
                    </a:p>
                    <a:p>
                      <a:pPr marL="355600" lvl="1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</a:pPr>
                      <a:r>
                        <a:rPr lang="en-US" sz="800" b="0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Workflows are rule-based, SLA-driven, script-controlled, repeatable, and scalable; offshore agents operate within HIPAA-compliant CRM platforms</a:t>
                      </a:r>
                    </a:p>
                    <a:p>
                      <a:pPr marL="177800" lvl="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</a:pPr>
                      <a:r>
                        <a:rPr lang="en-US" sz="1000" b="1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Onshore governance layer</a:t>
                      </a:r>
                      <a:r>
                        <a:rPr lang="en-US" sz="1000" b="0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 oversees script approval, escalation management, complex call review, compliance monitoring, and QA calibration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0" lvl="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</a:pPr>
                      <a:r>
                        <a:rPr lang="en-US" sz="1000" b="1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Healthcare-trained contact center agents:</a:t>
                      </a:r>
                      <a:r>
                        <a:rPr lang="en-US" sz="1000" b="0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 Skilled in prescription terminology, dosing schedules, patient communication etiquette, and strict script adherence in regulated environments</a:t>
                      </a:r>
                    </a:p>
                    <a:p>
                      <a:pPr marL="177800" lvl="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</a:pPr>
                      <a:r>
                        <a:rPr lang="en-US" sz="1000" b="1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Compliance-trained escalation handlers:</a:t>
                      </a:r>
                      <a:r>
                        <a:rPr lang="en-US" sz="1000" b="0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 Able to recognize queries exceeding scripts and trigger sponsor-defined handoffs without clinical judgment</a:t>
                      </a:r>
                    </a:p>
                    <a:p>
                      <a:pPr marL="177800" lvl="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</a:pPr>
                      <a:r>
                        <a:rPr lang="en-US" sz="1000" b="1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QA and call monitoring supervisors: </a:t>
                      </a:r>
                      <a:r>
                        <a:rPr lang="en-US" sz="1000" b="0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Experienced in call audits, documentation review, deviation logging, and HIPAA compliance oversight</a:t>
                      </a:r>
                    </a:p>
                    <a:p>
                      <a:pPr marL="177800" lvl="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</a:pPr>
                      <a:r>
                        <a:rPr lang="en-US" sz="1000" b="1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Operational leads managing outreach cadence and workforce balancing:</a:t>
                      </a:r>
                      <a:r>
                        <a:rPr lang="en-US" sz="1000" b="0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 Ensuring timely follow-ups, minimal patient drop-off, and surge scaling during launch or campaign peaks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0" lvl="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</a:pPr>
                      <a:r>
                        <a:rPr lang="en-US" sz="1000" b="1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Adherence analytics capability</a:t>
                      </a:r>
                      <a:r>
                        <a:rPr lang="en-US" sz="1000" b="0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, where operational teams track refill cadence patterns, missed contact attempts, and engagement responsiveness to create adherence dashboards for sponsors</a:t>
                      </a:r>
                    </a:p>
                    <a:p>
                      <a:pPr marL="177800" lvl="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</a:pPr>
                      <a:r>
                        <a:rPr lang="en-US" sz="1000" b="1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Multi-channel engagement coordination discipline:</a:t>
                      </a:r>
                      <a:r>
                        <a:rPr lang="en-US" sz="1000" b="0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 Ensuring consistency between phone outreach and digital reminders without duplicate/ conflicting communications</a:t>
                      </a:r>
                    </a:p>
                    <a:p>
                      <a:pPr marL="177800" lvl="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</a:pPr>
                      <a:r>
                        <a:rPr lang="en-US" sz="1000" b="1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Surge elasticity for launch or promotional campaigns:</a:t>
                      </a:r>
                      <a:r>
                        <a:rPr lang="en-US" sz="1000" b="0" i="0" u="none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 Enabling rapid outreach scaling without compromising documentation quality or compliance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95431"/>
                  </a:ext>
                </a:extLst>
              </a:tr>
            </a:tbl>
          </a:graphicData>
        </a:graphic>
      </p:graphicFrame>
      <p:sp>
        <p:nvSpPr>
          <p:cNvPr id="15" name="btfpNotesBox982587">
            <a:extLst>
              <a:ext uri="{FF2B5EF4-FFF2-40B4-BE49-F238E27FC236}">
                <a16:creationId xmlns:a16="http://schemas.microsoft.com/office/drawing/2014/main" id="{40D8FB51-A164-7D1E-B375-AF153A772012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gray">
          <a:xfrm>
            <a:off x="330200" y="6464552"/>
            <a:ext cx="9832105" cy="123111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b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Source: Market interviews, Secondary research, Bain analysis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34F544ED-986C-4B3A-E84F-2AEB2EF45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1"/>
            <a:ext cx="11522075" cy="876687"/>
          </a:xfrm>
        </p:spPr>
        <p:txBody>
          <a:bodyPr vert="horz"/>
          <a:lstStyle/>
          <a:p>
            <a:r>
              <a:rPr lang="en-US" b="1">
                <a:solidFill>
                  <a:srgbClr val="000000"/>
                </a:solidFill>
                <a:latin typeface="Arial" panose="020B0604020202020204" pitchFamily="34" charset="0"/>
              </a:rPr>
              <a:t>Delivery Talent by SL:</a:t>
            </a:r>
            <a:r>
              <a:rPr lang="en-US">
                <a:solidFill>
                  <a:srgbClr val="000000"/>
                </a:solidFill>
                <a:latin typeface="Arial" panose="020B0604020202020204" pitchFamily="34" charset="0"/>
              </a:rPr>
              <a:t> Strong domain and regulatory expertise is essential, with Sr. Pharma leadership, AI-trained talent, and TA expertise providing differentiation (4/4)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C83E70C-2DE1-0225-691F-AAE3E112194C}"/>
              </a:ext>
            </a:extLst>
          </p:cNvPr>
          <p:cNvSpPr/>
          <p:nvPr/>
        </p:nvSpPr>
        <p:spPr bwMode="gray">
          <a:xfrm>
            <a:off x="8857235" y="945269"/>
            <a:ext cx="2999803" cy="216730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rgbClr val="C00000"/>
                </a:solidFill>
                <a:latin typeface="Arial" panose="020B0604020202020204" pitchFamily="34" charset="0"/>
              </a:rPr>
              <a:t>Sree/ Karthik to help identify </a:t>
            </a:r>
            <a:r>
              <a:rPr lang="en-US" sz="800" b="1" err="1">
                <a:solidFill>
                  <a:srgbClr val="C00000"/>
                </a:solidFill>
                <a:latin typeface="Arial" panose="020B0604020202020204" pitchFamily="34" charset="0"/>
              </a:rPr>
              <a:t>Sagility’s</a:t>
            </a:r>
            <a:r>
              <a:rPr lang="en-US" sz="800" b="1">
                <a:solidFill>
                  <a:srgbClr val="C00000"/>
                </a:solidFill>
                <a:latin typeface="Arial" panose="020B0604020202020204" pitchFamily="34" charset="0"/>
              </a:rPr>
              <a:t> existing capabilities</a:t>
            </a:r>
          </a:p>
        </p:txBody>
      </p:sp>
      <p:sp>
        <p:nvSpPr>
          <p:cNvPr id="31" name="btfpNumberBubble399258">
            <a:extLst>
              <a:ext uri="{FF2B5EF4-FFF2-40B4-BE49-F238E27FC236}">
                <a16:creationId xmlns:a16="http://schemas.microsoft.com/office/drawing/2014/main" id="{B8F871ED-0E52-1108-AC64-ED8595C5B1D5}"/>
              </a:ext>
            </a:extLst>
          </p:cNvPr>
          <p:cNvSpPr/>
          <p:nvPr/>
        </p:nvSpPr>
        <p:spPr bwMode="gray">
          <a:xfrm>
            <a:off x="54684" y="82614"/>
            <a:ext cx="288636" cy="28863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400" b="1">
                <a:solidFill>
                  <a:srgbClr val="CC0000"/>
                </a:solidFill>
              </a:rPr>
              <a:t>5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94444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6B3FA-5428-E218-0591-FB34B7E13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hink-cell data - do not delete" hidden="1">
            <a:extLst>
              <a:ext uri="{FF2B5EF4-FFF2-40B4-BE49-F238E27FC236}">
                <a16:creationId xmlns:a16="http://schemas.microsoft.com/office/drawing/2014/main" id="{365E4445-D829-DF65-75A6-F37FFCE02004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0583951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484" imgH="486" progId="TCLayout.ActiveDocument.1">
                  <p:embed/>
                </p:oleObj>
              </mc:Choice>
              <mc:Fallback>
                <p:oleObj name="think-cell Slide" r:id="rId7" imgW="484" imgH="486" progId="TCLayout.ActiveDocument.1">
                  <p:embed/>
                  <p:pic>
                    <p:nvPicPr>
                      <p:cNvPr id="1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65E4445-D829-DF65-75A6-F37FFCE020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btfpTable963805">
            <a:extLst>
              <a:ext uri="{FF2B5EF4-FFF2-40B4-BE49-F238E27FC236}">
                <a16:creationId xmlns:a16="http://schemas.microsoft.com/office/drawing/2014/main" id="{F5AE3F12-2C09-7E6E-DD3D-253A00E61BD5}"/>
              </a:ext>
            </a:extLst>
          </p:cNvPr>
          <p:cNvGraphicFramePr>
            <a:graphicFrameLocks noGrp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4199788783"/>
              </p:ext>
            </p:extLst>
          </p:nvPr>
        </p:nvGraphicFramePr>
        <p:xfrm>
          <a:off x="330197" y="1269999"/>
          <a:ext cx="11531601" cy="5096669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934399">
                  <a:extLst>
                    <a:ext uri="{9D8B030D-6E8A-4147-A177-3AD203B41FA5}">
                      <a16:colId xmlns:a16="http://schemas.microsoft.com/office/drawing/2014/main" val="768394406"/>
                    </a:ext>
                  </a:extLst>
                </a:gridCol>
                <a:gridCol w="5737337">
                  <a:extLst>
                    <a:ext uri="{9D8B030D-6E8A-4147-A177-3AD203B41FA5}">
                      <a16:colId xmlns:a16="http://schemas.microsoft.com/office/drawing/2014/main" val="4141530595"/>
                    </a:ext>
                  </a:extLst>
                </a:gridCol>
                <a:gridCol w="4859865">
                  <a:extLst>
                    <a:ext uri="{9D8B030D-6E8A-4147-A177-3AD203B41FA5}">
                      <a16:colId xmlns:a16="http://schemas.microsoft.com/office/drawing/2014/main" val="118534948"/>
                    </a:ext>
                  </a:extLst>
                </a:gridCol>
              </a:tblGrid>
              <a:tr h="311309">
                <a:tc>
                  <a:txBody>
                    <a:bodyPr/>
                    <a:lstStyle/>
                    <a:p>
                      <a:pPr marL="0" lvl="0" indent="0" algn="ctr" defTabSz="711200" rtl="0" eaLnBrk="1" latinLnBrk="0" hangingPunct="1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US" sz="1050" b="1" i="0" u="none" baseline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Service line</a:t>
                      </a:r>
                    </a:p>
                  </a:txBody>
                  <a:tcPr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711200" rtl="0" eaLnBrk="1" latinLnBrk="0" hangingPunct="1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US" sz="1050" b="1" i="0" u="none" baseline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Table stakes</a:t>
                      </a:r>
                    </a:p>
                  </a:txBody>
                  <a:tcPr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711200" rtl="0" eaLnBrk="1" latinLnBrk="0" hangingPunct="1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US" sz="1050" b="1" i="0" u="none" baseline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Differentiators/ Opportunities to excel</a:t>
                      </a:r>
                    </a:p>
                  </a:txBody>
                  <a:tcPr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726863"/>
                  </a:ext>
                </a:extLst>
              </a:tr>
              <a:tr h="1920240">
                <a:tc>
                  <a:txBody>
                    <a:bodyPr/>
                    <a:lstStyle/>
                    <a:p>
                      <a:pPr marL="0" lvl="0" indent="0" algn="l" defTabSz="711200" rtl="0" eaLnBrk="1" latinLnBrk="0" hangingPunct="1">
                        <a:spcBef>
                          <a:spcPts val="1200"/>
                        </a:spcBef>
                        <a:buFontTx/>
                        <a:buNone/>
                      </a:pPr>
                      <a:r>
                        <a:rPr lang="en-US" sz="1100" b="1" i="1" u="none" baseline="0">
                          <a:solidFill>
                            <a:srgbClr val="000000"/>
                          </a:solidFill>
                          <a:latin typeface="+mn-lt"/>
                        </a:rPr>
                        <a:t>Medical Affairs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1000" b="1">
                          <a:latin typeface="+mn-lt"/>
                        </a:rPr>
                        <a:t>Content management platform: </a:t>
                      </a:r>
                      <a:r>
                        <a:rPr lang="en-US" sz="1000" b="0">
                          <a:latin typeface="+mn-lt"/>
                        </a:rPr>
                        <a:t>Regulated CLM</a:t>
                      </a:r>
                      <a:r>
                        <a:rPr lang="en-US" sz="1000" b="0" baseline="30000">
                          <a:latin typeface="+mn-lt"/>
                        </a:rPr>
                        <a:t>1</a:t>
                      </a:r>
                      <a:r>
                        <a:rPr lang="en-US" sz="1000" b="0" baseline="0">
                          <a:latin typeface="+mn-lt"/>
                        </a:rPr>
                        <a:t> </a:t>
                      </a:r>
                      <a:r>
                        <a:rPr lang="en-US" sz="1000"/>
                        <a:t>(e.g., Veeva PromoMats) enabling E2E MLR</a:t>
                      </a:r>
                      <a:r>
                        <a:rPr lang="en-US" sz="1000" baseline="30000"/>
                        <a:t>2</a:t>
                      </a:r>
                      <a:r>
                        <a:rPr lang="en-US" sz="1000"/>
                        <a:t> workflows, version control, audit trails, DAM</a:t>
                      </a:r>
                      <a:r>
                        <a:rPr lang="en-US" sz="1000" baseline="30000"/>
                        <a:t>3</a:t>
                      </a:r>
                      <a:r>
                        <a:rPr lang="en-US" sz="1000"/>
                        <a:t>, role-based access, and 21 CFR Part 11</a:t>
                      </a:r>
                      <a:r>
                        <a:rPr lang="en-US" sz="1000" baseline="30000"/>
                        <a:t>4</a:t>
                      </a:r>
                      <a:r>
                        <a:rPr lang="en-US" sz="1000"/>
                        <a:t> compliance</a:t>
                      </a:r>
                      <a:endParaRPr lang="en-US" sz="1000" b="0">
                        <a:latin typeface="+mn-lt"/>
                      </a:endParaRPr>
                    </a:p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1000" b="1">
                          <a:latin typeface="+mn-lt"/>
                        </a:rPr>
                        <a:t>Centralized literature &amp; knowledge management:</a:t>
                      </a:r>
                      <a:r>
                        <a:rPr lang="en-US" sz="1000">
                          <a:latin typeface="+mn-lt"/>
                        </a:rPr>
                        <a:t> Centralized, auditable platform to search, organize, and manage scientific literature with structured tagging and integrations with publications such as PubMed, Embase, Cochrane, etc.</a:t>
                      </a:r>
                      <a:endParaRPr lang="en-US" sz="1000" b="0">
                        <a:latin typeface="+mn-lt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1000" b="1">
                          <a:latin typeface="+mn-lt"/>
                        </a:rPr>
                        <a:t>Medical Information Case Management</a:t>
                      </a:r>
                      <a:r>
                        <a:rPr lang="en-US" sz="1000">
                          <a:latin typeface="+mn-lt"/>
                        </a:rPr>
                        <a:t>: Veeva/ SFDC-integrated stack for MSL</a:t>
                      </a:r>
                      <a:r>
                        <a:rPr lang="en-US" sz="1000" baseline="30000">
                          <a:latin typeface="+mn-lt"/>
                        </a:rPr>
                        <a:t>5</a:t>
                      </a:r>
                      <a:r>
                        <a:rPr lang="en-US" sz="1000">
                          <a:latin typeface="+mn-lt"/>
                        </a:rPr>
                        <a:t> call documentation, KOL tracking, MI intake, response tracking, and standardized reporting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1000" b="1"/>
                        <a:t>Secure Cloud Environment: </a:t>
                      </a:r>
                      <a:r>
                        <a:rPr lang="en-US" sz="1000"/>
                        <a:t>HIPAA-compliant cloud infrastructure supporting claims/ EHR ingestion, reproducible SAS/ R/ Python workflows esp. for RWE/ HEOR analytics, structured output generation, and controlled sponsor collaboration</a:t>
                      </a:r>
                      <a:endParaRPr lang="en-US" sz="1000">
                        <a:latin typeface="+mn-lt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tabLst/>
                        <a:defRPr/>
                      </a:pPr>
                      <a:r>
                        <a:rPr lang="en-US" sz="1000" b="1">
                          <a:latin typeface="+mn-lt"/>
                        </a:rPr>
                        <a:t>AI-Assisted Literature Intelligence:</a:t>
                      </a:r>
                      <a:r>
                        <a:rPr lang="en-US" sz="1000">
                          <a:latin typeface="+mn-lt"/>
                        </a:rPr>
                        <a:t> NLP-assisted medical writing, abstract screening, delta detection across new publications, and audit-tracked content reuse suggestions that accelerate drafting within validated workflows</a:t>
                      </a:r>
                    </a:p>
                    <a:p>
                      <a:pPr marL="355600" marR="0" lvl="1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tabLst/>
                        <a:defRPr/>
                      </a:pPr>
                      <a:r>
                        <a:rPr lang="en-US" sz="800">
                          <a:latin typeface="+mn-lt"/>
                        </a:rPr>
                        <a:t>For e.g., Indegene leverages GenAI for document drafting via its own platform called NEXT Medical Writing Automation</a:t>
                      </a:r>
                    </a:p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tabLst/>
                        <a:defRPr/>
                      </a:pPr>
                      <a:r>
                        <a:rPr lang="en-US" sz="1000" b="1"/>
                        <a:t>Cross-Channel Insight Mining:</a:t>
                      </a:r>
                      <a:r>
                        <a:rPr lang="en-US" sz="1000"/>
                        <a:t> NLP analytics across MSL notes, MI inquiries, congress data, and RWE outputs to identify emerging scientific themes</a:t>
                      </a:r>
                    </a:p>
                    <a:p>
                      <a:pPr marL="355600" marR="0" lvl="1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tabLst/>
                        <a:defRPr/>
                      </a:pPr>
                      <a:r>
                        <a:rPr lang="en-US" sz="800"/>
                        <a:t>For e.g., IQVIA has its own platform called NLP Insights Hub that pulls together structured &amp; unstructured sources (publications, internal notes, EHR/ commentary) into interactive dashboards and analytics</a:t>
                      </a:r>
                    </a:p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1000" b="1"/>
                        <a:t>Advanced Predictive RWE Analytics: </a:t>
                      </a:r>
                      <a:r>
                        <a:rPr lang="en-US" sz="1000"/>
                        <a:t>ML-based treatment effect modeling, synthetic control arms on back of high-quality RWD (claims, EHRs, registries), and interactive evidence dashboards supporting strategy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95431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lvl="0" indent="0" algn="l" defTabSz="711200" rtl="0" eaLnBrk="1" latinLnBrk="0" hangingPunct="1">
                        <a:spcBef>
                          <a:spcPts val="1200"/>
                        </a:spcBef>
                        <a:buFontTx/>
                        <a:buNone/>
                      </a:pPr>
                      <a:r>
                        <a:rPr lang="en-US" sz="1100" b="1" i="1" u="none" baseline="0">
                          <a:solidFill>
                            <a:srgbClr val="000000"/>
                          </a:solidFill>
                          <a:latin typeface="+mn-lt"/>
                        </a:rPr>
                        <a:t>Pharmacovigilance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1000" b="1"/>
                        <a:t>Regulated Safety Case Management System: </a:t>
                      </a:r>
                      <a:r>
                        <a:rPr lang="en-US" sz="1000"/>
                        <a:t>Enterprise PV system (e.g., Argus, ArisGlobal) supporting E2E AE</a:t>
                      </a:r>
                      <a:r>
                        <a:rPr lang="en-US" sz="1000" baseline="30000"/>
                        <a:t>6</a:t>
                      </a:r>
                      <a:r>
                        <a:rPr lang="en-US" sz="1000"/>
                        <a:t> intake, processing, assessment, coding (MedDRA/ WHO-DD), expedited reporting, and audit-ready documentation with 21 CFR Part 11 compliance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1000" b="1"/>
                        <a:t>Centralized Literature &amp; Signal Management: </a:t>
                      </a:r>
                      <a:r>
                        <a:rPr lang="en-US" sz="1000"/>
                        <a:t>Auditable repository for safety-related publications, case reports, and periodic literature review outputs, enabling structured tagging, automated alerting for safety signals, and integration with internal AE datasets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1000" b="1"/>
                        <a:t>Integrated CRM / Call &amp; Inquiry Tracking: </a:t>
                      </a:r>
                      <a:r>
                        <a:rPr lang="en-US" sz="1000"/>
                        <a:t>Tools capturing HCP interactions, patient-reported events, and PQC</a:t>
                      </a:r>
                      <a:r>
                        <a:rPr lang="en-US" sz="1000" baseline="30000"/>
                        <a:t>7</a:t>
                      </a:r>
                      <a:r>
                        <a:rPr lang="en-US" sz="1000"/>
                        <a:t>, with automatic AE/ PQC escalation into PV workflows and SLA tracking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tabLst/>
                        <a:defRPr/>
                      </a:pPr>
                      <a:r>
                        <a:rPr lang="en-US" sz="1000" b="1"/>
                        <a:t>AI-assisted Coding: </a:t>
                      </a:r>
                      <a:r>
                        <a:rPr lang="en-US" sz="1000"/>
                        <a:t>Leverages </a:t>
                      </a:r>
                      <a:r>
                        <a:rPr lang="en-US" sz="1000" b="0"/>
                        <a:t>NLP and ML</a:t>
                      </a:r>
                      <a:r>
                        <a:rPr lang="en-US" sz="1000"/>
                        <a:t> to automatically classify reported adverse events and product quality complaints into standardized terminologies, with human-in-the-loop</a:t>
                      </a:r>
                    </a:p>
                    <a:p>
                      <a:pPr marL="355600" marR="0" lvl="1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tabLst/>
                        <a:defRPr/>
                      </a:pPr>
                      <a:r>
                        <a:rPr lang="en-US" sz="800"/>
                        <a:t>For e.g., TCS incorporates AI/ML for </a:t>
                      </a:r>
                      <a:r>
                        <a:rPr lang="en-US" sz="800" b="0"/>
                        <a:t>automated safety case processing incl. automated medical coding as part of its ADD Safety platform</a:t>
                      </a:r>
                    </a:p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tabLst/>
                        <a:defRPr/>
                      </a:pPr>
                      <a:r>
                        <a:rPr lang="en-US" sz="1000" b="1"/>
                        <a:t>AI-Powered Signal Detection &amp; Risk Prioritization: </a:t>
                      </a:r>
                      <a:r>
                        <a:rPr lang="en-US" sz="1000"/>
                        <a:t>NLP/ ML-driven extraction of safety signals from literature, social media, and internal case narratives, with automated prioritization of emerging safety risks</a:t>
                      </a:r>
                    </a:p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tabLst/>
                        <a:defRPr/>
                      </a:pPr>
                      <a:r>
                        <a:rPr lang="en-US" sz="1000" b="1"/>
                        <a:t>Intelligent Workflow Automation &amp; Compliance Orchestration:</a:t>
                      </a:r>
                      <a:r>
                        <a:rPr lang="en-US" sz="1000"/>
                        <a:t> Automated routing, duplicate detection, and expedited reporting alerts to accelerate case processing and maintain audit readiness</a:t>
                      </a:r>
                    </a:p>
                    <a:p>
                      <a:pPr marL="355600" marR="0" lvl="1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tabLst/>
                        <a:defRPr/>
                      </a:pPr>
                      <a:r>
                        <a:rPr lang="en-US" sz="800" b="0"/>
                        <a:t>For e.g., Accenture’s Intient PV tool leverages AI/ ML for workflow and compliance automation, with some AI-assisted signal detection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3271621"/>
                  </a:ext>
                </a:extLst>
              </a:tr>
            </a:tbl>
          </a:graphicData>
        </a:graphic>
      </p:graphicFrame>
      <p:grpSp>
        <p:nvGrpSpPr>
          <p:cNvPr id="12" name="btfpColumnIndicatorGroup2">
            <a:extLst>
              <a:ext uri="{FF2B5EF4-FFF2-40B4-BE49-F238E27FC236}">
                <a16:creationId xmlns:a16="http://schemas.microsoft.com/office/drawing/2014/main" id="{7A58AF70-F44E-406E-0DFF-2EA5F6865A08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10" name="btfpColumnGapBlocker441445">
              <a:extLst>
                <a:ext uri="{FF2B5EF4-FFF2-40B4-BE49-F238E27FC236}">
                  <a16:creationId xmlns:a16="http://schemas.microsoft.com/office/drawing/2014/main" id="{354BF8B0-09A8-C05D-7744-0F3B95CD6E7C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8" name="btfpColumnGapBlocker378221">
              <a:extLst>
                <a:ext uri="{FF2B5EF4-FFF2-40B4-BE49-F238E27FC236}">
                  <a16:creationId xmlns:a16="http://schemas.microsoft.com/office/drawing/2014/main" id="{58CBFB31-D760-A43E-30FD-A8C9251FC9DB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6" name="btfpColumnIndicator210049">
              <a:extLst>
                <a:ext uri="{FF2B5EF4-FFF2-40B4-BE49-F238E27FC236}">
                  <a16:creationId xmlns:a16="http://schemas.microsoft.com/office/drawing/2014/main" id="{7E468BE1-67CD-34B7-BE99-695DF7287442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btfpColumnIndicator153338">
              <a:extLst>
                <a:ext uri="{FF2B5EF4-FFF2-40B4-BE49-F238E27FC236}">
                  <a16:creationId xmlns:a16="http://schemas.microsoft.com/office/drawing/2014/main" id="{5053E3F8-FF9B-F907-A938-1B79E4D70409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btfpColumnIndicatorGroup1">
            <a:extLst>
              <a:ext uri="{FF2B5EF4-FFF2-40B4-BE49-F238E27FC236}">
                <a16:creationId xmlns:a16="http://schemas.microsoft.com/office/drawing/2014/main" id="{C5BB7449-B73A-9AA2-CD7A-78F43CB5E971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9" name="btfpColumnGapBlocker654062">
              <a:extLst>
                <a:ext uri="{FF2B5EF4-FFF2-40B4-BE49-F238E27FC236}">
                  <a16:creationId xmlns:a16="http://schemas.microsoft.com/office/drawing/2014/main" id="{AABAAB6B-B170-93A0-DC68-B602F863319D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7" name="btfpColumnGapBlocker238373">
              <a:extLst>
                <a:ext uri="{FF2B5EF4-FFF2-40B4-BE49-F238E27FC236}">
                  <a16:creationId xmlns:a16="http://schemas.microsoft.com/office/drawing/2014/main" id="{C6C197A8-D02D-D800-B2B0-1E219C33A8D3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5" name="btfpColumnIndicator640928">
              <a:extLst>
                <a:ext uri="{FF2B5EF4-FFF2-40B4-BE49-F238E27FC236}">
                  <a16:creationId xmlns:a16="http://schemas.microsoft.com/office/drawing/2014/main" id="{DE023896-9B2C-FE60-D415-BAF40171050F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btfpColumnIndicator931819">
              <a:extLst>
                <a:ext uri="{FF2B5EF4-FFF2-40B4-BE49-F238E27FC236}">
                  <a16:creationId xmlns:a16="http://schemas.microsoft.com/office/drawing/2014/main" id="{42322D91-B71A-5575-6AC5-1F035CDE1243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59CB12E-14F1-3C67-3D1C-B93F14471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b="1" dirty="0"/>
              <a:t>Tech by SL (1/2):</a:t>
            </a:r>
            <a:r>
              <a:rPr lang="en-US" dirty="0"/>
              <a:t> </a:t>
            </a:r>
            <a:r>
              <a:rPr lang="en-US" dirty="0" err="1"/>
              <a:t>GxP</a:t>
            </a:r>
            <a:r>
              <a:rPr lang="en-US" dirty="0"/>
              <a:t>-compliant content and case management platforms are table stakes; AI-enabled tools and intelligent workflows/ analytics differentiate vendors</a:t>
            </a:r>
          </a:p>
        </p:txBody>
      </p:sp>
      <p:sp>
        <p:nvSpPr>
          <p:cNvPr id="18" name="btfpNotesBox982587">
            <a:extLst>
              <a:ext uri="{FF2B5EF4-FFF2-40B4-BE49-F238E27FC236}">
                <a16:creationId xmlns:a16="http://schemas.microsoft.com/office/drawing/2014/main" id="{BFD417D4-2AC7-C7DB-6A8E-A544116C321E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gray">
          <a:xfrm>
            <a:off x="343320" y="6614160"/>
            <a:ext cx="8125706" cy="243840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b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800">
                <a:solidFill>
                  <a:srgbClr val="000000"/>
                </a:solidFill>
              </a:rPr>
              <a:t>Note: 1. Content Lifecycle Management, 2. Medical-Legal-Regulatory, 3. Digital Asset Mgmt., 4. Ensures electronic safety data and case reports are secure, traceable, and FDA‑auditable, 5. Medical Service Liaison, 6. Adverse Event, 7. Product quality complaint | Source: Market participant interviews, Secondary research, Bain analysis</a:t>
            </a:r>
          </a:p>
        </p:txBody>
      </p:sp>
      <p:sp>
        <p:nvSpPr>
          <p:cNvPr id="21" name="btfpNumberBubble399258">
            <a:extLst>
              <a:ext uri="{FF2B5EF4-FFF2-40B4-BE49-F238E27FC236}">
                <a16:creationId xmlns:a16="http://schemas.microsoft.com/office/drawing/2014/main" id="{E597EA0B-F6EE-8C50-A13E-36FED53D71F1}"/>
              </a:ext>
            </a:extLst>
          </p:cNvPr>
          <p:cNvSpPr/>
          <p:nvPr/>
        </p:nvSpPr>
        <p:spPr bwMode="gray">
          <a:xfrm>
            <a:off x="54684" y="82614"/>
            <a:ext cx="288636" cy="28863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400" b="1">
                <a:solidFill>
                  <a:srgbClr val="CC0000"/>
                </a:solidFill>
              </a:rPr>
              <a:t>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DE6F74B-3E62-466D-5EFF-1385FFD12CAF}"/>
              </a:ext>
            </a:extLst>
          </p:cNvPr>
          <p:cNvSpPr/>
          <p:nvPr/>
        </p:nvSpPr>
        <p:spPr bwMode="gray">
          <a:xfrm>
            <a:off x="8857235" y="918378"/>
            <a:ext cx="2999803" cy="216730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rgbClr val="C00000"/>
                </a:solidFill>
                <a:latin typeface="Arial" panose="020B0604020202020204" pitchFamily="34" charset="0"/>
              </a:rPr>
              <a:t>Sree/ Karthik to help identify </a:t>
            </a:r>
            <a:r>
              <a:rPr lang="en-US" sz="800" b="1" err="1">
                <a:solidFill>
                  <a:srgbClr val="C00000"/>
                </a:solidFill>
                <a:latin typeface="Arial" panose="020B0604020202020204" pitchFamily="34" charset="0"/>
              </a:rPr>
              <a:t>Sagility’s</a:t>
            </a:r>
            <a:r>
              <a:rPr lang="en-US" sz="800" b="1">
                <a:solidFill>
                  <a:srgbClr val="C00000"/>
                </a:solidFill>
                <a:latin typeface="Arial" panose="020B0604020202020204" pitchFamily="34" charset="0"/>
              </a:rPr>
              <a:t> existing capabilities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984651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5D2D5-9D30-D64A-27C6-FCAAFC95A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hink-cell data - do not delete" hidden="1">
            <a:extLst>
              <a:ext uri="{FF2B5EF4-FFF2-40B4-BE49-F238E27FC236}">
                <a16:creationId xmlns:a16="http://schemas.microsoft.com/office/drawing/2014/main" id="{18F3A24F-E2CF-8CA9-C86E-A364B52F5EA3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2111344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484" imgH="486" progId="TCLayout.ActiveDocument.1">
                  <p:embed/>
                </p:oleObj>
              </mc:Choice>
              <mc:Fallback>
                <p:oleObj name="think-cell Slide" r:id="rId7" imgW="484" imgH="486" progId="TCLayout.ActiveDocument.1">
                  <p:embed/>
                  <p:pic>
                    <p:nvPicPr>
                      <p:cNvPr id="1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8F3A24F-E2CF-8CA9-C86E-A364B52F5EA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btfpTable963805">
            <a:extLst>
              <a:ext uri="{FF2B5EF4-FFF2-40B4-BE49-F238E27FC236}">
                <a16:creationId xmlns:a16="http://schemas.microsoft.com/office/drawing/2014/main" id="{F9F2B813-CB63-F492-2CA9-0FC72837DD2F}"/>
              </a:ext>
            </a:extLst>
          </p:cNvPr>
          <p:cNvGraphicFramePr>
            <a:graphicFrameLocks noGrp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514391676"/>
              </p:ext>
            </p:extLst>
          </p:nvPr>
        </p:nvGraphicFramePr>
        <p:xfrm>
          <a:off x="330197" y="1269999"/>
          <a:ext cx="11531601" cy="5241449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934399">
                  <a:extLst>
                    <a:ext uri="{9D8B030D-6E8A-4147-A177-3AD203B41FA5}">
                      <a16:colId xmlns:a16="http://schemas.microsoft.com/office/drawing/2014/main" val="768394406"/>
                    </a:ext>
                  </a:extLst>
                </a:gridCol>
                <a:gridCol w="5737337">
                  <a:extLst>
                    <a:ext uri="{9D8B030D-6E8A-4147-A177-3AD203B41FA5}">
                      <a16:colId xmlns:a16="http://schemas.microsoft.com/office/drawing/2014/main" val="4141530595"/>
                    </a:ext>
                  </a:extLst>
                </a:gridCol>
                <a:gridCol w="4859865">
                  <a:extLst>
                    <a:ext uri="{9D8B030D-6E8A-4147-A177-3AD203B41FA5}">
                      <a16:colId xmlns:a16="http://schemas.microsoft.com/office/drawing/2014/main" val="118534948"/>
                    </a:ext>
                  </a:extLst>
                </a:gridCol>
              </a:tblGrid>
              <a:tr h="311309">
                <a:tc>
                  <a:txBody>
                    <a:bodyPr/>
                    <a:lstStyle/>
                    <a:p>
                      <a:pPr marL="0" lvl="0" indent="0" algn="ctr" defTabSz="711200" rtl="0" eaLnBrk="1" latinLnBrk="0" hangingPunct="1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US" sz="1050" b="1" i="0" u="none" baseline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Service line</a:t>
                      </a:r>
                    </a:p>
                  </a:txBody>
                  <a:tcPr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711200" rtl="0" eaLnBrk="1" latinLnBrk="0" hangingPunct="1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US" sz="1050" b="1" i="0" u="none" baseline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Table stakes</a:t>
                      </a:r>
                    </a:p>
                  </a:txBody>
                  <a:tcPr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711200" rtl="0" eaLnBrk="1" latinLnBrk="0" hangingPunct="1">
                        <a:spcBef>
                          <a:spcPts val="0"/>
                        </a:spcBef>
                        <a:buFontTx/>
                        <a:buNone/>
                      </a:pPr>
                      <a:r>
                        <a:rPr lang="en-US" sz="1050" b="1" i="0" u="none" baseline="0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Differentiators/ Opportunities to excel</a:t>
                      </a:r>
                    </a:p>
                  </a:txBody>
                  <a:tcPr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7268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defTabSz="711200" rtl="0" eaLnBrk="1" latinLnBrk="0" hangingPunct="1">
                        <a:spcBef>
                          <a:spcPts val="1200"/>
                        </a:spcBef>
                        <a:buFontTx/>
                        <a:buNone/>
                      </a:pPr>
                      <a:r>
                        <a:rPr lang="en-US" sz="1100" b="1" i="1" u="none" baseline="0">
                          <a:solidFill>
                            <a:srgbClr val="000000"/>
                          </a:solidFill>
                          <a:latin typeface="+mn-lt"/>
                        </a:rPr>
                        <a:t>Commercial S&amp;M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900"/>
                        </a:spcBef>
                      </a:pPr>
                      <a:r>
                        <a:rPr lang="en-US" sz="1000" b="1"/>
                        <a:t>CRM Platforms</a:t>
                      </a:r>
                      <a:r>
                        <a:rPr lang="en-US" sz="1000"/>
                        <a:t>: Centralized CRM platforms such as </a:t>
                      </a:r>
                      <a:r>
                        <a:rPr lang="en-US" sz="1000" b="0"/>
                        <a:t>Veeva CRM, Salesforce Health Cloud to </a:t>
                      </a:r>
                      <a:r>
                        <a:rPr lang="en-US" sz="1000"/>
                        <a:t>manage customer interactions, track sales activities, and ensure consistent follow-ups with HCPs and other stakeholders</a:t>
                      </a:r>
                    </a:p>
                    <a:p>
                      <a:pPr>
                        <a:spcBef>
                          <a:spcPts val="900"/>
                        </a:spcBef>
                      </a:pPr>
                      <a:r>
                        <a:rPr lang="en-US" sz="1000" b="1"/>
                        <a:t>Digital Asset Management (DAM)</a:t>
                      </a:r>
                      <a:r>
                        <a:rPr lang="en-US" sz="1000"/>
                        <a:t>: Platforms such as </a:t>
                      </a:r>
                      <a:r>
                        <a:rPr lang="en-US" sz="1000" b="0"/>
                        <a:t>Veeva Vault PromoMats or Adobe Experience Manager for regulated content lifecycle management</a:t>
                      </a:r>
                      <a:r>
                        <a:rPr lang="en-US" sz="1000"/>
                        <a:t>, enabling asset creation, version control, approval workflows, and compliance tracking</a:t>
                      </a:r>
                    </a:p>
                    <a:p>
                      <a:pPr>
                        <a:spcBef>
                          <a:spcPts val="900"/>
                        </a:spcBef>
                      </a:pPr>
                      <a:r>
                        <a:rPr lang="en-US" sz="1000" b="1"/>
                        <a:t>Marketing Automation &amp; Campaign Management</a:t>
                      </a:r>
                      <a:r>
                        <a:rPr lang="en-US" sz="1000"/>
                        <a:t>: </a:t>
                      </a:r>
                      <a:r>
                        <a:rPr lang="en-US" sz="1000" b="0"/>
                        <a:t>Tools such as Salesforce Marketing Cloud, Adobe Campaign, and Veeva Engage to orchestrate multichannel </a:t>
                      </a:r>
                      <a:r>
                        <a:rPr lang="en-US" sz="1000"/>
                        <a:t>campaigns, from email to digital ads, while tracking engagement and performance.</a:t>
                      </a:r>
                    </a:p>
                    <a:p>
                      <a:pPr>
                        <a:spcBef>
                          <a:spcPts val="900"/>
                        </a:spcBef>
                      </a:pPr>
                      <a:r>
                        <a:rPr lang="en-US" sz="1000" b="1"/>
                        <a:t>Sales Performance Analytics &amp; Reporting</a:t>
                      </a:r>
                      <a:r>
                        <a:rPr lang="en-US" sz="1000"/>
                        <a:t>: </a:t>
                      </a:r>
                      <a:r>
                        <a:rPr lang="en-US" sz="1000" b="0"/>
                        <a:t>Dashboards and reporting tools like Power BI, Tableau, and Veeva CRM Analytics for tracking key sales metrics (e.g., NRx/TRx</a:t>
                      </a:r>
                      <a:r>
                        <a:rPr lang="en-US" sz="1000" b="0" baseline="30000"/>
                        <a:t>1</a:t>
                      </a:r>
                      <a:r>
                        <a:rPr lang="en-US" sz="1000" b="0"/>
                        <a:t>), campaign ROI, field activities, and territory performance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0" indent="-177800">
                        <a:lnSpc>
                          <a:spcPct val="100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</a:pPr>
                      <a:r>
                        <a:rPr lang="en-US" sz="1000" b="1"/>
                        <a:t>AI-Powered Predictive Analytics</a:t>
                      </a:r>
                      <a:r>
                        <a:rPr lang="en-US" sz="1000"/>
                        <a:t>: Advanced ML tools to forecast sales trends, identify high-value opportunities, and recommend the most effective actions for sales reps and marketing teams, integrated with prescription &amp; activity data feed</a:t>
                      </a:r>
                    </a:p>
                    <a:p>
                      <a:pPr marL="355600" marR="0" lvl="1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tabLst/>
                        <a:defRPr/>
                      </a:pPr>
                      <a:r>
                        <a:rPr lang="en-US" sz="800"/>
                        <a:t>For e.g., </a:t>
                      </a:r>
                      <a:r>
                        <a:rPr lang="en-US" sz="800" b="0"/>
                        <a:t>Axtria SalesIQ platform enables sales </a:t>
                      </a:r>
                      <a:r>
                        <a:rPr lang="en-US" sz="800"/>
                        <a:t>force automation and analytics via predictive analytics and real-time optimization</a:t>
                      </a:r>
                    </a:p>
                    <a:p>
                      <a:pPr marL="177800" indent="-177800">
                        <a:lnSpc>
                          <a:spcPct val="100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</a:pPr>
                      <a:r>
                        <a:rPr lang="en-US" sz="1000" b="1"/>
                        <a:t>Cross-Channel Engagement &amp; Personalization</a:t>
                      </a:r>
                      <a:r>
                        <a:rPr lang="en-US" sz="1000"/>
                        <a:t>: Leveraging AI to dynamically personalize content and optimize engagement based on individual HCP behaviors and preferences across channels (email, website, social media, etc.)</a:t>
                      </a:r>
                    </a:p>
                    <a:p>
                      <a:pPr marL="355600" lvl="1" indent="-1778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800" b="0"/>
                        <a:t>For e.g., IQVIA’s Orchestrated Customer Engagement (OCE) platform </a:t>
                      </a:r>
                      <a:r>
                        <a:rPr lang="en-US" sz="800"/>
                        <a:t>supports cross-channel engagement and uses AI to tailor messaging/ content</a:t>
                      </a:r>
                      <a:endParaRPr lang="en-US" sz="800" b="0"/>
                    </a:p>
                    <a:p>
                      <a:pPr marL="177800" indent="-177800">
                        <a:lnSpc>
                          <a:spcPct val="100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</a:pPr>
                      <a:r>
                        <a:rPr lang="en-US" sz="1000" b="1"/>
                        <a:t>Omnichannel Optimization Engines</a:t>
                      </a:r>
                      <a:r>
                        <a:rPr lang="en-US" sz="1000"/>
                        <a:t>: Leverage AI to optimize campaign performance in real time, adjusting messaging, timing, and delivery channels to improve engagement and maximize ROI</a:t>
                      </a:r>
                    </a:p>
                    <a:p>
                      <a:pPr marL="355600" lvl="1" indent="-1778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800"/>
                        <a:t>For e.g., ZS Associates’ Verso Javelin tool leverages AI for omnichannel optimization (across digital and traditional channels)</a:t>
                      </a:r>
                      <a:endParaRPr lang="en-US" sz="100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954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defTabSz="711200" rtl="0" eaLnBrk="1" latinLnBrk="0" hangingPunct="1">
                        <a:spcBef>
                          <a:spcPts val="1200"/>
                        </a:spcBef>
                        <a:buFontTx/>
                        <a:buNone/>
                      </a:pPr>
                      <a:r>
                        <a:rPr lang="en-US" sz="1100" b="1" i="1" u="none" baseline="0">
                          <a:solidFill>
                            <a:srgbClr val="000000"/>
                          </a:solidFill>
                          <a:latin typeface="+mn-lt"/>
                        </a:rPr>
                        <a:t>Patient Engagement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</a:pPr>
                      <a:r>
                        <a:rPr lang="en-US" sz="1000" b="1"/>
                        <a:t>Patient Outreach and Engagement Platforms</a:t>
                      </a:r>
                      <a:r>
                        <a:rPr lang="en-US" sz="1000"/>
                        <a:t>: </a:t>
                      </a:r>
                      <a:r>
                        <a:rPr lang="en-US" sz="1000" b="0"/>
                        <a:t>Centralized systems (e.g., Veeva Vault QMS, Twilio, Salesforce Health Cloud) to manage patient communications, including outbound reminders (SMS, email), refill alerts, and therapy tracking </a:t>
                      </a:r>
                      <a:r>
                        <a:rPr lang="en-US" sz="1000"/>
                        <a:t>in line with compliance requirements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</a:pPr>
                      <a:r>
                        <a:rPr lang="en-US" sz="1000" b="1"/>
                        <a:t>Call Center Management Solutions</a:t>
                      </a:r>
                      <a:r>
                        <a:rPr lang="en-US" sz="1000"/>
                        <a:t>: Integrated platforms </a:t>
                      </a:r>
                      <a:r>
                        <a:rPr lang="en-US" sz="1000" b="0"/>
                        <a:t>(e.g., Genesys, Five9, NICE inContact) for call center operations, covering patient inquiries, prescription clarification, dosing schedules, </a:t>
                      </a:r>
                      <a:r>
                        <a:rPr lang="en-US" sz="1000"/>
                        <a:t>and non-medical product questions; also integrate with CRM platforms to log interactions and ensure audit traceability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</a:pPr>
                      <a:r>
                        <a:rPr lang="en-US" sz="1000" b="1"/>
                        <a:t>Compliance and Reporting Platforms</a:t>
                      </a:r>
                      <a:r>
                        <a:rPr lang="en-US" sz="1000"/>
                        <a:t>: Solutions for ensuring all patient engagement activities are compliant with regulations and sponsor guidelines. These include reporting tools for monitoring missed refills, outreach attempts, and engagement, as well as t</a:t>
                      </a:r>
                      <a:r>
                        <a:rPr lang="en-US" sz="1000" b="0"/>
                        <a:t>racking metrics like persistence (e.g., Veeva Vault QMS, Tableau, Power BI)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/>
                        <a:t>AI-Powered Patient Engagement and Adherence</a:t>
                      </a:r>
                      <a:r>
                        <a:rPr lang="en-US" sz="1000"/>
                        <a:t>: ML tools to optimize outreach strategies by predicting patient behavior, identifying high-risk patients (e.g., those likely to miss refills), and personalizing communication (e.g., SMS reminders, email) using hub, refill, and engagement data</a:t>
                      </a:r>
                    </a:p>
                    <a:p>
                      <a:pPr lvl="1"/>
                      <a:r>
                        <a:rPr lang="en-US" sz="800" b="0"/>
                        <a:t>For e.g., Syneos Health has partnered with AiCure that leverages AI to monitor patient adherence and offers patient engagement</a:t>
                      </a:r>
                    </a:p>
                    <a:p>
                      <a:r>
                        <a:rPr lang="en-US" sz="1000" b="1"/>
                        <a:t>Real-Time Patient Engagement Optimization</a:t>
                      </a:r>
                      <a:r>
                        <a:rPr lang="en-US" sz="1000"/>
                        <a:t>: Platforms Conversational AI capabilities (e.g., chatbots and virtual assistants) to provide real-time, personalized interactions with patients, improving engagement and addressing L1 queries such as dosing schedules or therapy initiation with human in the loop</a:t>
                      </a:r>
                    </a:p>
                    <a:p>
                      <a:r>
                        <a:rPr lang="en-US" sz="1000" b="1"/>
                        <a:t>Advanced Analytics for Adherence &amp; Engagement</a:t>
                      </a:r>
                      <a:r>
                        <a:rPr lang="en-US" sz="1000"/>
                        <a:t>: Tools to integrate multi-source data (spanning real-world patient data and engagement metrics) to predict patient persistence and optimize outreach programs</a:t>
                      </a:r>
                      <a:endParaRPr lang="en-US" sz="1000" b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3271621"/>
                  </a:ext>
                </a:extLst>
              </a:tr>
            </a:tbl>
          </a:graphicData>
        </a:graphic>
      </p:graphicFrame>
      <p:grpSp>
        <p:nvGrpSpPr>
          <p:cNvPr id="12" name="btfpColumnIndicatorGroup2">
            <a:extLst>
              <a:ext uri="{FF2B5EF4-FFF2-40B4-BE49-F238E27FC236}">
                <a16:creationId xmlns:a16="http://schemas.microsoft.com/office/drawing/2014/main" id="{5E5CE892-0695-F4A5-CC57-49F73F25F166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10" name="btfpColumnGapBlocker441445">
              <a:extLst>
                <a:ext uri="{FF2B5EF4-FFF2-40B4-BE49-F238E27FC236}">
                  <a16:creationId xmlns:a16="http://schemas.microsoft.com/office/drawing/2014/main" id="{373F5D06-DDF7-A91B-4168-C73F5A18C1AB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8" name="btfpColumnGapBlocker378221">
              <a:extLst>
                <a:ext uri="{FF2B5EF4-FFF2-40B4-BE49-F238E27FC236}">
                  <a16:creationId xmlns:a16="http://schemas.microsoft.com/office/drawing/2014/main" id="{5F9B252D-47AC-2AFC-A2C1-EBADD1F40E8F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6" name="btfpColumnIndicator210049">
              <a:extLst>
                <a:ext uri="{FF2B5EF4-FFF2-40B4-BE49-F238E27FC236}">
                  <a16:creationId xmlns:a16="http://schemas.microsoft.com/office/drawing/2014/main" id="{C3329575-B9C6-ECF2-AEBB-77F5F1CF1660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btfpColumnIndicator153338">
              <a:extLst>
                <a:ext uri="{FF2B5EF4-FFF2-40B4-BE49-F238E27FC236}">
                  <a16:creationId xmlns:a16="http://schemas.microsoft.com/office/drawing/2014/main" id="{0463B5CD-E6E9-F6AE-F558-256896BCA47B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btfpColumnIndicatorGroup1">
            <a:extLst>
              <a:ext uri="{FF2B5EF4-FFF2-40B4-BE49-F238E27FC236}">
                <a16:creationId xmlns:a16="http://schemas.microsoft.com/office/drawing/2014/main" id="{AAF11959-C377-E278-84AE-5BB64B86CCA8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9" name="btfpColumnGapBlocker654062">
              <a:extLst>
                <a:ext uri="{FF2B5EF4-FFF2-40B4-BE49-F238E27FC236}">
                  <a16:creationId xmlns:a16="http://schemas.microsoft.com/office/drawing/2014/main" id="{BE8C46D0-0382-3933-5AA6-4926B61B5ACB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7" name="btfpColumnGapBlocker238373">
              <a:extLst>
                <a:ext uri="{FF2B5EF4-FFF2-40B4-BE49-F238E27FC236}">
                  <a16:creationId xmlns:a16="http://schemas.microsoft.com/office/drawing/2014/main" id="{C0E45344-2730-DBE0-310D-E3EDC052BAD9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5" name="btfpColumnIndicator640928">
              <a:extLst>
                <a:ext uri="{FF2B5EF4-FFF2-40B4-BE49-F238E27FC236}">
                  <a16:creationId xmlns:a16="http://schemas.microsoft.com/office/drawing/2014/main" id="{5508D3EF-AFCA-FAA7-CF57-CD6738A2B40B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btfpColumnIndicator931819">
              <a:extLst>
                <a:ext uri="{FF2B5EF4-FFF2-40B4-BE49-F238E27FC236}">
                  <a16:creationId xmlns:a16="http://schemas.microsoft.com/office/drawing/2014/main" id="{C106625F-23DA-475B-3121-FDE0292E08A4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A9A0823-812F-6E8A-9832-D48E36A5E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b="1" dirty="0"/>
              <a:t>Tech by SL (2/2):</a:t>
            </a:r>
            <a:r>
              <a:rPr lang="en-US" dirty="0"/>
              <a:t> Core infra and compliance tracking are table stakes; AI-driven personalization and predictive analytics differentiate vendors</a:t>
            </a:r>
          </a:p>
        </p:txBody>
      </p:sp>
      <p:sp>
        <p:nvSpPr>
          <p:cNvPr id="18" name="btfpNotesBox982587">
            <a:extLst>
              <a:ext uri="{FF2B5EF4-FFF2-40B4-BE49-F238E27FC236}">
                <a16:creationId xmlns:a16="http://schemas.microsoft.com/office/drawing/2014/main" id="{68111E4C-9713-C270-B4B3-3463E963275F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gray">
          <a:xfrm>
            <a:off x="343320" y="6664551"/>
            <a:ext cx="8125706" cy="123111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b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Note: 1. New-to-Brand Prescriptions/ Total Prescriptions</a:t>
            </a:r>
            <a:r>
              <a:rPr lang="en-US" sz="800">
                <a:solidFill>
                  <a:srgbClr val="000000"/>
                </a:solidFill>
              </a:rPr>
              <a:t> | Source: Market participant interviews, Secondary research, Bain analysis</a:t>
            </a:r>
          </a:p>
        </p:txBody>
      </p:sp>
      <p:sp>
        <p:nvSpPr>
          <p:cNvPr id="21" name="btfpNumberBubble399258">
            <a:extLst>
              <a:ext uri="{FF2B5EF4-FFF2-40B4-BE49-F238E27FC236}">
                <a16:creationId xmlns:a16="http://schemas.microsoft.com/office/drawing/2014/main" id="{89B09FC6-468C-876B-BC55-DD84FAA9F8D2}"/>
              </a:ext>
            </a:extLst>
          </p:cNvPr>
          <p:cNvSpPr/>
          <p:nvPr/>
        </p:nvSpPr>
        <p:spPr bwMode="gray">
          <a:xfrm>
            <a:off x="54684" y="82614"/>
            <a:ext cx="288636" cy="28863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400" b="1">
                <a:solidFill>
                  <a:srgbClr val="CC0000"/>
                </a:solidFill>
              </a:rPr>
              <a:t>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F2A01B1-0319-FEF8-6867-75BF3E551E3C}"/>
              </a:ext>
            </a:extLst>
          </p:cNvPr>
          <p:cNvSpPr/>
          <p:nvPr/>
        </p:nvSpPr>
        <p:spPr bwMode="gray">
          <a:xfrm>
            <a:off x="8857235" y="918378"/>
            <a:ext cx="2999803" cy="216730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rgbClr val="C00000"/>
                </a:solidFill>
                <a:latin typeface="Arial" panose="020B0604020202020204" pitchFamily="34" charset="0"/>
              </a:rPr>
              <a:t>Sree/ Karthik to help identify </a:t>
            </a:r>
            <a:r>
              <a:rPr lang="en-US" sz="800" b="1" err="1">
                <a:solidFill>
                  <a:srgbClr val="C00000"/>
                </a:solidFill>
                <a:latin typeface="Arial" panose="020B0604020202020204" pitchFamily="34" charset="0"/>
              </a:rPr>
              <a:t>Sagility’s</a:t>
            </a:r>
            <a:r>
              <a:rPr lang="en-US" sz="800" b="1">
                <a:solidFill>
                  <a:srgbClr val="C00000"/>
                </a:solidFill>
                <a:latin typeface="Arial" panose="020B0604020202020204" pitchFamily="34" charset="0"/>
              </a:rPr>
              <a:t> existing capabilities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014374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btfpColumnIndicatorGroup2">
            <a:extLst>
              <a:ext uri="{FF2B5EF4-FFF2-40B4-BE49-F238E27FC236}">
                <a16:creationId xmlns:a16="http://schemas.microsoft.com/office/drawing/2014/main" id="{C7BA6B72-D390-2B8C-7A6C-CBFB96907DEB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9" name="btfpColumnGapBlocker690137">
              <a:extLst>
                <a:ext uri="{FF2B5EF4-FFF2-40B4-BE49-F238E27FC236}">
                  <a16:creationId xmlns:a16="http://schemas.microsoft.com/office/drawing/2014/main" id="{153A3A48-D542-F235-011F-4103F3B5FB6B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7" name="btfpColumnGapBlocker825756">
              <a:extLst>
                <a:ext uri="{FF2B5EF4-FFF2-40B4-BE49-F238E27FC236}">
                  <a16:creationId xmlns:a16="http://schemas.microsoft.com/office/drawing/2014/main" id="{631797AE-1AAF-F840-6E6D-24ACB8244BDE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5" name="btfpColumnIndicator184986">
              <a:extLst>
                <a:ext uri="{FF2B5EF4-FFF2-40B4-BE49-F238E27FC236}">
                  <a16:creationId xmlns:a16="http://schemas.microsoft.com/office/drawing/2014/main" id="{3E1FEA19-B3EF-958E-CF1B-CC9AE29BC8DC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btfpColumnIndicator495727">
              <a:extLst>
                <a:ext uri="{FF2B5EF4-FFF2-40B4-BE49-F238E27FC236}">
                  <a16:creationId xmlns:a16="http://schemas.microsoft.com/office/drawing/2014/main" id="{481A89E2-2D7B-CFBF-EFFD-B125505D4634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btfpColumnIndicatorGroup1">
            <a:extLst>
              <a:ext uri="{FF2B5EF4-FFF2-40B4-BE49-F238E27FC236}">
                <a16:creationId xmlns:a16="http://schemas.microsoft.com/office/drawing/2014/main" id="{0D7A1796-917B-5656-238E-00B3E2DAE158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8" name="btfpColumnGapBlocker958543">
              <a:extLst>
                <a:ext uri="{FF2B5EF4-FFF2-40B4-BE49-F238E27FC236}">
                  <a16:creationId xmlns:a16="http://schemas.microsoft.com/office/drawing/2014/main" id="{61093B7A-C2B3-2F35-AC8C-40C53C64C9F3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6" name="btfpColumnGapBlocker270925">
              <a:extLst>
                <a:ext uri="{FF2B5EF4-FFF2-40B4-BE49-F238E27FC236}">
                  <a16:creationId xmlns:a16="http://schemas.microsoft.com/office/drawing/2014/main" id="{D68CBCBC-FBF8-7FC1-7C92-24F4A5326C8C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4" name="btfpColumnIndicator536651">
              <a:extLst>
                <a:ext uri="{FF2B5EF4-FFF2-40B4-BE49-F238E27FC236}">
                  <a16:creationId xmlns:a16="http://schemas.microsoft.com/office/drawing/2014/main" id="{77462E5C-B671-7D84-CB20-A2FE18F1D6FC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" name="btfpColumnIndicator508708">
              <a:extLst>
                <a:ext uri="{FF2B5EF4-FFF2-40B4-BE49-F238E27FC236}">
                  <a16:creationId xmlns:a16="http://schemas.microsoft.com/office/drawing/2014/main" id="{81C9EF85-DB13-0253-3733-6ABBED7F6CC9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273997076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OFFICE" val="New Delhi"/>
  <p:tag name="MEKKOFORMATS" val="&lt;MekkoFormats&gt;&lt;NumberFormat DecimalSeparator=&quot;.&quot; ThousandSeparator=&quot;,&quot; NegativeNumberFormat=&quot;1&quot; /&gt;&lt;DateFormat CultureID=&quot;1033&quot; FormatString=&quot;M/d/yyyy&quot; /&gt;&lt;Font&gt;&lt;Output_Font_Name Default=&quot;Arial&quot; UsePPTTheme=&quot;True&quot; /&gt;&lt;FarEast_Output_Font_Name Default=&quot;Arial&quot; UsePPTTheme=&quot;True&quot; RotateAndFlipEnabled=&quot;False&quot; /&gt;&lt;/Font&gt;&lt;/MekkoFormats&gt;"/>
  <p:tag name="BTFPCOLUMNGUIDE" val="Invisibl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  <p:tag name="BTFPLAYOUTCOLUMNS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30"/>
  <p:tag name="BTFPCENTERX" val="77.05627"/>
  <p:tag name="BTFPCENTERY" val="21.33333"/>
  <p:tag name="BTFPHEIGHT" val="540.0103"/>
  <p:tag name="BTFPLAYOUTANCHOREBOTTOM" val="False"/>
  <p:tag name="BTFPLAYOUTANCHORELEFT" val="True"/>
  <p:tag name="BTFPLAYOUTANCHORERIGHT" val="True"/>
  <p:tag name="BTFPLAYOUTANCHORETOP" val="True"/>
  <p:tag name="BTFPLAYOUTENABLED" val="0"/>
  <p:tag name="BTFPUNCROPPEDHEIGHT" val="843.8309"/>
  <p:tag name="BTFPUNCROPPEDWIDTH" val="1302.809"/>
  <p:tag name="BTFPWIDTH" val="960.002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COLUMNS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COLUMNS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COLUMNS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COLUMNS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BAINBULLETS" val="1"/>
  <p:tag name="BTFPLAYOUTENABLED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BAINBULLETS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35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35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35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35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BAINBULLETS" val="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353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35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35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35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CENTERX" val="50"/>
  <p:tag name="BTFPCENTERY" val="50"/>
  <p:tag name="BTFPLAYOUTANCHORELEFT" val="True"/>
  <p:tag name="BTFPLAYOUTANCHORERIGHT" val="True"/>
  <p:tag name="BTFPLAYOUTANCHORETOP" val="True"/>
  <p:tag name="BTFPLAYOUTANCHOREBOTTOM" val="False"/>
  <p:tag name="BTFPWIDTH" val="908"/>
  <p:tag name="BTFPLAYOUTENABLED" val="1"/>
  <p:tag name="BTFPHEIGHT" val="38.55803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BAINBULLETS" val="1"/>
  <p:tag name="BTFPLAYOUTENABLED" val="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CENTERX" val="50"/>
  <p:tag name="BTFPCENTERY" val="50"/>
  <p:tag name="BTFPLAYOUTANCHORELEFT" val="True"/>
  <p:tag name="BTFPLAYOUTANCHORERIGHT" val="True"/>
  <p:tag name="BTFPLAYOUTANCHORETOP" val="True"/>
  <p:tag name="BTFPLAYOUTANCHOREBOTTOM" val="False"/>
  <p:tag name="BTFPWIDTH" val="908"/>
  <p:tag name="BTFPLAYOUTENABLED" val="1"/>
  <p:tag name="BTFPHEIGHT" val="49.70764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BAINBULLETS" val="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CENTERX" val="50"/>
  <p:tag name="BTFPCENTERY" val="50"/>
  <p:tag name="BTFPLAYOUTANCHORELEFT" val="True"/>
  <p:tag name="BTFPLAYOUTANCHORERIGHT" val="True"/>
  <p:tag name="BTFPLAYOUTANCHORETOP" val="True"/>
  <p:tag name="BTFPLAYOUTANCHOREBOTTOM" val="False"/>
  <p:tag name="BTFPWIDTH" val="908"/>
  <p:tag name="BTFPLAYOUTENABLED" val="1"/>
  <p:tag name="BTFPHEIGHT" val="34.35378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BAINBULLETS" val="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COLUMNS" val="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  <p:tag name="BTFPLAYOUTCOLUMNS" val="2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CENTERX" val="50"/>
  <p:tag name="BTFPCENTERY" val="50"/>
  <p:tag name="BTFPLAYOUTANCHORELEFT" val="True"/>
  <p:tag name="BTFPLAYOUTANCHORERIGHT" val="True"/>
  <p:tag name="BTFPLAYOUTANCHORETOP" val="True"/>
  <p:tag name="BTFPLAYOUTANCHOREBOTTOM" val="False"/>
  <p:tag name="BTFPLAYOUTENABLED" val="1"/>
  <p:tag name="BTFPWIDTH" val="403.8541"/>
  <p:tag name="BTFPHEIGHT" val="218.366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CENTERX" val="50"/>
  <p:tag name="BTFPCENTERY" val="50"/>
  <p:tag name="BTFPLAYOUTANCHORELEFT" val="True"/>
  <p:tag name="BTFPLAYOUTANCHORERIGHT" val="True"/>
  <p:tag name="BTFPLAYOUTANCHORETOP" val="True"/>
  <p:tag name="BTFPLAYOUTANCHOREBOTTOM" val="False"/>
  <p:tag name="BTFPLAYOUTENABLED" val="1"/>
  <p:tag name="BTFPWIDTH" val="400.8837"/>
  <p:tag name="BTFPHEIGHT" val="218.3654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  <p:tag name="BTFPBAINBULLETS" val="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  <p:tag name="BTFPBAINBULLETS" val="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  <p:tag name="BTFPBAINBULLETS" val="1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BAINBULLETS" val="1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BAINBULLETS" val="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BAINBULLETS" val="1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BAINBULLETS" val="1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BAINBULLETS" val="1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COLUMNS" val="1"/>
</p:tagLst>
</file>

<file path=ppt/theme/theme1.xml><?xml version="1.0" encoding="utf-8"?>
<a:theme xmlns:a="http://schemas.openxmlformats.org/drawingml/2006/main" name="Bain Core">
  <a:themeElements>
    <a:clrScheme name="Bain">
      <a:dk1>
        <a:srgbClr val="000000"/>
      </a:dk1>
      <a:lt1>
        <a:srgbClr val="FFFFFF"/>
      </a:lt1>
      <a:dk2>
        <a:srgbClr val="D6D6D6"/>
      </a:dk2>
      <a:lt2>
        <a:srgbClr val="5C5C5C"/>
      </a:lt2>
      <a:accent1>
        <a:srgbClr val="B4B4B4"/>
      </a:accent1>
      <a:accent2>
        <a:srgbClr val="D6D6D6"/>
      </a:accent2>
      <a:accent3>
        <a:srgbClr val="CC0000"/>
      </a:accent3>
      <a:accent4>
        <a:srgbClr val="46647B"/>
      </a:accent4>
      <a:accent5>
        <a:srgbClr val="507867"/>
      </a:accent5>
      <a:accent6>
        <a:srgbClr val="973B74"/>
      </a:accent6>
      <a:hlink>
        <a:srgbClr val="46647B"/>
      </a:hlink>
      <a:folHlink>
        <a:srgbClr val="7891AA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gray">
        <a:solidFill>
          <a:schemeClr val="bg1"/>
        </a:solidFill>
        <a:ln w="9525">
          <a:solidFill>
            <a:schemeClr val="tx1"/>
          </a:solidFill>
        </a:ln>
      </a:spPr>
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<a:prstTxWarp prst="textNoShape">
          <a:avLst/>
        </a:prstTxWarp>
        <a:noAutofit/>
      </a:bodyPr>
      <a:lstStyle>
        <a:defPPr marL="0" indent="0" algn="ctr">
          <a:buNone/>
          <a:defRPr sz="16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9525" cap="flat">
          <a:solidFill>
            <a:schemeClr val="tx1"/>
          </a:solidFill>
          <a:miter lim="800000"/>
          <a:tailEnd type="none" w="med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none" lIns="36000" tIns="36000" rIns="36000" bIns="36000" rtlCol="0">
        <a:spAutoFit/>
      </a:bodyPr>
      <a:lstStyle>
        <a:defPPr marL="0" indent="0">
          <a:buNone/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Bain Core On Screen Show (16_9).potx" id="{56CF97D2-A744-43CA-AE15-0214FF29DAC4}" vid="{A64E784E-EE2A-4031-BBD4-3B52B2D870F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F0B798F-97AC-43CE-BF48-A788AB2980C6}">
  <we:reference id="70ed8778-2a1c-4697-8cf0-5cf67c93b7b6" version="2.2.2.15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A708DF81CAEBE418C5B18B0E4CBDD3B" ma:contentTypeVersion="11" ma:contentTypeDescription="Create a new document." ma:contentTypeScope="" ma:versionID="5fcf745b92e49cbb3122050f8bb210c3">
  <xsd:schema xmlns:xsd="http://www.w3.org/2001/XMLSchema" xmlns:xs="http://www.w3.org/2001/XMLSchema" xmlns:p="http://schemas.microsoft.com/office/2006/metadata/properties" xmlns:ns2="c6734d61-d01c-4d89-bb15-27a70dee7995" xmlns:ns3="e5f4de07-3714-428f-b95a-e797811d16df" targetNamespace="http://schemas.microsoft.com/office/2006/metadata/properties" ma:root="true" ma:fieldsID="dbbd000b69c8e089c9e64e9ba643cd29" ns2:_="" ns3:_="">
    <xsd:import namespace="c6734d61-d01c-4d89-bb15-27a70dee7995"/>
    <xsd:import namespace="e5f4de07-3714-428f-b95a-e797811d16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xSherpaClassifyTag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6734d61-d01c-4d89-bb15-27a70dee79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4b166abb-7d38-406f-9233-2f33b10aef2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xSherpaClassifyTag" ma:index="18" nillable="true" ma:displayName="xSherpaClassifyTag" ma:indexed="true" ma:internalName="xSherpaClassifyTag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f4de07-3714-428f-b95a-e797811d16df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19162d9-9ea0-4d7e-a1e0-42ae21b33881}" ma:internalName="TaxCatchAll" ma:showField="CatchAllData" ma:web="e5f4de07-3714-428f-b95a-e797811d16d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xSherpaClassifyTag xmlns="c6734d61-d01c-4d89-bb15-27a70dee7995" xsi:nil="true"/>
    <lcf76f155ced4ddcb4097134ff3c332f xmlns="c6734d61-d01c-4d89-bb15-27a70dee7995">
      <Terms xmlns="http://schemas.microsoft.com/office/infopath/2007/PartnerControls"/>
    </lcf76f155ced4ddcb4097134ff3c332f>
    <TaxCatchAll xmlns="e5f4de07-3714-428f-b95a-e797811d16df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CE5535A-79C7-41C5-BC01-95FAF2647D69}">
  <ds:schemaRefs>
    <ds:schemaRef ds:uri="c6734d61-d01c-4d89-bb15-27a70dee7995"/>
    <ds:schemaRef ds:uri="e5f4de07-3714-428f-b95a-e797811d16d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B078EEBF-36FC-4397-BC69-8603DC61B1CE}">
  <ds:schemaRefs>
    <ds:schemaRef ds:uri="http://schemas.microsoft.com/office/2006/documentManagement/types"/>
    <ds:schemaRef ds:uri="http://purl.org/dc/terms/"/>
    <ds:schemaRef ds:uri="http://schemas.microsoft.com/office/2006/metadata/properties"/>
    <ds:schemaRef ds:uri="c6734d61-d01c-4d89-bb15-27a70dee7995"/>
    <ds:schemaRef ds:uri="http://www.w3.org/XML/1998/namespace"/>
    <ds:schemaRef ds:uri="e5f4de07-3714-428f-b95a-e797811d16df"/>
    <ds:schemaRef ds:uri="http://purl.org/dc/dcmitype/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AD835C2C-3CD2-40BE-BE8B-84BB9926EAC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230</TotalTime>
  <Words>10373</Words>
  <Application>Microsoft Office PowerPoint</Application>
  <PresentationFormat>Widescreen</PresentationFormat>
  <Paragraphs>574</Paragraphs>
  <Slides>24</Slides>
  <Notes>14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Aptos</vt:lpstr>
      <vt:lpstr>Arial</vt:lpstr>
      <vt:lpstr>Bain Core</vt:lpstr>
      <vt:lpstr>think-cell Slide</vt:lpstr>
      <vt:lpstr>PowerPoint Presentation</vt:lpstr>
      <vt:lpstr>New customer segment deep-dives</vt:lpstr>
      <vt:lpstr>Approach: We have assessed XX elements as part of the execution roadmap</vt:lpstr>
      <vt:lpstr>Summary: Proposed approach for Sagility to build an adjacent business in Pharma Commercialization (1/2)</vt:lpstr>
      <vt:lpstr>Summary: Proposed approach for Sagility to build an adjacent business in Pharma Commercialization (2/2)</vt:lpstr>
      <vt:lpstr>Services lines: The Pharma commercialization value chain has 4 elements, with Commercial and Patient Engagement showing most overlap with Sagility’s capabilities</vt:lpstr>
      <vt:lpstr>Customer archetypes: 4 key customer archetypes exist, within which Mid/Small pharma and biotech companies are most attractive for Sagility</vt:lpstr>
      <vt:lpstr>PowerPoint Presentation</vt:lpstr>
      <vt:lpstr>Buying Behavior – Ipsen (1/2): Reputational, regulatory, and compliance-critical tasks retained in-house; scalable execution, analytics, and documentation outsourced</vt:lpstr>
      <vt:lpstr>Buying Behavior – Ipsen (2/2): Moderate-to-high willingness for new vendors in commercial (S&amp;M) and patient engagement</vt:lpstr>
      <vt:lpstr>Potential value prop - Ipsen (1/3): Scope to win by leveraging AI/ automation, reducing turnaround times, specialized expertise, and flex staffing model</vt:lpstr>
      <vt:lpstr>Customer case study- Ipsen (2/3): Potential to differentiate by offering digital/ AI capabilities, coupled with access to comprehensive datasets</vt:lpstr>
      <vt:lpstr>Potential value prop - Ipsen (3/3): Differentiation potential by offering advanced predictive capabilities and access to multi-source datasets</vt:lpstr>
      <vt:lpstr>&lt;one more customer case study to be added&gt;</vt:lpstr>
      <vt:lpstr>GTM strategy: GTM roadmap for effective Pharma launch should encompass 2 dimensions – defining the right marketing strategy and optimum team &amp; sales motion </vt:lpstr>
      <vt:lpstr>Marketing: Sagility should invest in establishing credibility/ lead generation using conferences, media publications etc. as it enters Pharma commercialization space </vt:lpstr>
      <vt:lpstr>GTM Team and Sales Enablement: Pharma commercialization will require dedicated GTM team including vertical leadership, domain SMEs, hunters and senior advisor(s)</vt:lpstr>
      <vt:lpstr>Delivery Talent by SL: Strong domain and regulatory expertise is essential, with Sr. Pharma leadership, AI-trained talent, and TA expertise providing differentiation (1/4)</vt:lpstr>
      <vt:lpstr>Delivery Talent by SL: Strong domain and regulatory expertise is essential, with Sr. Pharma leadership, AI-trained talent, and TA expertise providing differentiation (2/4)</vt:lpstr>
      <vt:lpstr>Delivery Talent by SL: Strong domain and regulatory expertise is essential, with Sr. Pharma leadership, AI-trained talent, and TA expertise providing differentiation (3/4)</vt:lpstr>
      <vt:lpstr>Delivery Talent by SL: Strong domain and regulatory expertise is essential, with Sr. Pharma leadership, AI-trained talent, and TA expertise providing differentiation (4/4)</vt:lpstr>
      <vt:lpstr>Tech by SL (1/2): GxP-compliant content and case management platforms are table stakes; AI-enabled tools and intelligent workflows/ analytics differentiate vendors</vt:lpstr>
      <vt:lpstr>Tech by SL (2/2): Core infra and compliance tracking are table stakes; AI-driven personalization and predictive analytics differentiate vendors</vt:lpstr>
      <vt:lpstr>PowerPoint Presentation</vt:lpstr>
    </vt:vector>
  </TitlesOfParts>
  <Company>Bain and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Sardana, Raghav</dc:creator>
  <cp:lastModifiedBy>Arya, Prerna</cp:lastModifiedBy>
  <cp:revision>3</cp:revision>
  <cp:lastPrinted>2017-02-15T14:23:56Z</cp:lastPrinted>
  <dcterms:created xsi:type="dcterms:W3CDTF">2026-01-29T12:34:20Z</dcterms:created>
  <dcterms:modified xsi:type="dcterms:W3CDTF">2026-02-19T17:43:38Z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0x010100EA708DF81CAEBE418C5B18B0E4CBDD3B</vt:lpwstr>
  </property>
  <property fmtid="{D5CDD505-2E9C-101B-9397-08002B2CF9AE}" pid="3" name="MediaServiceImageTags">
    <vt:lpwstr/>
  </property>
</Properties>
</file>